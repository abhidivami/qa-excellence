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uL8Iw5P3nkVjkA11tuyXZIbPu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22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20.png"/><Relationship Id="rId11" Type="http://schemas.openxmlformats.org/officeDocument/2006/relationships/image" Target="../media/image45.png"/><Relationship Id="rId10" Type="http://schemas.openxmlformats.org/officeDocument/2006/relationships/image" Target="../media/image1.png"/><Relationship Id="rId12" Type="http://schemas.openxmlformats.org/officeDocument/2006/relationships/image" Target="../media/image4.png"/><Relationship Id="rId9" Type="http://schemas.openxmlformats.org/officeDocument/2006/relationships/image" Target="../media/image36.png"/><Relationship Id="rId5" Type="http://schemas.openxmlformats.org/officeDocument/2006/relationships/image" Target="../media/image22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58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41.png"/><Relationship Id="rId5" Type="http://schemas.openxmlformats.org/officeDocument/2006/relationships/image" Target="../media/image4.png"/><Relationship Id="rId6" Type="http://schemas.openxmlformats.org/officeDocument/2006/relationships/image" Target="../media/image43.png"/><Relationship Id="rId7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21.png"/><Relationship Id="rId10" Type="http://schemas.openxmlformats.org/officeDocument/2006/relationships/image" Target="../media/image6.png"/><Relationship Id="rId9" Type="http://schemas.openxmlformats.org/officeDocument/2006/relationships/image" Target="../media/image57.png"/><Relationship Id="rId5" Type="http://schemas.openxmlformats.org/officeDocument/2006/relationships/image" Target="../media/image63.png"/><Relationship Id="rId6" Type="http://schemas.openxmlformats.org/officeDocument/2006/relationships/image" Target="../media/image59.png"/><Relationship Id="rId7" Type="http://schemas.openxmlformats.org/officeDocument/2006/relationships/image" Target="../media/image2.png"/><Relationship Id="rId8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Relationship Id="rId4" Type="http://schemas.openxmlformats.org/officeDocument/2006/relationships/image" Target="../media/image45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071E3">
              <a:alpha val="12156"/>
            </a:srgbClr>
          </a:solidFill>
          <a:ln cap="flat" cmpd="sng" w="12700">
            <a:solidFill>
              <a:srgbClr val="0071E3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0071E3">
              <a:alpha val="18039"/>
            </a:srgbClr>
          </a:solidFill>
          <a:ln cap="flat" cmpd="sng" w="12700">
            <a:solidFill>
              <a:srgbClr val="0071E3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858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170432" y="7498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QA LEARNING SERIES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Trebuchet MS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Automation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rgbClr val="00FFFF">
                <a:alpha val="73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6200"/>
              <a:buFont typeface="Trebuchet MS"/>
              <a:buNone/>
            </a:pPr>
            <a:r>
              <a:rPr b="0" i="0" lang="en-US" sz="620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Testing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2461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A Practical Introduction for QA Practitioners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617720"/>
            <a:ext cx="2011680" cy="3657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We'll Cover Today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1325880"/>
            <a:ext cx="256032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11480" y="1325880"/>
            <a:ext cx="54864" cy="1371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508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576072" y="19019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Automation Testing?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76072" y="2313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Concepts &amp; Benefits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0" y="1325880"/>
            <a:ext cx="256032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00400" y="1325880"/>
            <a:ext cx="54864" cy="1371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4992" y="1508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3364992" y="19019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Types of Automated Testing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64992" y="2313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Unit, Integration, E2E &amp; more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989320" y="1325880"/>
            <a:ext cx="256032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989320" y="1325880"/>
            <a:ext cx="54864" cy="1371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3912" y="1508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6153912" y="19019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&amp; Skills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53912" y="2313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What to prepare for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11480" y="2926080"/>
            <a:ext cx="256032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11480" y="2926080"/>
            <a:ext cx="54864" cy="1371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72" y="3108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576072" y="35021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CI/CD &amp; Test Environments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76072" y="39136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Pipelines, PR triggers, scheduling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200400" y="2926080"/>
            <a:ext cx="256032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200400" y="2926080"/>
            <a:ext cx="54864" cy="1371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4992" y="3108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3364992" y="35021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Frameworks &amp; Patterns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364992" y="39136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Types, tools, design patterns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989320" y="2926080"/>
            <a:ext cx="256032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989320" y="2926080"/>
            <a:ext cx="54864" cy="1371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53912" y="3108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6153912" y="35021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Feasibility &amp; Practice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153912" y="39136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Approach &amp; hands-on use case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CONCEPTS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Automation Testing?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128016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Automation Testing is the practice of using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software tools to execute pre-scripted test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automatically—without manual intervention.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2606040"/>
            <a:ext cx="4023360" cy="1188720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94360" y="2697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💡 Key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94360" y="301752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Tests are written once and run repeatedly.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Focus shifts from execution to design and analysis.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46320" y="1261872"/>
            <a:ext cx="1828800" cy="34747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846320" y="126187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6E6E73"/>
                </a:solidFill>
                <a:latin typeface="Trebuchet MS"/>
                <a:ea typeface="Trebuchet MS"/>
                <a:cs typeface="Trebuchet MS"/>
                <a:sym typeface="Trebuchet MS"/>
              </a:rPr>
              <a:t>Manual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858000" y="1261872"/>
            <a:ext cx="1920240" cy="347472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858000" y="12618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846320" y="1737360"/>
            <a:ext cx="18288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858000" y="1737360"/>
            <a:ext cx="1920240" cy="502920"/>
          </a:xfrm>
          <a:prstGeom prst="rect">
            <a:avLst/>
          </a:prstGeom>
          <a:solidFill>
            <a:srgbClr val="EBF5FB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846320" y="17373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846320" y="17373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Hours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846320" y="1737360"/>
            <a:ext cx="18288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846320" y="1755648"/>
            <a:ext cx="1828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858000" y="1755648"/>
            <a:ext cx="19202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Minutes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846320" y="2313432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858000" y="2313432"/>
            <a:ext cx="1920240" cy="502920"/>
          </a:xfrm>
          <a:prstGeom prst="rect">
            <a:avLst/>
          </a:prstGeom>
          <a:solidFill>
            <a:srgbClr val="F0F8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846320" y="231343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Repeatability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846320" y="231343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46320" y="2313432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846320" y="2331720"/>
            <a:ext cx="1828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Repeatability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858000" y="2331720"/>
            <a:ext cx="19202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Repeatability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Consistent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846320" y="2889504"/>
            <a:ext cx="18288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858000" y="2889504"/>
            <a:ext cx="1920240" cy="502920"/>
          </a:xfrm>
          <a:prstGeom prst="rect">
            <a:avLst/>
          </a:prstGeom>
          <a:solidFill>
            <a:srgbClr val="EBF5FB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846320" y="288950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846320" y="288950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846320" y="2889504"/>
            <a:ext cx="18288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846320" y="2907792"/>
            <a:ext cx="1828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858000" y="2907792"/>
            <a:ext cx="19202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Broad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846320" y="3465576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858000" y="3465576"/>
            <a:ext cx="1920240" cy="502920"/>
          </a:xfrm>
          <a:prstGeom prst="rect">
            <a:avLst/>
          </a:prstGeom>
          <a:solidFill>
            <a:srgbClr val="F0F8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846320" y="3465576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846320" y="3465576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Costly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846320" y="3465576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846320" y="3483864"/>
            <a:ext cx="1828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Costly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858000" y="3483864"/>
            <a:ext cx="19202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Fast &amp; cheap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Why Automate? The Business Case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11480" y="1325880"/>
            <a:ext cx="2651760" cy="338328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411480" y="21488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10×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11480" y="29443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Faster Execution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3364992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Automated suites run significantly faster than manual testing cycles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264408" y="1325880"/>
            <a:ext cx="2651760" cy="3383280"/>
          </a:xfrm>
          <a:prstGeom prst="rect">
            <a:avLst/>
          </a:prstGeom>
          <a:solidFill>
            <a:srgbClr val="0071E3"/>
          </a:solidFill>
          <a:ln cap="flat" cmpd="sng" w="9525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3008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3264408" y="21488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↑ 60%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64408" y="29443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Higher Coverage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401568" y="3364992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1E8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1E8FA"/>
                </a:solidFill>
                <a:latin typeface="Calibri"/>
                <a:ea typeface="Calibri"/>
                <a:cs typeface="Calibri"/>
                <a:sym typeface="Calibri"/>
              </a:rPr>
              <a:t>More test cases executed per release — especially regression suites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17336" y="1325880"/>
            <a:ext cx="2651760" cy="338328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5936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6117336" y="21488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Shift ←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17336" y="29443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Earlier Bug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254496" y="3364992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Defects caught in CI pipelines before they reach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Types of Automated Testing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11480" y="3977640"/>
            <a:ext cx="3474720" cy="68580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84632" y="4023360"/>
            <a:ext cx="33284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Unit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57200" y="434340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Fast, isolated, developer-written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22960" y="3154680"/>
            <a:ext cx="2651760" cy="6858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96112" y="3200400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68680" y="35204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APIs, services, modules working together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234440" y="2331720"/>
            <a:ext cx="1828800" cy="68580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307592" y="2377440"/>
            <a:ext cx="1682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E2E / UI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280160" y="26974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user journey, browser/app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600200" y="1508760"/>
            <a:ext cx="1097280" cy="68580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673352" y="1554480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Performance &amp;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645920" y="18745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Stress, load, response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5720" y="2870200"/>
            <a:ext cx="822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More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Lower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Faster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5720" y="1280160"/>
            <a:ext cx="822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Fewer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Higher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Slower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29200" y="12984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Also Includes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8105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5413248" y="17830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13248" y="20574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Verify no regressions after changes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4231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5413248" y="239572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Security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413248" y="267004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Automated vulnerability scans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30358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5413248" y="300837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Smoke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413248" y="328269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Quick health-check after deployment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6484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/>
          <p:nvPr/>
        </p:nvSpPr>
        <p:spPr>
          <a:xfrm>
            <a:off x="5413248" y="36210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Data-Driven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413248" y="389534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Multiple inputs from data files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0" y="426110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/>
          <p:nvPr/>
        </p:nvSpPr>
        <p:spPr>
          <a:xfrm>
            <a:off x="5413248" y="423367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API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413248" y="450799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Contract, functional, and 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Common Challenges in Automation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11480" y="1298448"/>
            <a:ext cx="2606040" cy="1444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11480" y="1298448"/>
            <a:ext cx="2606040" cy="4572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463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978408" y="142646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Flaky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76072" y="1847088"/>
            <a:ext cx="22768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Tests that pass and fail non-deterministically — the #1 automation pain point.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218688" y="1298448"/>
            <a:ext cx="2606040" cy="1444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3218688" y="1298448"/>
            <a:ext cx="2606040" cy="45720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463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3785616" y="142646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High Maintenance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383280" y="1847088"/>
            <a:ext cx="22768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UI changes break locators. Good architecture reduces, not eliminates, this.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025896" y="1298448"/>
            <a:ext cx="2606040" cy="1444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025896" y="1298448"/>
            <a:ext cx="2606040" cy="4572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0488" y="1463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6592824" y="142646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Wrong Test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190488" y="1847088"/>
            <a:ext cx="22768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Not every test should be automated. Manual testing remains essential for exploratory work.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11480" y="2926080"/>
            <a:ext cx="2606040" cy="1444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11480" y="2926080"/>
            <a:ext cx="2606040" cy="457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72" y="30906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978408" y="305409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Environment Instability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76072" y="3474720"/>
            <a:ext cx="22768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Tests fail due to test data or environment issues—not actual bugs in the app.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218688" y="2926080"/>
            <a:ext cx="2606040" cy="1444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3218688" y="2926080"/>
            <a:ext cx="2606040" cy="457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3280" y="30906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/>
          <p:nvPr/>
        </p:nvSpPr>
        <p:spPr>
          <a:xfrm>
            <a:off x="3785616" y="305409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Skill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383280" y="3474720"/>
            <a:ext cx="22768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Automation requires coding, tool knowledge, and understanding of CI/CD pipelines.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025896" y="2926080"/>
            <a:ext cx="2606040" cy="1444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025896" y="2926080"/>
            <a:ext cx="2606040" cy="4572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0488" y="30906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6592824" y="305409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 Investment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190488" y="3474720"/>
            <a:ext cx="22768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Setup time and cost can be significant. ROI is realized over multiple test cycles.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SKILLS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Skills Required for Automation Testing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11480" y="1280160"/>
            <a:ext cx="3931920" cy="38404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11480" y="12801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SKILLS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11480" y="1783080"/>
            <a:ext cx="3931920" cy="53035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9019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914400" y="181965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Programming Fundamentals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914400" y="207568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Variables, loops, functions, OOP basics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11480" y="2377440"/>
            <a:ext cx="3931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4963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/>
          <p:nvPr/>
        </p:nvSpPr>
        <p:spPr>
          <a:xfrm>
            <a:off x="914400" y="241401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CLI &amp; Version Control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914400" y="267004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Git, terminal commands, branching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11480" y="2971800"/>
            <a:ext cx="3931920" cy="53035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0906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914400" y="300837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CI/CD Tools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14400" y="326440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GitHub Actions, Jenkins, GitLab 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11480" y="3566160"/>
            <a:ext cx="3931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3685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914400" y="360273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Testing Frameworks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914400" y="385876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Playwright, Selenium, Cypress, RestAssured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11480" y="4160520"/>
            <a:ext cx="3931920" cy="53035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279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/>
          <p:cNvSpPr/>
          <p:nvPr/>
        </p:nvSpPr>
        <p:spPr>
          <a:xfrm>
            <a:off x="914400" y="419709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Test Data Management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914400" y="44531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Fixtures, databases, environment configs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800600" y="1280160"/>
            <a:ext cx="3931920" cy="384048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800600" y="12801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NON-TECHNICAL SKILLS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800600" y="1783080"/>
            <a:ext cx="3931920" cy="53035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7760" y="19019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/>
          <p:nvPr/>
        </p:nvSpPr>
        <p:spPr>
          <a:xfrm>
            <a:off x="5285232" y="181965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Analytical Thinking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285232" y="207568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Identify what's worth automating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800600" y="2377440"/>
            <a:ext cx="3931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37760" y="24963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/>
          <p:nvPr/>
        </p:nvSpPr>
        <p:spPr>
          <a:xfrm>
            <a:off x="5285232" y="241401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Domain Knowledge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285232" y="267004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Understand the business flow being tested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800600" y="2971800"/>
            <a:ext cx="3931920" cy="53035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7760" y="30906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/>
          <p:nvPr/>
        </p:nvSpPr>
        <p:spPr>
          <a:xfrm>
            <a:off x="5285232" y="300837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285232" y="326440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Writing clear test strategies and reports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800600" y="3566160"/>
            <a:ext cx="3931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37760" y="3685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5285232" y="360273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Systems Thinking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285232" y="385876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Understand how components interact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800600" y="4160520"/>
            <a:ext cx="3931920" cy="53035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37760" y="4279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5285232" y="419709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Risk Assessment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285232" y="44531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Prioritise coverage based on impact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D2D2F">
              <a:alpha val="80000"/>
            </a:srgbClr>
          </a:solidFill>
          <a:ln cap="flat" cmpd="sng" w="12700">
            <a:solidFill>
              <a:srgbClr val="2D2D2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/>
          <p:nvPr/>
        </p:nvSpPr>
        <p:spPr>
          <a:xfrm>
            <a:off x="548640" y="2514600"/>
            <a:ext cx="7772400" cy="155448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Frameworks,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Patterns &amp; Tools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48640" y="42062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Framework types · Design patterns · Tool selection · Reporting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Automation Framework Types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11480" y="1298448"/>
            <a:ext cx="2724912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11480" y="1298448"/>
            <a:ext cx="2724912" cy="54864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538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2"/>
          <p:cNvSpPr/>
          <p:nvPr/>
        </p:nvSpPr>
        <p:spPr>
          <a:xfrm>
            <a:off x="914400" y="1408176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Linear / Record &amp; Playback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48640" y="1847088"/>
            <a:ext cx="245059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Quick to create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No reusability, fragile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Demos, quick prototypes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3218688" y="1298448"/>
            <a:ext cx="2724912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3218688" y="1298448"/>
            <a:ext cx="2724912" cy="54864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5848" y="14538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2"/>
          <p:cNvSpPr/>
          <p:nvPr/>
        </p:nvSpPr>
        <p:spPr>
          <a:xfrm>
            <a:off x="3721608" y="1408176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Data-Driven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3355848" y="1847088"/>
            <a:ext cx="245059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Same test, many data sets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Needs data management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Forms, login, search 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025896" y="1298448"/>
            <a:ext cx="2724912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6025896" y="1298448"/>
            <a:ext cx="2724912" cy="54864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6528816" y="1408176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Keyword-Driven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163056" y="1847088"/>
            <a:ext cx="245059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Non-coders can contribute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Complex keyword library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Mixed QA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11480" y="3246120"/>
            <a:ext cx="4160520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411480" y="3246120"/>
            <a:ext cx="4160520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401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/>
          <p:nvPr/>
        </p:nvSpPr>
        <p:spPr>
          <a:xfrm>
            <a:off x="914400" y="3355848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Hybrid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48640" y="3794760"/>
            <a:ext cx="38862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Flexible, reusable, scalable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More upfront design needed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Enterprise &amp; large projects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663440" y="3246120"/>
            <a:ext cx="4069080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663440" y="3246120"/>
            <a:ext cx="4069080" cy="54864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3401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5166360" y="3355848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BDD (Behaviour-Driven)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800600" y="3794760"/>
            <a:ext cx="37947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Business-readable scenarios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Discipline to avoid misuse</a:t>
            </a:r>
            <a:b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Collaboration with stakeholders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DESIGN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The Page Object Model (POM)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most widely adopted automation design pattern for UI testing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11480" y="1600200"/>
            <a:ext cx="4937760" cy="86868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411480" y="1600200"/>
            <a:ext cx="64008" cy="86868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594360" y="165506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Test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594360" y="19659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F52DE"/>
                </a:solidFill>
                <a:latin typeface="Consolas"/>
                <a:ea typeface="Consolas"/>
                <a:cs typeface="Consolas"/>
                <a:sym typeface="Consolas"/>
              </a:rPr>
              <a:t>test_login.spec.ts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2560320" y="2468880"/>
            <a:ext cx="36576" cy="201168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3730752" y="169164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Tests call page methods using readable, intent-revealing language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11480" y="2670048"/>
            <a:ext cx="4937760" cy="86868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411480" y="2670048"/>
            <a:ext cx="64008" cy="86868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594360" y="272491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Page Object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594360" y="30358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071E3"/>
                </a:solidFill>
                <a:latin typeface="Consolas"/>
                <a:ea typeface="Consolas"/>
                <a:cs typeface="Consolas"/>
                <a:sym typeface="Consolas"/>
              </a:rPr>
              <a:t>LoginPage.ts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2560320" y="3538728"/>
            <a:ext cx="36576" cy="201168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3730752" y="2761488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Encapsulates locators &amp; actions for a specific page or component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11480" y="3739896"/>
            <a:ext cx="4937760" cy="86868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411480" y="3739896"/>
            <a:ext cx="64008" cy="86868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594360" y="379476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594360" y="410565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34C759"/>
                </a:solidFill>
                <a:latin typeface="Consolas"/>
                <a:ea typeface="Consolas"/>
                <a:cs typeface="Consolas"/>
                <a:sym typeface="Consolas"/>
              </a:rPr>
              <a:t>Browser / DOM /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3730752" y="3831336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actual UI being tested — tests never interact with this directly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486400" y="1600200"/>
            <a:ext cx="3246120" cy="3035808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5623560" y="170992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Why POM?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623560" y="21762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Separates test logic from UI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623560" y="26334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Centralised locators — change once, fix everywhere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623560" y="30906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Tests read like user stories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5623560" y="35478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Easier onboarding for new team members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623560" y="40050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Scales well to large applications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Other patterns: Screenplay, Factory, Facade, Singleton,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TOOL SELECTION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457200" y="502920"/>
            <a:ext cx="8229600" cy="59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Choosing the Right Automation Tool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411480" y="1298448"/>
            <a:ext cx="2743200" cy="384048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411480" y="129844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Criteria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3246120" y="1298448"/>
            <a:ext cx="2743200" cy="384048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3246120" y="129844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Open-Source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6105737" y="1298448"/>
            <a:ext cx="2743200" cy="3840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6105737" y="1298448"/>
            <a:ext cx="274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Commercial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11480" y="1719072"/>
            <a:ext cx="27432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521208" y="1719072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3246120" y="1719072"/>
            <a:ext cx="27432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3355848" y="1719072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6105737" y="1719072"/>
            <a:ext cx="2743200" cy="502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6215465" y="1719072"/>
            <a:ext cx="252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Licen</a:t>
            </a:r>
            <a:r>
              <a:rPr lang="en-US" sz="1050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 fee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411480" y="2249424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521208" y="2249424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3246120" y="2249424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3355848" y="2249424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Playwright, Cypress, Selenium, RestAssured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6105737" y="2249424"/>
            <a:ext cx="27432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6215465" y="2249424"/>
            <a:ext cx="252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Katalon, TestComplete, Tosca, UFT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11480" y="2779776"/>
            <a:ext cx="27432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521208" y="2779776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Coding Required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3246120" y="2779776"/>
            <a:ext cx="27432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3355848" y="2779776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Yes — scripting skill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6105737" y="2779776"/>
            <a:ext cx="2743200" cy="502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6215465" y="2779776"/>
            <a:ext cx="252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Less — some support no-code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11480" y="3310128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521208" y="3310128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3246120" y="3310128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3355848" y="3310128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Large, active, frequent updates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105737" y="3310128"/>
            <a:ext cx="27432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6215465" y="3310128"/>
            <a:ext cx="252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Vendor-dependent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11480" y="3840480"/>
            <a:ext cx="27432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521208" y="3840480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Reporting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246120" y="3840480"/>
            <a:ext cx="2743200" cy="5029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3355848" y="3840480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Plugins / integrations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6105737" y="3840480"/>
            <a:ext cx="2743200" cy="502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6215465" y="3840480"/>
            <a:ext cx="252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Built-in dashboards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11480" y="4370832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521208" y="4370832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Best For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246120" y="4370832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3355848" y="4370832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Dev-savvy QA, CI/CD focused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6105737" y="4370832"/>
            <a:ext cx="27432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6215465" y="4370832"/>
            <a:ext cx="252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Non-technical teams, SAP/legacy apps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27897" y="4819311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💡 Start with Playwright (open-source) — modern, fast, multi-browser, built-in reporting, TypeScript support.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FEASIBILITY STUDY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Approaching an Automation Feasibility Study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411480" y="1371600"/>
            <a:ext cx="502920" cy="50292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640080" y="1874520"/>
            <a:ext cx="36576" cy="228600"/>
          </a:xfrm>
          <a:prstGeom prst="rect">
            <a:avLst/>
          </a:prstGeom>
          <a:solidFill>
            <a:srgbClr val="E5E5EA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1051560" y="1325880"/>
            <a:ext cx="7635240" cy="65836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432" y="149047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5"/>
          <p:cNvSpPr/>
          <p:nvPr/>
        </p:nvSpPr>
        <p:spPr>
          <a:xfrm>
            <a:off x="1572768" y="1399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Analyse the Test Suite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1572768" y="1673352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Identify volume of manual tests, regression frequency, and execution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11480" y="2103120"/>
            <a:ext cx="502920" cy="50292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4114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640080" y="2606040"/>
            <a:ext cx="36576" cy="228600"/>
          </a:xfrm>
          <a:prstGeom prst="rect">
            <a:avLst/>
          </a:prstGeom>
          <a:solidFill>
            <a:srgbClr val="E5E5EA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1051560" y="2057400"/>
            <a:ext cx="7635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2" name="Google Shape;4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0432" y="22219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5"/>
          <p:cNvSpPr/>
          <p:nvPr/>
        </p:nvSpPr>
        <p:spPr>
          <a:xfrm>
            <a:off x="1572768" y="21305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Assess Application Stability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572768" y="2404872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Is the UI stable? Volatile UIs increase maintenance cost significantly.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11480" y="2834640"/>
            <a:ext cx="502920" cy="50292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411480" y="2834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640080" y="3337560"/>
            <a:ext cx="36576" cy="228600"/>
          </a:xfrm>
          <a:prstGeom prst="rect">
            <a:avLst/>
          </a:prstGeom>
          <a:solidFill>
            <a:srgbClr val="E5E5EA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1051560" y="2788920"/>
            <a:ext cx="7635240" cy="65836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9" name="Google Shape;4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0432" y="29535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5"/>
          <p:cNvSpPr/>
          <p:nvPr/>
        </p:nvSpPr>
        <p:spPr>
          <a:xfrm>
            <a:off x="1572768" y="28620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 Team Readiness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572768" y="3136392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Skills, bandwidth, and willingness to own automation as a product.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411480" y="3566160"/>
            <a:ext cx="502920" cy="50292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41148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640080" y="4069080"/>
            <a:ext cx="36576" cy="228600"/>
          </a:xfrm>
          <a:prstGeom prst="rect">
            <a:avLst/>
          </a:prstGeom>
          <a:solidFill>
            <a:srgbClr val="E5E5EA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1051560" y="3520440"/>
            <a:ext cx="7635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0432" y="36850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5"/>
          <p:cNvSpPr/>
          <p:nvPr/>
        </p:nvSpPr>
        <p:spPr>
          <a:xfrm>
            <a:off x="1572768" y="35935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Calculate ROI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572768" y="3867912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Time saved vs time invested. Break-even typically after 3–5 test cycles.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411480" y="4297680"/>
            <a:ext cx="502920" cy="50292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411480" y="4297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1051560" y="4251960"/>
            <a:ext cx="7635240" cy="65836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0432" y="44165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5"/>
          <p:cNvSpPr/>
          <p:nvPr/>
        </p:nvSpPr>
        <p:spPr>
          <a:xfrm>
            <a:off x="1572768" y="43251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Define Scope &amp; Phased Rollout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1572768" y="4599432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Start with smoke tests, expand to regression, then edge cases iteratively.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Reporting Tools for Automation Testing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411480" y="1298448"/>
            <a:ext cx="260604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411480" y="1298448"/>
            <a:ext cx="2606040" cy="457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1965960" y="1389888"/>
            <a:ext cx="1005840" cy="256032"/>
          </a:xfrm>
          <a:prstGeom prst="rect">
            <a:avLst/>
          </a:prstGeom>
          <a:solidFill>
            <a:srgbClr val="0071E3">
              <a:alpha val="14901"/>
            </a:srgbClr>
          </a:solidFill>
          <a:ln cap="flat" cmpd="sng" w="9525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1965960" y="13898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Built-in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447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6"/>
          <p:cNvSpPr/>
          <p:nvPr/>
        </p:nvSpPr>
        <p:spPr>
          <a:xfrm>
            <a:off x="548640" y="18196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Playwright HTML Reporter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548640" y="2157984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Bundled with Playwright. Interactive HTML report with traces, screenshots, and video.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3218688" y="1298448"/>
            <a:ext cx="260604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3218688" y="1298448"/>
            <a:ext cx="2606040" cy="4572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4773168" y="1389888"/>
            <a:ext cx="1005840" cy="256032"/>
          </a:xfrm>
          <a:prstGeom prst="rect">
            <a:avLst/>
          </a:prstGeom>
          <a:solidFill>
            <a:srgbClr val="34C759">
              <a:alpha val="14901"/>
            </a:srgbClr>
          </a:solidFill>
          <a:ln cap="flat" cmpd="sng" w="9525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4773168" y="13898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Open-Source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4" name="Google Shape;4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5848" y="14447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6"/>
          <p:cNvSpPr/>
          <p:nvPr/>
        </p:nvSpPr>
        <p:spPr>
          <a:xfrm>
            <a:off x="3355848" y="18196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Allure Report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3355848" y="2157984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Highly visual, supports multiple frameworks. Integrates with Jenkins &amp; GitHub Actions.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6025896" y="1298448"/>
            <a:ext cx="260604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6025896" y="1298448"/>
            <a:ext cx="2606040" cy="4572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7580376" y="1389888"/>
            <a:ext cx="1005840" cy="256032"/>
          </a:xfrm>
          <a:prstGeom prst="rect">
            <a:avLst/>
          </a:prstGeom>
          <a:solidFill>
            <a:srgbClr val="AF52DE">
              <a:alpha val="14901"/>
            </a:srgbClr>
          </a:solidFill>
          <a:ln cap="flat" cmpd="sng" w="9525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6"/>
          <p:cNvSpPr/>
          <p:nvPr/>
        </p:nvSpPr>
        <p:spPr>
          <a:xfrm>
            <a:off x="7580376" y="13898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AI-powered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1" name="Google Shape;4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3056" y="14447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6"/>
          <p:cNvSpPr/>
          <p:nvPr/>
        </p:nvSpPr>
        <p:spPr>
          <a:xfrm>
            <a:off x="6163056" y="18196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ReportPortal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6163056" y="2157984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Centralised reporting platform with AI-assisted defect categorisation and trend analysis.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411480" y="3017520"/>
            <a:ext cx="260604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411480" y="3017520"/>
            <a:ext cx="2606040" cy="4572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1965960" y="3108960"/>
            <a:ext cx="1005840" cy="256032"/>
          </a:xfrm>
          <a:prstGeom prst="rect">
            <a:avLst/>
          </a:prstGeom>
          <a:solidFill>
            <a:srgbClr val="FF9500">
              <a:alpha val="14901"/>
            </a:srgbClr>
          </a:solidFill>
          <a:ln cap="flat" cmpd="sng" w="9525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1965960" y="31089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Commercial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8" name="Google Shape;4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6"/>
          <p:cNvSpPr/>
          <p:nvPr/>
        </p:nvSpPr>
        <p:spPr>
          <a:xfrm>
            <a:off x="548640" y="35387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TestRail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48640" y="3877056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 case management + reporting. Widely used for manual + automated test results.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3218688" y="3017520"/>
            <a:ext cx="260604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3218688" y="3017520"/>
            <a:ext cx="2606040" cy="45720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4773168" y="3108960"/>
            <a:ext cx="1005840" cy="256032"/>
          </a:xfrm>
          <a:prstGeom prst="rect">
            <a:avLst/>
          </a:prstGeom>
          <a:solidFill>
            <a:srgbClr val="6E6E73">
              <a:alpha val="14901"/>
            </a:srgbClr>
          </a:solidFill>
          <a:ln cap="flat" cmpd="sng" w="9525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4773168" y="31089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5848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6"/>
          <p:cNvSpPr/>
          <p:nvPr/>
        </p:nvSpPr>
        <p:spPr>
          <a:xfrm>
            <a:off x="3355848" y="35387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CI-native Reports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3355848" y="3877056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GitHub Actions, Jenkins, GitLab CI provide native JUnit XML parsing and test summaries.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6025896" y="3017520"/>
            <a:ext cx="260604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6025896" y="3017520"/>
            <a:ext cx="2606040" cy="4572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7580376" y="3108960"/>
            <a:ext cx="1005840" cy="256032"/>
          </a:xfrm>
          <a:prstGeom prst="rect">
            <a:avLst/>
          </a:prstGeom>
          <a:solidFill>
            <a:srgbClr val="FF3B30">
              <a:alpha val="14901"/>
            </a:srgbClr>
          </a:solidFill>
          <a:ln cap="flat" cmpd="sng" w="9525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7580376" y="31089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Custom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2" name="Google Shape;4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3056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6"/>
          <p:cNvSpPr/>
          <p:nvPr/>
        </p:nvSpPr>
        <p:spPr>
          <a:xfrm>
            <a:off x="6163056" y="35387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Grafana + InfluxDB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6163056" y="3877056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Custom dashboards for long-term trend analysis of test metrics and suite health.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7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PLAYWRIGHT — LOCATORS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Defining Locators in Playwright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457200" y="106070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How Playwright finds UI elements on the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411480" y="1417320"/>
            <a:ext cx="4069080" cy="1005840"/>
          </a:xfrm>
          <a:prstGeom prst="rect">
            <a:avLst/>
          </a:prstGeom>
          <a:solidFill>
            <a:srgbClr val="1A1D27"/>
          </a:solidFill>
          <a:ln cap="flat" cmpd="sng" w="9525">
            <a:solidFill>
              <a:srgbClr val="2A2D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411480" y="1417320"/>
            <a:ext cx="54864" cy="100584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7"/>
          <p:cNvSpPr/>
          <p:nvPr/>
        </p:nvSpPr>
        <p:spPr>
          <a:xfrm>
            <a:off x="576072" y="14904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C759"/>
                </a:solidFill>
                <a:latin typeface="Consolas"/>
                <a:ea typeface="Consolas"/>
                <a:cs typeface="Consolas"/>
                <a:sym typeface="Consolas"/>
              </a:rPr>
              <a:t>getByRole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548640" y="1783080"/>
            <a:ext cx="3794760" cy="274320"/>
          </a:xfrm>
          <a:prstGeom prst="rect">
            <a:avLst/>
          </a:prstGeom>
          <a:solidFill>
            <a:srgbClr val="0D0F16"/>
          </a:solidFill>
          <a:ln cap="flat" cmpd="sng" w="12700">
            <a:solidFill>
              <a:srgbClr val="0D0F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7"/>
          <p:cNvSpPr/>
          <p:nvPr/>
        </p:nvSpPr>
        <p:spPr>
          <a:xfrm>
            <a:off x="576072" y="1783080"/>
            <a:ext cx="3739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page.getByRole('button', { name: 'Submit' })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76072" y="212140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↳  Preferred — accessible, resilient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4663440" y="1417320"/>
            <a:ext cx="4069080" cy="1005840"/>
          </a:xfrm>
          <a:prstGeom prst="rect">
            <a:avLst/>
          </a:prstGeom>
          <a:solidFill>
            <a:srgbClr val="1A1D27"/>
          </a:solidFill>
          <a:ln cap="flat" cmpd="sng" w="9525">
            <a:solidFill>
              <a:srgbClr val="2A2D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4663440" y="1417320"/>
            <a:ext cx="54864" cy="100584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4828032" y="14904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onsolas"/>
                <a:ea typeface="Consolas"/>
                <a:cs typeface="Consolas"/>
                <a:sym typeface="Consolas"/>
              </a:rPr>
              <a:t>getByText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4800600" y="1783080"/>
            <a:ext cx="3794760" cy="274320"/>
          </a:xfrm>
          <a:prstGeom prst="rect">
            <a:avLst/>
          </a:prstGeom>
          <a:solidFill>
            <a:srgbClr val="0D0F16"/>
          </a:solidFill>
          <a:ln cap="flat" cmpd="sng" w="12700">
            <a:solidFill>
              <a:srgbClr val="0D0F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4828032" y="1783080"/>
            <a:ext cx="3739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page.getByText('Welcome back')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828032" y="212140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↳  Good for visible 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411480" y="2514600"/>
            <a:ext cx="4069080" cy="1005840"/>
          </a:xfrm>
          <a:prstGeom prst="rect">
            <a:avLst/>
          </a:prstGeom>
          <a:solidFill>
            <a:srgbClr val="1A1D27"/>
          </a:solidFill>
          <a:ln cap="flat" cmpd="sng" w="9525">
            <a:solidFill>
              <a:srgbClr val="2A2D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7"/>
          <p:cNvSpPr/>
          <p:nvPr/>
        </p:nvSpPr>
        <p:spPr>
          <a:xfrm>
            <a:off x="411480" y="2514600"/>
            <a:ext cx="54864" cy="100584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576072" y="25877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onsolas"/>
                <a:ea typeface="Consolas"/>
                <a:cs typeface="Consolas"/>
                <a:sym typeface="Consolas"/>
              </a:rPr>
              <a:t>getByLabel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548640" y="2880360"/>
            <a:ext cx="3794760" cy="274320"/>
          </a:xfrm>
          <a:prstGeom prst="rect">
            <a:avLst/>
          </a:prstGeom>
          <a:solidFill>
            <a:srgbClr val="0D0F16"/>
          </a:solidFill>
          <a:ln cap="flat" cmpd="sng" w="12700">
            <a:solidFill>
              <a:srgbClr val="0D0F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576072" y="2880360"/>
            <a:ext cx="3739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page.getByLabel('Email address')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576072" y="321868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↳  Best for form fields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4663440" y="2514600"/>
            <a:ext cx="4069080" cy="1005840"/>
          </a:xfrm>
          <a:prstGeom prst="rect">
            <a:avLst/>
          </a:prstGeom>
          <a:solidFill>
            <a:srgbClr val="1A1D27"/>
          </a:solidFill>
          <a:ln cap="flat" cmpd="sng" w="9525">
            <a:solidFill>
              <a:srgbClr val="2A2D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7"/>
          <p:cNvSpPr/>
          <p:nvPr/>
        </p:nvSpPr>
        <p:spPr>
          <a:xfrm>
            <a:off x="4663440" y="2514600"/>
            <a:ext cx="54864" cy="100584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4828032" y="25877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getByTestId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4800600" y="2880360"/>
            <a:ext cx="3794760" cy="274320"/>
          </a:xfrm>
          <a:prstGeom prst="rect">
            <a:avLst/>
          </a:prstGeom>
          <a:solidFill>
            <a:srgbClr val="0D0F16"/>
          </a:solidFill>
          <a:ln cap="flat" cmpd="sng" w="12700">
            <a:solidFill>
              <a:srgbClr val="0D0F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"/>
          <p:cNvSpPr/>
          <p:nvPr/>
        </p:nvSpPr>
        <p:spPr>
          <a:xfrm>
            <a:off x="4828032" y="2880360"/>
            <a:ext cx="3739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page.getByTestId('login-button')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4828032" y="321868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↳  Requires data-testid attributes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411480" y="3611880"/>
            <a:ext cx="4069080" cy="1005840"/>
          </a:xfrm>
          <a:prstGeom prst="rect">
            <a:avLst/>
          </a:prstGeom>
          <a:solidFill>
            <a:srgbClr val="1A1D27"/>
          </a:solidFill>
          <a:ln cap="flat" cmpd="sng" w="9525">
            <a:solidFill>
              <a:srgbClr val="2A2D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411480" y="3611880"/>
            <a:ext cx="54864" cy="1005840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576072" y="36850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E6E73"/>
                </a:solidFill>
                <a:latin typeface="Consolas"/>
                <a:ea typeface="Consolas"/>
                <a:cs typeface="Consolas"/>
                <a:sym typeface="Consolas"/>
              </a:rPr>
              <a:t>locator (CSS)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548640" y="3977640"/>
            <a:ext cx="3794760" cy="274320"/>
          </a:xfrm>
          <a:prstGeom prst="rect">
            <a:avLst/>
          </a:prstGeom>
          <a:solidFill>
            <a:srgbClr val="0D0F16"/>
          </a:solidFill>
          <a:ln cap="flat" cmpd="sng" w="12700">
            <a:solidFill>
              <a:srgbClr val="0D0F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7"/>
          <p:cNvSpPr/>
          <p:nvPr/>
        </p:nvSpPr>
        <p:spPr>
          <a:xfrm>
            <a:off x="576072" y="3977640"/>
            <a:ext cx="3739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page.locator('.btn-primary')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576072" y="431596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↳  Use when above options unavailable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4663440" y="3611880"/>
            <a:ext cx="4069080" cy="1005840"/>
          </a:xfrm>
          <a:prstGeom prst="rect">
            <a:avLst/>
          </a:prstGeom>
          <a:solidFill>
            <a:srgbClr val="1A1D27"/>
          </a:solidFill>
          <a:ln cap="flat" cmpd="sng" w="9525">
            <a:solidFill>
              <a:srgbClr val="2A2D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4663440" y="3611880"/>
            <a:ext cx="54864" cy="100584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7"/>
          <p:cNvSpPr/>
          <p:nvPr/>
        </p:nvSpPr>
        <p:spPr>
          <a:xfrm>
            <a:off x="4828032" y="36850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3B30"/>
                </a:solidFill>
                <a:latin typeface="Consolas"/>
                <a:ea typeface="Consolas"/>
                <a:cs typeface="Consolas"/>
                <a:sym typeface="Consolas"/>
              </a:rPr>
              <a:t>locator (XPath)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4800600" y="3977640"/>
            <a:ext cx="3794760" cy="274320"/>
          </a:xfrm>
          <a:prstGeom prst="rect">
            <a:avLst/>
          </a:prstGeom>
          <a:solidFill>
            <a:srgbClr val="0D0F16"/>
          </a:solidFill>
          <a:ln cap="flat" cmpd="sng" w="12700">
            <a:solidFill>
              <a:srgbClr val="0D0F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7"/>
          <p:cNvSpPr/>
          <p:nvPr/>
        </p:nvSpPr>
        <p:spPr>
          <a:xfrm>
            <a:off x="4828032" y="3977640"/>
            <a:ext cx="3739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page.locator("//input[@name='email']")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828032" y="431596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↳  Last resort — fragile &amp; verbose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1E3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60C0">
              <a:alpha val="40000"/>
            </a:srgbClr>
          </a:solidFill>
          <a:ln cap="flat" cmpd="sng" w="12700">
            <a:solidFill>
              <a:srgbClr val="006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6" name="Google Shape;5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8"/>
          <p:cNvSpPr/>
          <p:nvPr/>
        </p:nvSpPr>
        <p:spPr>
          <a:xfrm>
            <a:off x="548640" y="2606040"/>
            <a:ext cx="6400800" cy="146304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dk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CI/CD Pipelines &amp;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Test Environments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"/>
          <p:cNvSpPr/>
          <p:nvPr/>
        </p:nvSpPr>
        <p:spPr>
          <a:xfrm>
            <a:off x="548640" y="42062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8D1F5"/>
                </a:solidFill>
                <a:latin typeface="Calibri"/>
                <a:ea typeface="Calibri"/>
                <a:cs typeface="Calibri"/>
                <a:sym typeface="Calibri"/>
              </a:rPr>
              <a:t>Build pipelines · Regression failures · Scheduled &amp; triggered runs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9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The Automation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411480" y="1298448"/>
            <a:ext cx="150876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8" name="Google Shape;5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" y="14813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9"/>
          <p:cNvSpPr/>
          <p:nvPr/>
        </p:nvSpPr>
        <p:spPr>
          <a:xfrm>
            <a:off x="411480" y="201168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Push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1920240" y="1911096"/>
            <a:ext cx="246888" cy="3657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9"/>
          <p:cNvSpPr/>
          <p:nvPr/>
        </p:nvSpPr>
        <p:spPr>
          <a:xfrm>
            <a:off x="2167128" y="1298448"/>
            <a:ext cx="150876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2" name="Google Shape;5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2908" y="14813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9"/>
          <p:cNvSpPr/>
          <p:nvPr/>
        </p:nvSpPr>
        <p:spPr>
          <a:xfrm>
            <a:off x="2167128" y="201168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Build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Compile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3675888" y="1911096"/>
            <a:ext cx="246888" cy="3657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9"/>
          <p:cNvSpPr/>
          <p:nvPr/>
        </p:nvSpPr>
        <p:spPr>
          <a:xfrm>
            <a:off x="3922776" y="1298448"/>
            <a:ext cx="1508760" cy="1371600"/>
          </a:xfrm>
          <a:prstGeom prst="rect">
            <a:avLst/>
          </a:prstGeom>
          <a:solidFill>
            <a:srgbClr val="0071E3"/>
          </a:solidFill>
          <a:ln cap="flat" cmpd="sng" w="9525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6" name="Google Shape;54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556" y="14813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9"/>
          <p:cNvSpPr/>
          <p:nvPr/>
        </p:nvSpPr>
        <p:spPr>
          <a:xfrm>
            <a:off x="3922776" y="201168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5431536" y="1911096"/>
            <a:ext cx="246888" cy="3657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9"/>
          <p:cNvSpPr/>
          <p:nvPr/>
        </p:nvSpPr>
        <p:spPr>
          <a:xfrm>
            <a:off x="5678424" y="1298448"/>
            <a:ext cx="150876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4204" y="14813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9"/>
          <p:cNvSpPr/>
          <p:nvPr/>
        </p:nvSpPr>
        <p:spPr>
          <a:xfrm>
            <a:off x="5678424" y="201168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7187184" y="1911096"/>
            <a:ext cx="246888" cy="3657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9"/>
          <p:cNvSpPr/>
          <p:nvPr/>
        </p:nvSpPr>
        <p:spPr>
          <a:xfrm>
            <a:off x="7434072" y="1298448"/>
            <a:ext cx="1508760" cy="1371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4" name="Google Shape;55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59852" y="14813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9"/>
          <p:cNvSpPr/>
          <p:nvPr/>
        </p:nvSpPr>
        <p:spPr>
          <a:xfrm>
            <a:off x="7434072" y="201168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Deploy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457200" y="297180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Test Trigger Strategies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411480" y="3429000"/>
            <a:ext cx="2651760" cy="129844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360" y="3593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9"/>
          <p:cNvSpPr/>
          <p:nvPr/>
        </p:nvSpPr>
        <p:spPr>
          <a:xfrm>
            <a:off x="978408" y="35478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PR / Merge Trigger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576072" y="3950208"/>
            <a:ext cx="2359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Tests run automatically when a pull request targets the QA branch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3264408" y="3429000"/>
            <a:ext cx="2651760" cy="129844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47288" y="3593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9"/>
          <p:cNvSpPr/>
          <p:nvPr/>
        </p:nvSpPr>
        <p:spPr>
          <a:xfrm>
            <a:off x="3831336" y="35478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Scheduled Runs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3429000" y="3950208"/>
            <a:ext cx="2359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Nightly or hourly jobs ensure continuous regression coverage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6117336" y="3429000"/>
            <a:ext cx="2651760" cy="129844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6" name="Google Shape;56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00216" y="3593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9"/>
          <p:cNvSpPr/>
          <p:nvPr/>
        </p:nvSpPr>
        <p:spPr>
          <a:xfrm>
            <a:off x="6684264" y="35478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Deployment Trigger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6281928" y="3950208"/>
            <a:ext cx="2359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Full smoke + regression suite fires after each successful deployment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"/>
          <p:cNvSpPr/>
          <p:nvPr/>
        </p:nvSpPr>
        <p:spPr>
          <a:xfrm>
            <a:off x="1371600" y="3094059"/>
            <a:ext cx="1737300" cy="3660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0"/>
          <p:cNvSpPr/>
          <p:nvPr/>
        </p:nvSpPr>
        <p:spPr>
          <a:xfrm>
            <a:off x="5980176" y="3094059"/>
            <a:ext cx="1463100" cy="3660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0"/>
          <p:cNvSpPr/>
          <p:nvPr/>
        </p:nvSpPr>
        <p:spPr>
          <a:xfrm>
            <a:off x="411480" y="256032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0"/>
          <p:cNvSpPr/>
          <p:nvPr/>
        </p:nvSpPr>
        <p:spPr>
          <a:xfrm>
            <a:off x="548640" y="201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TEST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0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Managing Regression Test Failures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0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When a test fails in the pipeline...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0"/>
          <p:cNvSpPr/>
          <p:nvPr/>
        </p:nvSpPr>
        <p:spPr>
          <a:xfrm>
            <a:off x="3383280" y="1810512"/>
            <a:ext cx="2377440" cy="530352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0"/>
          <p:cNvSpPr/>
          <p:nvPr/>
        </p:nvSpPr>
        <p:spPr>
          <a:xfrm>
            <a:off x="3383280" y="1810512"/>
            <a:ext cx="2377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Test Fails in CI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4553712" y="2340864"/>
            <a:ext cx="36576" cy="320040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0"/>
          <p:cNvSpPr/>
          <p:nvPr/>
        </p:nvSpPr>
        <p:spPr>
          <a:xfrm>
            <a:off x="3108960" y="2660904"/>
            <a:ext cx="2926080" cy="475488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0"/>
          <p:cNvSpPr/>
          <p:nvPr/>
        </p:nvSpPr>
        <p:spPr>
          <a:xfrm>
            <a:off x="3108960" y="2660904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Is the app broken or is the test flaky?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1371600" y="3136392"/>
            <a:ext cx="36576" cy="32004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0"/>
          <p:cNvSpPr/>
          <p:nvPr/>
        </p:nvSpPr>
        <p:spPr>
          <a:xfrm>
            <a:off x="457200" y="3456432"/>
            <a:ext cx="2011680" cy="10058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0"/>
          <p:cNvSpPr/>
          <p:nvPr/>
        </p:nvSpPr>
        <p:spPr>
          <a:xfrm>
            <a:off x="457200" y="345643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3B30"/>
                </a:solidFill>
                <a:latin typeface="Trebuchet MS"/>
                <a:ea typeface="Trebuchet MS"/>
                <a:cs typeface="Trebuchet MS"/>
                <a:sym typeface="Trebuchet MS"/>
              </a:rPr>
              <a:t>App is Broken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0"/>
          <p:cNvSpPr/>
          <p:nvPr/>
        </p:nvSpPr>
        <p:spPr>
          <a:xfrm>
            <a:off x="502920" y="382219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Raise a defect.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Block the deployment.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Notify the team.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0"/>
          <p:cNvSpPr/>
          <p:nvPr/>
        </p:nvSpPr>
        <p:spPr>
          <a:xfrm>
            <a:off x="7406640" y="3136392"/>
            <a:ext cx="36576" cy="32004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0"/>
          <p:cNvSpPr/>
          <p:nvPr/>
        </p:nvSpPr>
        <p:spPr>
          <a:xfrm>
            <a:off x="6675120" y="3456432"/>
            <a:ext cx="2011680" cy="1005840"/>
          </a:xfrm>
          <a:prstGeom prst="rect">
            <a:avLst/>
          </a:prstGeom>
          <a:solidFill>
            <a:srgbClr val="FFF8E7"/>
          </a:solidFill>
          <a:ln cap="flat" cmpd="sng" w="9525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0"/>
          <p:cNvSpPr/>
          <p:nvPr/>
        </p:nvSpPr>
        <p:spPr>
          <a:xfrm>
            <a:off x="6675120" y="345643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9500"/>
                </a:solidFill>
                <a:latin typeface="Trebuchet MS"/>
                <a:ea typeface="Trebuchet MS"/>
                <a:cs typeface="Trebuchet MS"/>
                <a:sym typeface="Trebuchet MS"/>
              </a:rPr>
              <a:t>Flaky 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0"/>
          <p:cNvSpPr/>
          <p:nvPr/>
        </p:nvSpPr>
        <p:spPr>
          <a:xfrm>
            <a:off x="6720840" y="382219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Tag as flaky.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Fix root cause.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Add to flaky-test register.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3383280" y="3456432"/>
            <a:ext cx="2377440" cy="1005840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0"/>
          <p:cNvSpPr/>
          <p:nvPr/>
        </p:nvSpPr>
        <p:spPr>
          <a:xfrm>
            <a:off x="3383280" y="345643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First 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0"/>
          <p:cNvSpPr/>
          <p:nvPr/>
        </p:nvSpPr>
        <p:spPr>
          <a:xfrm>
            <a:off x="3429000" y="3822192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Re-run the failed test.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Check logs &amp; screenshots.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Isolate the failure.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0"/>
          <p:cNvSpPr/>
          <p:nvPr/>
        </p:nvSpPr>
        <p:spPr>
          <a:xfrm>
            <a:off x="4553712" y="3136392"/>
            <a:ext cx="36576" cy="32004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8"/>
          <p:cNvSpPr/>
          <p:nvPr/>
        </p:nvSpPr>
        <p:spPr>
          <a:xfrm>
            <a:off x="411480" y="201168"/>
            <a:ext cx="82296" cy="82296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8"/>
          <p:cNvSpPr/>
          <p:nvPr/>
        </p:nvSpPr>
        <p:spPr>
          <a:xfrm>
            <a:off x="548640" y="1463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PRACTICE USE CASE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Hands-On Practice: E-Commerce Checkout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411480" y="1298448"/>
            <a:ext cx="8321040" cy="658368"/>
          </a:xfrm>
          <a:prstGeom prst="rect">
            <a:avLst/>
          </a:prstGeom>
          <a:solidFill>
            <a:srgbClr val="E8F4FD"/>
          </a:solidFill>
          <a:ln cap="flat" cmpd="sng" w="9525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8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🛒  Scenario: Automate the end-to-end checkout flow of a sample e-commerce web application using Playwright.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411480" y="21031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Automation 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411480" y="254203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  Navigate to the home page and verify the page title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411480" y="297180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  Search for a product and validate search results appear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411480" y="3401568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  Add a product to the cart and verify cart count updates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411480" y="3831336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  Proceed to checkout and fill in the shipping 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411480" y="4261104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  Submit the order and validate the confirmation message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4800600" y="210312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Your Approach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4800600" y="2523744"/>
            <a:ext cx="3931920" cy="420624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5" name="Google Shape;6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9472" y="25968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8"/>
          <p:cNvSpPr/>
          <p:nvPr/>
        </p:nvSpPr>
        <p:spPr>
          <a:xfrm>
            <a:off x="5257800" y="2569464"/>
            <a:ext cx="3364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Identify locators using browser DevTools &amp; Playwright Inspector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4800600" y="2999232"/>
            <a:ext cx="39319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8" name="Google Shape;6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18"/>
          <p:cNvSpPr/>
          <p:nvPr/>
        </p:nvSpPr>
        <p:spPr>
          <a:xfrm>
            <a:off x="5257800" y="3044952"/>
            <a:ext cx="3364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Apply Page Object Model — one class per page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4800600" y="3474720"/>
            <a:ext cx="3931920" cy="420624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1" name="Google Shape;62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9472" y="35478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8"/>
          <p:cNvSpPr/>
          <p:nvPr/>
        </p:nvSpPr>
        <p:spPr>
          <a:xfrm>
            <a:off x="5257800" y="3520440"/>
            <a:ext cx="3364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Use fixtures for test data (user credentials, product names)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4800600" y="3950208"/>
            <a:ext cx="39319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4" name="Google Shape;6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9472" y="40233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8"/>
          <p:cNvSpPr/>
          <p:nvPr/>
        </p:nvSpPr>
        <p:spPr>
          <a:xfrm>
            <a:off x="5257800" y="3995928"/>
            <a:ext cx="3364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Run tests in CI — trigger on PR merge to main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4800600" y="4425696"/>
            <a:ext cx="3931920" cy="420624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7" name="Google Shape;62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19472" y="44988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8"/>
          <p:cNvSpPr/>
          <p:nvPr/>
        </p:nvSpPr>
        <p:spPr>
          <a:xfrm>
            <a:off x="5257800" y="4471416"/>
            <a:ext cx="3364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Generate HTML report and review failure screenshots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Suggested tool: Playwright (TypeScript)  ·  Application: SauceDemo or DemoQA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9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71E3">
              <a:alpha val="12156"/>
            </a:srgbClr>
          </a:solidFill>
          <a:ln cap="flat" cmpd="sng" w="12700">
            <a:solidFill>
              <a:srgbClr val="0071E3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6" name="Google Shape;6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114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9"/>
          <p:cNvSpPr/>
          <p:nvPr/>
        </p:nvSpPr>
        <p:spPr>
          <a:xfrm>
            <a:off x="1078992" y="411480"/>
            <a:ext cx="5486400" cy="50292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457200" y="1216152"/>
            <a:ext cx="320040" cy="32004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9"/>
          <p:cNvSpPr/>
          <p:nvPr/>
        </p:nvSpPr>
        <p:spPr>
          <a:xfrm>
            <a:off x="457200" y="12161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960120" y="1188720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 complements manual testing — it does not replace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9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9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960120" y="180136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with a feasibility study and a clear scope before choosing a tool.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9"/>
          <p:cNvSpPr/>
          <p:nvPr/>
        </p:nvSpPr>
        <p:spPr>
          <a:xfrm>
            <a:off x="457200" y="2441448"/>
            <a:ext cx="320040" cy="32004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9"/>
          <p:cNvSpPr/>
          <p:nvPr/>
        </p:nvSpPr>
        <p:spPr>
          <a:xfrm>
            <a:off x="457200" y="24414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960120" y="2414016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 in good architecture (POM) from day one — maintenance is the real cost.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9"/>
          <p:cNvSpPr/>
          <p:nvPr/>
        </p:nvSpPr>
        <p:spPr>
          <a:xfrm>
            <a:off x="457200" y="3054096"/>
            <a:ext cx="320040" cy="32004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457200" y="30540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9"/>
          <p:cNvSpPr/>
          <p:nvPr/>
        </p:nvSpPr>
        <p:spPr>
          <a:xfrm>
            <a:off x="960120" y="3026664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 automation into your CI/CD pipeline for continuous feedback.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457200" y="3666744"/>
            <a:ext cx="320040" cy="32004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9"/>
          <p:cNvSpPr/>
          <p:nvPr/>
        </p:nvSpPr>
        <p:spPr>
          <a:xfrm>
            <a:off x="457200" y="36667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960120" y="3639312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role-based and semantic locators in Playwright for resilient tests.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457200" y="4279392"/>
            <a:ext cx="320040" cy="32004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457200" y="427939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9"/>
          <p:cNvSpPr/>
          <p:nvPr/>
        </p:nvSpPr>
        <p:spPr>
          <a:xfrm>
            <a:off x="960120" y="4251960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Treat test code like production code — review, refactor, and document.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1E3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60C0">
              <a:alpha val="40000"/>
            </a:srgbClr>
          </a:solidFill>
          <a:ln cap="flat" cmpd="sng" w="12700">
            <a:solidFill>
              <a:srgbClr val="0060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60C0">
              <a:alpha val="30196"/>
            </a:srgbClr>
          </a:solidFill>
          <a:ln cap="flat" cmpd="sng" w="12700">
            <a:solidFill>
              <a:srgbClr val="0060C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3" name="Google Shape;6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9693" y="1097280"/>
            <a:ext cx="1645920" cy="164592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</p:pic>
      <p:sp>
        <p:nvSpPr>
          <p:cNvPr id="664" name="Google Shape;664;p20"/>
          <p:cNvSpPr/>
          <p:nvPr/>
        </p:nvSpPr>
        <p:spPr>
          <a:xfrm>
            <a:off x="548640" y="1371600"/>
            <a:ext cx="5943600" cy="100584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dk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rebuchet MS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Questions?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548640" y="2560320"/>
            <a:ext cx="5943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D1F5"/>
                </a:solidFill>
                <a:latin typeface="Calibri"/>
                <a:ea typeface="Calibri"/>
                <a:cs typeface="Calibri"/>
                <a:sym typeface="Calibri"/>
              </a:rPr>
              <a:t>Let's discuss, explore, and automate!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0"/>
          <p:cNvSpPr/>
          <p:nvPr/>
        </p:nvSpPr>
        <p:spPr>
          <a:xfrm>
            <a:off x="548640" y="3310128"/>
            <a:ext cx="21945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0"/>
          <p:cNvSpPr/>
          <p:nvPr/>
        </p:nvSpPr>
        <p:spPr>
          <a:xfrm>
            <a:off x="548640" y="34930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E8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1E8FA"/>
                </a:solidFill>
                <a:latin typeface="Calibri"/>
                <a:ea typeface="Calibri"/>
                <a:cs typeface="Calibri"/>
                <a:sym typeface="Calibri"/>
              </a:rPr>
              <a:t>🔗  playwright.dev — Official Docs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548640" y="38587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E8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1E8FA"/>
                </a:solidFill>
                <a:latin typeface="Calibri"/>
                <a:ea typeface="Calibri"/>
                <a:cs typeface="Calibri"/>
                <a:sym typeface="Calibri"/>
              </a:rPr>
              <a:t>🔗  github.com/microsoft/playwright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548640" y="422452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E8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1E8FA"/>
                </a:solidFill>
                <a:latin typeface="Calibri"/>
                <a:ea typeface="Calibri"/>
                <a:cs typeface="Calibri"/>
                <a:sym typeface="Calibri"/>
              </a:rPr>
              <a:t>🔗  saucedemo.com — Practice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0"/>
          <p:cNvSpPr/>
          <p:nvPr/>
        </p:nvSpPr>
        <p:spPr>
          <a:xfrm>
            <a:off x="548640" y="459028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E8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1E8FA"/>
                </a:solidFill>
                <a:latin typeface="Calibri"/>
                <a:ea typeface="Calibri"/>
                <a:cs typeface="Calibri"/>
                <a:sym typeface="Calibri"/>
              </a:rPr>
              <a:t>🔗  demoqa.com — Practice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2026-04-13T05:48:37Z</dcterms:created>
  <dc:creator>PptxGenJS</dc:creator>
</cp:coreProperties>
</file>