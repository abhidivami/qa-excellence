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4" roundtripDataSignature="AMtx7mgDGVae3km0mVqsR9kI2zxXtcst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customschemas.google.com/relationships/presentationmetadata" Target="metadata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6" name="Google Shape;63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8" name="Google Shape;66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9" name="Google Shape;67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9" name="Google Shape;72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9" name="Google Shape;76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9" name="Google Shape;80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2" name="Google Shape;90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3" name="Google Shape;91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3" name="Google Shape;95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4" name="Google Shape;97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4" name="Google Shape;101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5" name="Google Shape;102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5" name="Google Shape;105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6" name="Google Shape;1086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4" name="Google Shape;112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9" name="Google Shape;1159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2" name="Google Shape;119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5" name="Google Shape;122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g3de3ce0ff42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0" name="Google Shape;1250;g3de3ce0ff42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g3de3ce0ff42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4" name="Google Shape;126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0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1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24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1.png"/><Relationship Id="rId8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25.png"/><Relationship Id="rId10" Type="http://schemas.openxmlformats.org/officeDocument/2006/relationships/image" Target="../media/image47.png"/><Relationship Id="rId13" Type="http://schemas.openxmlformats.org/officeDocument/2006/relationships/image" Target="../media/image1.png"/><Relationship Id="rId1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Relationship Id="rId4" Type="http://schemas.openxmlformats.org/officeDocument/2006/relationships/image" Target="../media/image15.png"/><Relationship Id="rId9" Type="http://schemas.openxmlformats.org/officeDocument/2006/relationships/image" Target="../media/image14.png"/><Relationship Id="rId14" Type="http://schemas.openxmlformats.org/officeDocument/2006/relationships/image" Target="../media/image43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35.png"/><Relationship Id="rId8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Relationship Id="rId4" Type="http://schemas.openxmlformats.org/officeDocument/2006/relationships/image" Target="../media/image44.png"/><Relationship Id="rId5" Type="http://schemas.openxmlformats.org/officeDocument/2006/relationships/image" Target="../media/image32.png"/><Relationship Id="rId6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5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5.png"/><Relationship Id="rId6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7.png"/><Relationship Id="rId4" Type="http://schemas.openxmlformats.org/officeDocument/2006/relationships/image" Target="../media/image14.png"/><Relationship Id="rId5" Type="http://schemas.openxmlformats.org/officeDocument/2006/relationships/image" Target="../media/image3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2.png"/><Relationship Id="rId4" Type="http://schemas.openxmlformats.org/officeDocument/2006/relationships/image" Target="../media/image30.png"/><Relationship Id="rId9" Type="http://schemas.openxmlformats.org/officeDocument/2006/relationships/image" Target="../media/image60.png"/><Relationship Id="rId5" Type="http://schemas.openxmlformats.org/officeDocument/2006/relationships/image" Target="../media/image52.png"/><Relationship Id="rId6" Type="http://schemas.openxmlformats.org/officeDocument/2006/relationships/image" Target="../media/image68.png"/><Relationship Id="rId7" Type="http://schemas.openxmlformats.org/officeDocument/2006/relationships/image" Target="../media/image16.png"/><Relationship Id="rId8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5.png"/><Relationship Id="rId4" Type="http://schemas.openxmlformats.org/officeDocument/2006/relationships/image" Target="../media/image65.png"/><Relationship Id="rId5" Type="http://schemas.openxmlformats.org/officeDocument/2006/relationships/image" Target="../media/image42.png"/><Relationship Id="rId6" Type="http://schemas.openxmlformats.org/officeDocument/2006/relationships/image" Target="../media/image70.png"/><Relationship Id="rId7" Type="http://schemas.openxmlformats.org/officeDocument/2006/relationships/image" Target="../media/image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Relationship Id="rId4" Type="http://schemas.openxmlformats.org/officeDocument/2006/relationships/image" Target="../media/image56.png"/><Relationship Id="rId5" Type="http://schemas.openxmlformats.org/officeDocument/2006/relationships/image" Target="../media/image6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5.png"/><Relationship Id="rId4" Type="http://schemas.openxmlformats.org/officeDocument/2006/relationships/image" Target="../media/image56.png"/><Relationship Id="rId5" Type="http://schemas.openxmlformats.org/officeDocument/2006/relationships/image" Target="../media/image49.png"/><Relationship Id="rId6" Type="http://schemas.openxmlformats.org/officeDocument/2006/relationships/image" Target="../media/image2.png"/><Relationship Id="rId7" Type="http://schemas.openxmlformats.org/officeDocument/2006/relationships/image" Target="../media/image5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486400" y="274320"/>
            <a:ext cx="3840480" cy="3840480"/>
          </a:xfrm>
          <a:prstGeom prst="ellipse">
            <a:avLst/>
          </a:prstGeom>
          <a:solidFill>
            <a:srgbClr val="EBF4FF"/>
          </a:solidFill>
          <a:ln cap="flat" cmpd="sng" w="12700">
            <a:solidFill>
              <a:srgbClr val="EB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92240" y="100584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548640" y="640080"/>
            <a:ext cx="5669280" cy="1371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QA Excellence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640" y="210312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Quality is a Differentiator,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Not a Checklist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48640" y="2971800"/>
            <a:ext cx="3200400" cy="2286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Today's Journey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What we will cover in the next 60 minutes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1078992"/>
            <a:ext cx="8229600" cy="182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457200" y="1234440"/>
            <a:ext cx="4114800" cy="11155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457200" y="1234440"/>
            <a:ext cx="4114800" cy="54864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457200" y="1234440"/>
            <a:ext cx="502920" cy="1115568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457200" y="1581912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078992" y="1344168"/>
            <a:ext cx="3337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Rethinking QA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078992" y="1801368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Myths, definitions, QA vs QC, objectives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800600" y="1234440"/>
            <a:ext cx="4114800" cy="11155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800600" y="1234440"/>
            <a:ext cx="4114800" cy="54864"/>
          </a:xfrm>
          <a:prstGeom prst="rect">
            <a:avLst/>
          </a:prstGeom>
          <a:solidFill>
            <a:srgbClr val="00999E"/>
          </a:solidFill>
          <a:ln cap="flat" cmpd="sng" w="12700">
            <a:solidFill>
              <a:srgbClr val="00999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800600" y="1234440"/>
            <a:ext cx="502920" cy="1115568"/>
          </a:xfrm>
          <a:prstGeom prst="rect">
            <a:avLst/>
          </a:prstGeom>
          <a:solidFill>
            <a:srgbClr val="00999E"/>
          </a:solidFill>
          <a:ln cap="flat" cmpd="sng" w="12700">
            <a:solidFill>
              <a:srgbClr val="00999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800600" y="1581912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422392" y="1344168"/>
            <a:ext cx="3337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The QA Lifecycle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422392" y="1801368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All 8 phases from requirements to deployment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57200" y="2532888"/>
            <a:ext cx="4114800" cy="11155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57200" y="2532888"/>
            <a:ext cx="4114800" cy="54864"/>
          </a:xfrm>
          <a:prstGeom prst="rect">
            <a:avLst/>
          </a:prstGeom>
          <a:solidFill>
            <a:srgbClr val="9B59B6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457200" y="2532888"/>
            <a:ext cx="502920" cy="1115568"/>
          </a:xfrm>
          <a:prstGeom prst="rect">
            <a:avLst/>
          </a:prstGeom>
          <a:solidFill>
            <a:srgbClr val="9B59B6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57200" y="288036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078992" y="2642616"/>
            <a:ext cx="3337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Test Artifacts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078992" y="3099816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Deliverables, test cases, bug reports, RTM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800600" y="2532888"/>
            <a:ext cx="4114800" cy="11155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800600" y="2532888"/>
            <a:ext cx="4114800" cy="54864"/>
          </a:xfrm>
          <a:prstGeom prst="rect">
            <a:avLst/>
          </a:prstGeom>
          <a:solidFill>
            <a:srgbClr val="E8820C"/>
          </a:solidFill>
          <a:ln cap="flat" cmpd="sng" w="1270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4800600" y="2532888"/>
            <a:ext cx="502920" cy="1115568"/>
          </a:xfrm>
          <a:prstGeom prst="rect">
            <a:avLst/>
          </a:prstGeom>
          <a:solidFill>
            <a:srgbClr val="E8820C"/>
          </a:solidFill>
          <a:ln cap="flat" cmpd="sng" w="1270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800600" y="288036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422392" y="2642616"/>
            <a:ext cx="3337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Testing Knowledge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422392" y="3099816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Levels, pyramid, types, limitations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57200" y="3831336"/>
            <a:ext cx="4114800" cy="11155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457200" y="3831336"/>
            <a:ext cx="4114800" cy="54864"/>
          </a:xfrm>
          <a:prstGeom prst="rect">
            <a:avLst/>
          </a:prstGeom>
          <a:solidFill>
            <a:srgbClr val="28A745"/>
          </a:solidFill>
          <a:ln cap="flat" cmpd="sng" w="127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457200" y="3831336"/>
            <a:ext cx="502920" cy="1115568"/>
          </a:xfrm>
          <a:prstGeom prst="rect">
            <a:avLst/>
          </a:prstGeom>
          <a:solidFill>
            <a:srgbClr val="28A745"/>
          </a:solidFill>
          <a:ln cap="flat" cmpd="sng" w="127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457200" y="417880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078992" y="3941064"/>
            <a:ext cx="3337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The QA Mindset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078992" y="4398264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Critical thinking, customer empathy, traits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800600" y="3831336"/>
            <a:ext cx="4114800" cy="11155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4800600" y="3831336"/>
            <a:ext cx="4114800" cy="54864"/>
          </a:xfrm>
          <a:prstGeom prst="rect">
            <a:avLst/>
          </a:prstGeom>
          <a:solidFill>
            <a:srgbClr val="6E6E73"/>
          </a:solidFill>
          <a:ln cap="flat" cmpd="sng" w="12700">
            <a:solidFill>
              <a:srgbClr val="6E6E7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4800600" y="3831336"/>
            <a:ext cx="502920" cy="1115568"/>
          </a:xfrm>
          <a:prstGeom prst="rect">
            <a:avLst/>
          </a:prstGeom>
          <a:solidFill>
            <a:srgbClr val="6E6E73"/>
          </a:solidFill>
          <a:ln cap="flat" cmpd="sng" w="12700">
            <a:solidFill>
              <a:srgbClr val="6E6E7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4800600" y="417880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5422392" y="3941064"/>
            <a:ext cx="3337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Assessment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5422392" y="4398264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Hands-on B2B use case + deeper exploration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1D1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/>
          <p:nvPr/>
        </p:nvSpPr>
        <p:spPr>
          <a:xfrm>
            <a:off x="5943600" y="274320"/>
            <a:ext cx="29260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C2C2E"/>
              </a:buClr>
              <a:buSzPts val="18000"/>
              <a:buFont typeface="Calibri"/>
              <a:buNone/>
            </a:pPr>
            <a:r>
              <a:rPr b="1" i="0" lang="en-US" sz="18000" u="none" cap="none" strike="noStrike">
                <a:solidFill>
                  <a:srgbClr val="2C2C2E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548640" y="384048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01  /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48640" y="749808"/>
            <a:ext cx="7498080" cy="18288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1980000" dist="28575">
              <a:schemeClr val="lt1">
                <a:alpha val="73000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Rethinking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Quality Assurance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48640" y="2670048"/>
            <a:ext cx="4572000" cy="2286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548640" y="2788920"/>
            <a:ext cx="7498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AEB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EAEB2"/>
                </a:solidFill>
                <a:latin typeface="Calibri"/>
                <a:ea typeface="Calibri"/>
                <a:cs typeface="Calibri"/>
                <a:sym typeface="Calibri"/>
              </a:rPr>
              <a:t>Beyond testing — what quality truly means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The QA You Know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Three myths that limit quality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57200" y="1078992"/>
            <a:ext cx="8229600" cy="182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457200" y="1261872"/>
            <a:ext cx="2633472" cy="34747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457200" y="1261872"/>
            <a:ext cx="2633472" cy="54864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621792" y="1389888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MYTH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621792" y="1719072"/>
            <a:ext cx="2286000" cy="13716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621792" y="1828800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QA tests at the end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621792" y="2761488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Testing is a final checkpoint before release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3291840" y="1261872"/>
            <a:ext cx="2633472" cy="34747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3291840" y="1261872"/>
            <a:ext cx="2633472" cy="54864"/>
          </a:xfrm>
          <a:prstGeom prst="rect">
            <a:avLst/>
          </a:prstGeom>
          <a:solidFill>
            <a:srgbClr val="E8820C"/>
          </a:solidFill>
          <a:ln cap="flat" cmpd="sng" w="1270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3456432" y="1389888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MYTH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3456432" y="1719072"/>
            <a:ext cx="2286000" cy="13716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3456432" y="1828800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QA is only the testers' job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3456432" y="2761488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Developers build it; QA catches the bugs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126480" y="1261872"/>
            <a:ext cx="2633472" cy="34747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6126480" y="1261872"/>
            <a:ext cx="2633472" cy="54864"/>
          </a:xfrm>
          <a:prstGeom prst="rect">
            <a:avLst/>
          </a:prstGeom>
          <a:solidFill>
            <a:srgbClr val="D70015"/>
          </a:solidFill>
          <a:ln cap="flat" cmpd="sng" w="12700">
            <a:solidFill>
              <a:srgbClr val="D7001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6291072" y="1389888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001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70015"/>
                </a:solidFill>
                <a:latin typeface="Calibri"/>
                <a:ea typeface="Calibri"/>
                <a:cs typeface="Calibri"/>
                <a:sym typeface="Calibri"/>
              </a:rPr>
              <a:t>MYTH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291072" y="1719072"/>
            <a:ext cx="2286000" cy="13716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6291072" y="1828800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QA = clicking buttons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291072" y="2761488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If the UI works, the product works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These beliefs are quietly costing your teams time, money, and user trust.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What QA Really 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A discipline, not a department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457200" y="1078992"/>
            <a:ext cx="8229600" cy="182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457200" y="1234440"/>
            <a:ext cx="8229600" cy="804672"/>
          </a:xfrm>
          <a:prstGeom prst="rect">
            <a:avLst/>
          </a:prstGeom>
          <a:solidFill>
            <a:srgbClr val="EBF4FF"/>
          </a:solidFill>
          <a:ln cap="flat" cmpd="sng" w="1015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685800" y="1325880"/>
            <a:ext cx="7818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QA is the act of instilling confidence — that the right product was built, for the right user, in the right way.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57200" y="2212848"/>
            <a:ext cx="2633472" cy="26060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457200" y="2212848"/>
            <a:ext cx="2633472" cy="54864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1362456" y="2514600"/>
            <a:ext cx="822960" cy="822960"/>
          </a:xfrm>
          <a:prstGeom prst="ellipse">
            <a:avLst/>
          </a:prstGeom>
          <a:solidFill>
            <a:srgbClr val="EBF4FF"/>
          </a:solidFill>
          <a:ln cap="flat" cmpd="sng" w="12700">
            <a:solidFill>
              <a:srgbClr val="EB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" name="Google Shape;11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6474" y="2658618"/>
            <a:ext cx="534924" cy="534924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"/>
          <p:cNvSpPr/>
          <p:nvPr/>
        </p:nvSpPr>
        <p:spPr>
          <a:xfrm>
            <a:off x="621792" y="342900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PREVENT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21792" y="3840480"/>
            <a:ext cx="23317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Catch issues before they become defects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3291840" y="2212848"/>
            <a:ext cx="2633472" cy="26060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3291840" y="2212848"/>
            <a:ext cx="2633472" cy="54864"/>
          </a:xfrm>
          <a:prstGeom prst="rect">
            <a:avLst/>
          </a:prstGeom>
          <a:solidFill>
            <a:srgbClr val="9B59B6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4197096" y="2514600"/>
            <a:ext cx="822960" cy="822960"/>
          </a:xfrm>
          <a:prstGeom prst="ellipse">
            <a:avLst/>
          </a:prstGeom>
          <a:solidFill>
            <a:srgbClr val="F5EEFF"/>
          </a:solidFill>
          <a:ln cap="flat" cmpd="sng" w="12700">
            <a:solidFill>
              <a:srgbClr val="F5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1114" y="2658618"/>
            <a:ext cx="534924" cy="53492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/>
          <p:nvPr/>
        </p:nvSpPr>
        <p:spPr>
          <a:xfrm>
            <a:off x="3456432" y="342900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B59B6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3456432" y="3840480"/>
            <a:ext cx="23317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Challenge assumptions at every phase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6126480" y="2212848"/>
            <a:ext cx="2633472" cy="26060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6126480" y="2212848"/>
            <a:ext cx="2633472" cy="54864"/>
          </a:xfrm>
          <a:prstGeom prst="rect">
            <a:avLst/>
          </a:prstGeom>
          <a:solidFill>
            <a:srgbClr val="28A745"/>
          </a:solidFill>
          <a:ln cap="flat" cmpd="sng" w="127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7031736" y="2514600"/>
            <a:ext cx="822960" cy="822960"/>
          </a:xfrm>
          <a:prstGeom prst="ellipse">
            <a:avLst/>
          </a:prstGeom>
          <a:solidFill>
            <a:srgbClr val="E8F8EE"/>
          </a:solidFill>
          <a:ln cap="flat" cmpd="sng" w="12700">
            <a:solidFill>
              <a:srgbClr val="E8F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0" name="Google Shape;13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75754" y="2658618"/>
            <a:ext cx="534924" cy="53492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/>
          <p:nvPr/>
        </p:nvSpPr>
        <p:spPr>
          <a:xfrm>
            <a:off x="6291072" y="342900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EMPATHIZE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6291072" y="3840480"/>
            <a:ext cx="23317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See the product through the user's eyes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QA vs QC vs Testing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Three distinct concepts — often confused as 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457200" y="1078992"/>
            <a:ext cx="8229600" cy="182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457200" y="1261872"/>
            <a:ext cx="2633472" cy="367588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457200" y="1261872"/>
            <a:ext cx="2633472" cy="54864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457200" y="1261872"/>
            <a:ext cx="2633472" cy="658368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4" name="Google Shape;14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" y="1335024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/>
          <p:nvPr/>
        </p:nvSpPr>
        <p:spPr>
          <a:xfrm>
            <a:off x="1170432" y="135331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Quality Assurance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621792" y="1993392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Process-oriented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621792" y="239572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1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Proactive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621792" y="2734056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1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Focuses on prevention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621792" y="3072384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1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Covers the entire lifecycle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621792" y="3410712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1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Improves how work is done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621792" y="374904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Example: Reviewing the SDLC process, writing test plans, defining standards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3291840" y="1261872"/>
            <a:ext cx="2633472" cy="367588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3291840" y="1261872"/>
            <a:ext cx="2633472" cy="54864"/>
          </a:xfrm>
          <a:prstGeom prst="rect">
            <a:avLst/>
          </a:prstGeom>
          <a:solidFill>
            <a:srgbClr val="00999E"/>
          </a:solidFill>
          <a:ln cap="flat" cmpd="sng" w="12700">
            <a:solidFill>
              <a:srgbClr val="0099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3291840" y="1261872"/>
            <a:ext cx="2633472" cy="658368"/>
          </a:xfrm>
          <a:prstGeom prst="rect">
            <a:avLst/>
          </a:prstGeom>
          <a:solidFill>
            <a:srgbClr val="00999E"/>
          </a:solidFill>
          <a:ln cap="flat" cmpd="sng" w="12700">
            <a:solidFill>
              <a:srgbClr val="00999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5" name="Google Shape;15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6432" y="1335024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/>
          <p:nvPr/>
        </p:nvSpPr>
        <p:spPr>
          <a:xfrm>
            <a:off x="4005072" y="135331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Quality Control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3456432" y="1993392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99E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00999E"/>
                </a:solidFill>
                <a:latin typeface="Calibri"/>
                <a:ea typeface="Calibri"/>
                <a:cs typeface="Calibri"/>
                <a:sym typeface="Calibri"/>
              </a:rPr>
              <a:t>Product-oriented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3456432" y="239572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99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999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1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Reactive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3456432" y="2734056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99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999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1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Focuses on detection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3456432" y="3072384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99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999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1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Happens after product is built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3456432" y="3410712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99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999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1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Improves the product itself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3456432" y="374904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Example: Reviewing the final document, inspecting the build for defects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126480" y="1261872"/>
            <a:ext cx="2633472" cy="367588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6126480" y="1261872"/>
            <a:ext cx="2633472" cy="54864"/>
          </a:xfrm>
          <a:prstGeom prst="rect">
            <a:avLst/>
          </a:prstGeom>
          <a:solidFill>
            <a:srgbClr val="E8820C"/>
          </a:solidFill>
          <a:ln cap="flat" cmpd="sng" w="1270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6126480" y="1261872"/>
            <a:ext cx="2633472" cy="658368"/>
          </a:xfrm>
          <a:prstGeom prst="rect">
            <a:avLst/>
          </a:prstGeom>
          <a:solidFill>
            <a:srgbClr val="E8820C"/>
          </a:solidFill>
          <a:ln cap="flat" cmpd="sng" w="1270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1072" y="1335024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6"/>
          <p:cNvSpPr/>
          <p:nvPr/>
        </p:nvSpPr>
        <p:spPr>
          <a:xfrm>
            <a:off x="6839712" y="135331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6291072" y="1993392"/>
            <a:ext cx="2331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Activity-oriented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6291072" y="239572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1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Execution-based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6291072" y="2734056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1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Finds specific defects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291072" y="3072384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1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A subset of QC activities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6291072" y="3410712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1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Validates software behaviour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6291072" y="374904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Example: Running test cases, reporting bugs, verifying fixes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Objective of Testing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Why do we test? — Six core reasons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457200" y="1078992"/>
            <a:ext cx="8229600" cy="182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457200" y="1261872"/>
            <a:ext cx="4114800" cy="109728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640080" y="1490472"/>
            <a:ext cx="640080" cy="640080"/>
          </a:xfrm>
          <a:prstGeom prst="ellipse">
            <a:avLst/>
          </a:prstGeom>
          <a:solidFill>
            <a:srgbClr val="E8F8EE"/>
          </a:solidFill>
          <a:ln cap="flat" cmpd="sng" w="12700">
            <a:solidFill>
              <a:srgbClr val="E8F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4" name="Google Shape;18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094" y="1602486"/>
            <a:ext cx="416052" cy="41605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7"/>
          <p:cNvSpPr/>
          <p:nvPr/>
        </p:nvSpPr>
        <p:spPr>
          <a:xfrm>
            <a:off x="1444752" y="1353312"/>
            <a:ext cx="2971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Build Confidence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1444752" y="1792224"/>
            <a:ext cx="2971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Demonstrate that the product meets its requirements and user expectations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4800600" y="1261872"/>
            <a:ext cx="4114800" cy="109728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4983480" y="1490472"/>
            <a:ext cx="640080" cy="640080"/>
          </a:xfrm>
          <a:prstGeom prst="ellipse">
            <a:avLst/>
          </a:prstGeom>
          <a:solidFill>
            <a:srgbClr val="EBF4FF"/>
          </a:solidFill>
          <a:ln cap="flat" cmpd="sng" w="12700">
            <a:solidFill>
              <a:srgbClr val="EB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9" name="Google Shape;18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95494" y="1602486"/>
            <a:ext cx="416052" cy="41605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7"/>
          <p:cNvSpPr/>
          <p:nvPr/>
        </p:nvSpPr>
        <p:spPr>
          <a:xfrm>
            <a:off x="5788152" y="1353312"/>
            <a:ext cx="2971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Detect Defects Early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5788152" y="1792224"/>
            <a:ext cx="2971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Identify issues when they are cheapest to fix — not in production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457200" y="2523744"/>
            <a:ext cx="4114800" cy="109728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640080" y="2752344"/>
            <a:ext cx="640080" cy="640080"/>
          </a:xfrm>
          <a:prstGeom prst="ellipse">
            <a:avLst/>
          </a:prstGeom>
          <a:solidFill>
            <a:srgbClr val="EEF1FF"/>
          </a:solidFill>
          <a:ln cap="flat" cmpd="sng" w="12700">
            <a:solidFill>
              <a:srgbClr val="EEF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4" name="Google Shape;19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094" y="2864358"/>
            <a:ext cx="416052" cy="41605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7"/>
          <p:cNvSpPr/>
          <p:nvPr/>
        </p:nvSpPr>
        <p:spPr>
          <a:xfrm>
            <a:off x="1444752" y="2615184"/>
            <a:ext cx="2971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51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451B2"/>
                </a:solidFill>
                <a:latin typeface="Calibri"/>
                <a:ea typeface="Calibri"/>
                <a:cs typeface="Calibri"/>
                <a:sym typeface="Calibri"/>
              </a:rPr>
              <a:t>Verify Requirements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1444752" y="3054096"/>
            <a:ext cx="2971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Confirm every specified requirement has been correctly implemented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800600" y="2523744"/>
            <a:ext cx="4114800" cy="109728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4983480" y="2752344"/>
            <a:ext cx="640080" cy="640080"/>
          </a:xfrm>
          <a:prstGeom prst="ellipse">
            <a:avLst/>
          </a:prstGeom>
          <a:solidFill>
            <a:srgbClr val="E2F7F8"/>
          </a:solidFill>
          <a:ln cap="flat" cmpd="sng" w="12700">
            <a:solidFill>
              <a:srgbClr val="E2F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9" name="Google Shape;19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95494" y="2864358"/>
            <a:ext cx="416052" cy="416052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7"/>
          <p:cNvSpPr/>
          <p:nvPr/>
        </p:nvSpPr>
        <p:spPr>
          <a:xfrm>
            <a:off x="5788152" y="2615184"/>
            <a:ext cx="2971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99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999E"/>
                </a:solidFill>
                <a:latin typeface="Calibri"/>
                <a:ea typeface="Calibri"/>
                <a:cs typeface="Calibri"/>
                <a:sym typeface="Calibri"/>
              </a:rPr>
              <a:t>Validate User Needs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5788152" y="3054096"/>
            <a:ext cx="2971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Ensure the product actually solves the real-world problem it was built for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457200" y="3785616"/>
            <a:ext cx="4114800" cy="109728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640080" y="4014216"/>
            <a:ext cx="640080" cy="640080"/>
          </a:xfrm>
          <a:prstGeom prst="ellipse">
            <a:avLst/>
          </a:prstGeom>
          <a:solidFill>
            <a:srgbClr val="FFF3E0"/>
          </a:solidFill>
          <a:ln cap="flat" cmpd="sng" w="12700">
            <a:solidFill>
              <a:srgbClr val="FFF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4" name="Google Shape;204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094" y="4126230"/>
            <a:ext cx="416052" cy="41605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7"/>
          <p:cNvSpPr/>
          <p:nvPr/>
        </p:nvSpPr>
        <p:spPr>
          <a:xfrm>
            <a:off x="1444752" y="3877056"/>
            <a:ext cx="2971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Measure Quality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1444752" y="4315968"/>
            <a:ext cx="2971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Provide objective data on defect density, coverage, and risk exposure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4800600" y="3785616"/>
            <a:ext cx="4114800" cy="109728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4983480" y="4014216"/>
            <a:ext cx="640080" cy="640080"/>
          </a:xfrm>
          <a:prstGeom prst="ellipse">
            <a:avLst/>
          </a:prstGeom>
          <a:solidFill>
            <a:srgbClr val="FFEBEE"/>
          </a:solidFill>
          <a:ln cap="flat" cmpd="sng" w="12700">
            <a:solidFill>
              <a:srgbClr val="FFEB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9" name="Google Shape;209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95494" y="4126230"/>
            <a:ext cx="416052" cy="41605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7"/>
          <p:cNvSpPr/>
          <p:nvPr/>
        </p:nvSpPr>
        <p:spPr>
          <a:xfrm>
            <a:off x="5788152" y="3877056"/>
            <a:ext cx="2971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001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70015"/>
                </a:solidFill>
                <a:latin typeface="Calibri"/>
                <a:ea typeface="Calibri"/>
                <a:cs typeface="Calibri"/>
                <a:sym typeface="Calibri"/>
              </a:rPr>
              <a:t>Reduce Risk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5788152" y="4315968"/>
            <a:ext cx="2971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Surface security, compliance, and failure risks before they reach customers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What Can You Test?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Testing goes far beyond the application UI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457200" y="1078992"/>
            <a:ext cx="8229600" cy="182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0" name="Google Shape;220;p8"/>
          <p:cNvGrpSpPr/>
          <p:nvPr/>
        </p:nvGrpSpPr>
        <p:grpSpPr>
          <a:xfrm>
            <a:off x="411480" y="1261872"/>
            <a:ext cx="2011680" cy="1078992"/>
            <a:chOff x="411480" y="1261872"/>
            <a:chExt cx="2011680" cy="1078992"/>
          </a:xfrm>
        </p:grpSpPr>
        <p:sp>
          <p:nvSpPr>
            <p:cNvPr id="221" name="Google Shape;221;p8"/>
            <p:cNvSpPr/>
            <p:nvPr/>
          </p:nvSpPr>
          <p:spPr>
            <a:xfrm>
              <a:off x="411480" y="1261872"/>
              <a:ext cx="2011680" cy="1078992"/>
            </a:xfrm>
            <a:prstGeom prst="rect">
              <a:avLst/>
            </a:prstGeom>
            <a:solidFill>
              <a:srgbClr val="FFFFFF"/>
            </a:solidFill>
            <a:ln cap="flat" cmpd="sng" w="10150">
              <a:solidFill>
                <a:srgbClr val="D2D2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8"/>
            <p:cNvSpPr/>
            <p:nvPr/>
          </p:nvSpPr>
          <p:spPr>
            <a:xfrm>
              <a:off x="411480" y="1261872"/>
              <a:ext cx="2011680" cy="54864"/>
            </a:xfrm>
            <a:prstGeom prst="rect">
              <a:avLst/>
            </a:prstGeom>
            <a:solidFill>
              <a:srgbClr val="0071E3"/>
            </a:solidFill>
            <a:ln cap="flat" cmpd="sng" w="12700">
              <a:solidFill>
                <a:srgbClr val="0071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8"/>
            <p:cNvSpPr/>
            <p:nvPr/>
          </p:nvSpPr>
          <p:spPr>
            <a:xfrm>
              <a:off x="502920" y="1508760"/>
              <a:ext cx="512064" cy="512064"/>
            </a:xfrm>
            <a:prstGeom prst="ellipse">
              <a:avLst/>
            </a:prstGeom>
            <a:solidFill>
              <a:srgbClr val="EBF4FF"/>
            </a:solidFill>
            <a:ln cap="flat" cmpd="sng" w="12700">
              <a:solidFill>
                <a:srgbClr val="EBF4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224" name="Google Shape;224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92531" y="1598371"/>
              <a:ext cx="332842" cy="3328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5" name="Google Shape;225;p8"/>
            <p:cNvSpPr/>
            <p:nvPr/>
          </p:nvSpPr>
          <p:spPr>
            <a:xfrm>
              <a:off x="1124712" y="1389888"/>
              <a:ext cx="11887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1D1D1F"/>
                  </a:solidFill>
                  <a:latin typeface="Calibri"/>
                  <a:ea typeface="Calibri"/>
                  <a:cs typeface="Calibri"/>
                  <a:sym typeface="Calibri"/>
                </a:rPr>
                <a:t>Requirements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8"/>
            <p:cNvSpPr/>
            <p:nvPr/>
          </p:nvSpPr>
          <p:spPr>
            <a:xfrm>
              <a:off x="1124712" y="1773936"/>
              <a:ext cx="1234440" cy="475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E6E73"/>
                </a:buClr>
                <a:buSzPts val="950"/>
                <a:buFont typeface="Calibri"/>
                <a:buNone/>
              </a:pPr>
              <a:r>
                <a:rPr b="0" i="0" lang="en-US" sz="950" u="none" cap="none" strike="noStrike">
                  <a:solidFill>
                    <a:srgbClr val="6E6E73"/>
                  </a:solidFill>
                  <a:latin typeface="Calibri"/>
                  <a:ea typeface="Calibri"/>
                  <a:cs typeface="Calibri"/>
                  <a:sym typeface="Calibri"/>
                </a:rPr>
                <a:t>Completeness, clarity, testability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7" name="Google Shape;227;p8"/>
          <p:cNvGrpSpPr/>
          <p:nvPr/>
        </p:nvGrpSpPr>
        <p:grpSpPr>
          <a:xfrm>
            <a:off x="2606040" y="1261872"/>
            <a:ext cx="2011680" cy="1078992"/>
            <a:chOff x="2606040" y="1261872"/>
            <a:chExt cx="2011680" cy="1078992"/>
          </a:xfrm>
        </p:grpSpPr>
        <p:sp>
          <p:nvSpPr>
            <p:cNvPr id="228" name="Google Shape;228;p8"/>
            <p:cNvSpPr/>
            <p:nvPr/>
          </p:nvSpPr>
          <p:spPr>
            <a:xfrm>
              <a:off x="2606040" y="1261872"/>
              <a:ext cx="2011680" cy="1078992"/>
            </a:xfrm>
            <a:prstGeom prst="rect">
              <a:avLst/>
            </a:prstGeom>
            <a:solidFill>
              <a:srgbClr val="FFFFFF"/>
            </a:solidFill>
            <a:ln cap="flat" cmpd="sng" w="10150">
              <a:solidFill>
                <a:srgbClr val="D2D2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8"/>
            <p:cNvSpPr/>
            <p:nvPr/>
          </p:nvSpPr>
          <p:spPr>
            <a:xfrm>
              <a:off x="2606040" y="1261872"/>
              <a:ext cx="2011680" cy="54864"/>
            </a:xfrm>
            <a:prstGeom prst="rect">
              <a:avLst/>
            </a:prstGeom>
            <a:solidFill>
              <a:srgbClr val="00999E"/>
            </a:solidFill>
            <a:ln cap="flat" cmpd="sng" w="12700">
              <a:solidFill>
                <a:srgbClr val="0099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8"/>
            <p:cNvSpPr/>
            <p:nvPr/>
          </p:nvSpPr>
          <p:spPr>
            <a:xfrm>
              <a:off x="2697480" y="1508760"/>
              <a:ext cx="512064" cy="512064"/>
            </a:xfrm>
            <a:prstGeom prst="ellipse">
              <a:avLst/>
            </a:prstGeom>
            <a:solidFill>
              <a:srgbClr val="E2F7F8"/>
            </a:solidFill>
            <a:ln cap="flat" cmpd="sng" w="12700">
              <a:solidFill>
                <a:srgbClr val="E2F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231" name="Google Shape;231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87091" y="1598371"/>
              <a:ext cx="332842" cy="3328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" name="Google Shape;232;p8"/>
            <p:cNvSpPr/>
            <p:nvPr/>
          </p:nvSpPr>
          <p:spPr>
            <a:xfrm>
              <a:off x="3319272" y="1389888"/>
              <a:ext cx="11887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1D1D1F"/>
                  </a:solidFill>
                  <a:latin typeface="Calibri"/>
                  <a:ea typeface="Calibri"/>
                  <a:cs typeface="Calibri"/>
                  <a:sym typeface="Calibri"/>
                </a:rPr>
                <a:t>Designs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3319272" y="1773936"/>
              <a:ext cx="1234440" cy="475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E6E73"/>
                </a:buClr>
                <a:buSzPts val="950"/>
                <a:buFont typeface="Calibri"/>
                <a:buNone/>
              </a:pPr>
              <a:r>
                <a:rPr b="0" i="0" lang="en-US" sz="950" u="none" cap="none" strike="noStrike">
                  <a:solidFill>
                    <a:srgbClr val="6E6E73"/>
                  </a:solidFill>
                  <a:latin typeface="Calibri"/>
                  <a:ea typeface="Calibri"/>
                  <a:cs typeface="Calibri"/>
                  <a:sym typeface="Calibri"/>
                </a:rPr>
                <a:t>Wireframes, prototypes, user flows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" name="Google Shape;234;p8"/>
          <p:cNvGrpSpPr/>
          <p:nvPr/>
        </p:nvGrpSpPr>
        <p:grpSpPr>
          <a:xfrm>
            <a:off x="4800600" y="1261872"/>
            <a:ext cx="2011680" cy="1078992"/>
            <a:chOff x="4800600" y="1261872"/>
            <a:chExt cx="2011680" cy="1078992"/>
          </a:xfrm>
        </p:grpSpPr>
        <p:sp>
          <p:nvSpPr>
            <p:cNvPr id="235" name="Google Shape;235;p8"/>
            <p:cNvSpPr/>
            <p:nvPr/>
          </p:nvSpPr>
          <p:spPr>
            <a:xfrm>
              <a:off x="4800600" y="1261872"/>
              <a:ext cx="2011680" cy="1078992"/>
            </a:xfrm>
            <a:prstGeom prst="rect">
              <a:avLst/>
            </a:prstGeom>
            <a:solidFill>
              <a:srgbClr val="FFFFFF"/>
            </a:solidFill>
            <a:ln cap="flat" cmpd="sng" w="10150">
              <a:solidFill>
                <a:srgbClr val="D2D2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8"/>
            <p:cNvSpPr/>
            <p:nvPr/>
          </p:nvSpPr>
          <p:spPr>
            <a:xfrm>
              <a:off x="4800600" y="1261872"/>
              <a:ext cx="2011680" cy="54864"/>
            </a:xfrm>
            <a:prstGeom prst="rect">
              <a:avLst/>
            </a:prstGeom>
            <a:solidFill>
              <a:srgbClr val="3451B2"/>
            </a:solidFill>
            <a:ln cap="flat" cmpd="sng" w="12700">
              <a:solidFill>
                <a:srgbClr val="3451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8"/>
            <p:cNvSpPr/>
            <p:nvPr/>
          </p:nvSpPr>
          <p:spPr>
            <a:xfrm>
              <a:off x="4892040" y="1508760"/>
              <a:ext cx="512064" cy="512064"/>
            </a:xfrm>
            <a:prstGeom prst="ellipse">
              <a:avLst/>
            </a:prstGeom>
            <a:solidFill>
              <a:srgbClr val="EEF1FF"/>
            </a:solidFill>
            <a:ln cap="flat" cmpd="sng" w="12700">
              <a:solidFill>
                <a:srgbClr val="EEF1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238" name="Google Shape;238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981651" y="1598371"/>
              <a:ext cx="332842" cy="3328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9" name="Google Shape;239;p8"/>
            <p:cNvSpPr/>
            <p:nvPr/>
          </p:nvSpPr>
          <p:spPr>
            <a:xfrm>
              <a:off x="5513832" y="1389888"/>
              <a:ext cx="11887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1D1D1F"/>
                  </a:solidFill>
                  <a:latin typeface="Calibri"/>
                  <a:ea typeface="Calibri"/>
                  <a:cs typeface="Calibri"/>
                  <a:sym typeface="Calibri"/>
                </a:rPr>
                <a:t>Architecture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8"/>
            <p:cNvSpPr/>
            <p:nvPr/>
          </p:nvSpPr>
          <p:spPr>
            <a:xfrm>
              <a:off x="5513832" y="1773936"/>
              <a:ext cx="1234440" cy="475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E6E73"/>
                </a:buClr>
                <a:buSzPts val="950"/>
                <a:buFont typeface="Calibri"/>
                <a:buNone/>
              </a:pPr>
              <a:r>
                <a:rPr b="0" i="0" lang="en-US" sz="950" u="none" cap="none" strike="noStrike">
                  <a:solidFill>
                    <a:srgbClr val="6E6E73"/>
                  </a:solidFill>
                  <a:latin typeface="Calibri"/>
                  <a:ea typeface="Calibri"/>
                  <a:cs typeface="Calibri"/>
                  <a:sym typeface="Calibri"/>
                </a:rPr>
                <a:t>System design, data flow, scalability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" name="Google Shape;241;p8"/>
          <p:cNvGrpSpPr/>
          <p:nvPr/>
        </p:nvGrpSpPr>
        <p:grpSpPr>
          <a:xfrm>
            <a:off x="6995160" y="1261872"/>
            <a:ext cx="2011680" cy="1078992"/>
            <a:chOff x="6995160" y="1261872"/>
            <a:chExt cx="2011680" cy="1078992"/>
          </a:xfrm>
        </p:grpSpPr>
        <p:sp>
          <p:nvSpPr>
            <p:cNvPr id="242" name="Google Shape;242;p8"/>
            <p:cNvSpPr/>
            <p:nvPr/>
          </p:nvSpPr>
          <p:spPr>
            <a:xfrm>
              <a:off x="6995160" y="1261872"/>
              <a:ext cx="2011680" cy="1078992"/>
            </a:xfrm>
            <a:prstGeom prst="rect">
              <a:avLst/>
            </a:prstGeom>
            <a:solidFill>
              <a:srgbClr val="FFFFFF"/>
            </a:solidFill>
            <a:ln cap="flat" cmpd="sng" w="10150">
              <a:solidFill>
                <a:srgbClr val="D2D2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8"/>
            <p:cNvSpPr/>
            <p:nvPr/>
          </p:nvSpPr>
          <p:spPr>
            <a:xfrm>
              <a:off x="6995160" y="1261872"/>
              <a:ext cx="2011680" cy="54864"/>
            </a:xfrm>
            <a:prstGeom prst="rect">
              <a:avLst/>
            </a:prstGeom>
            <a:solidFill>
              <a:srgbClr val="28A745"/>
            </a:solidFill>
            <a:ln cap="flat" cmpd="sng" w="12700">
              <a:solidFill>
                <a:srgbClr val="28A7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8"/>
            <p:cNvSpPr/>
            <p:nvPr/>
          </p:nvSpPr>
          <p:spPr>
            <a:xfrm>
              <a:off x="7086600" y="1508760"/>
              <a:ext cx="512064" cy="512064"/>
            </a:xfrm>
            <a:prstGeom prst="ellipse">
              <a:avLst/>
            </a:prstGeom>
            <a:solidFill>
              <a:srgbClr val="E8F8EE"/>
            </a:solidFill>
            <a:ln cap="flat" cmpd="sng" w="12700">
              <a:solidFill>
                <a:srgbClr val="E8F8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245" name="Google Shape;245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176211" y="1598371"/>
              <a:ext cx="332842" cy="3328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" name="Google Shape;246;p8"/>
            <p:cNvSpPr/>
            <p:nvPr/>
          </p:nvSpPr>
          <p:spPr>
            <a:xfrm>
              <a:off x="7708392" y="1389888"/>
              <a:ext cx="11887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1D1D1F"/>
                  </a:solidFill>
                  <a:latin typeface="Calibri"/>
                  <a:ea typeface="Calibri"/>
                  <a:cs typeface="Calibri"/>
                  <a:sym typeface="Calibri"/>
                </a:rPr>
                <a:t>Code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8"/>
            <p:cNvSpPr/>
            <p:nvPr/>
          </p:nvSpPr>
          <p:spPr>
            <a:xfrm>
              <a:off x="7708392" y="1773936"/>
              <a:ext cx="1234440" cy="475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E6E73"/>
                </a:buClr>
                <a:buSzPts val="950"/>
                <a:buFont typeface="Calibri"/>
                <a:buNone/>
              </a:pPr>
              <a:r>
                <a:rPr b="0" i="0" lang="en-US" sz="950" u="none" cap="none" strike="noStrike">
                  <a:solidFill>
                    <a:srgbClr val="6E6E73"/>
                  </a:solidFill>
                  <a:latin typeface="Calibri"/>
                  <a:ea typeface="Calibri"/>
                  <a:cs typeface="Calibri"/>
                  <a:sym typeface="Calibri"/>
                </a:rPr>
                <a:t>Unit tests, code review, static analysis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8" name="Google Shape;248;p8"/>
          <p:cNvGrpSpPr/>
          <p:nvPr/>
        </p:nvGrpSpPr>
        <p:grpSpPr>
          <a:xfrm>
            <a:off x="411480" y="2523744"/>
            <a:ext cx="2011680" cy="1078992"/>
            <a:chOff x="411480" y="2523744"/>
            <a:chExt cx="2011680" cy="1078992"/>
          </a:xfrm>
        </p:grpSpPr>
        <p:sp>
          <p:nvSpPr>
            <p:cNvPr id="249" name="Google Shape;249;p8"/>
            <p:cNvSpPr/>
            <p:nvPr/>
          </p:nvSpPr>
          <p:spPr>
            <a:xfrm>
              <a:off x="411480" y="2523744"/>
              <a:ext cx="2011680" cy="1078992"/>
            </a:xfrm>
            <a:prstGeom prst="rect">
              <a:avLst/>
            </a:prstGeom>
            <a:solidFill>
              <a:srgbClr val="FFFFFF"/>
            </a:solidFill>
            <a:ln cap="flat" cmpd="sng" w="10150">
              <a:solidFill>
                <a:srgbClr val="D2D2D7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12700">
                <a:srgbClr val="000000">
                  <a:alpha val="7058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8"/>
            <p:cNvSpPr/>
            <p:nvPr/>
          </p:nvSpPr>
          <p:spPr>
            <a:xfrm>
              <a:off x="411480" y="2523744"/>
              <a:ext cx="2011680" cy="54864"/>
            </a:xfrm>
            <a:prstGeom prst="rect">
              <a:avLst/>
            </a:prstGeom>
            <a:solidFill>
              <a:srgbClr val="9B59B6"/>
            </a:solidFill>
            <a:ln cap="flat" cmpd="sng" w="12700">
              <a:solidFill>
                <a:srgbClr val="9B59B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8"/>
            <p:cNvSpPr/>
            <p:nvPr/>
          </p:nvSpPr>
          <p:spPr>
            <a:xfrm>
              <a:off x="502920" y="2770632"/>
              <a:ext cx="512064" cy="512064"/>
            </a:xfrm>
            <a:prstGeom prst="ellipse">
              <a:avLst/>
            </a:prstGeom>
            <a:solidFill>
              <a:srgbClr val="F5EEFF"/>
            </a:solidFill>
            <a:ln cap="flat" cmpd="sng" w="12700">
              <a:solidFill>
                <a:srgbClr val="F5EE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252" name="Google Shape;252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2531" y="2860243"/>
              <a:ext cx="332842" cy="3328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" name="Google Shape;253;p8"/>
            <p:cNvSpPr/>
            <p:nvPr/>
          </p:nvSpPr>
          <p:spPr>
            <a:xfrm>
              <a:off x="1124712" y="2651760"/>
              <a:ext cx="11887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1D1D1F"/>
                  </a:solidFill>
                  <a:latin typeface="Calibri"/>
                  <a:ea typeface="Calibri"/>
                  <a:cs typeface="Calibri"/>
                  <a:sym typeface="Calibri"/>
                </a:rPr>
                <a:t>APIs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8"/>
            <p:cNvSpPr/>
            <p:nvPr/>
          </p:nvSpPr>
          <p:spPr>
            <a:xfrm>
              <a:off x="1124712" y="3035808"/>
              <a:ext cx="1234440" cy="475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E6E73"/>
                </a:buClr>
                <a:buSzPts val="950"/>
                <a:buFont typeface="Calibri"/>
                <a:buNone/>
              </a:pPr>
              <a:r>
                <a:rPr b="0" i="0" lang="en-US" sz="950" u="none" cap="none" strike="noStrike">
                  <a:solidFill>
                    <a:srgbClr val="6E6E73"/>
                  </a:solidFill>
                  <a:latin typeface="Calibri"/>
                  <a:ea typeface="Calibri"/>
                  <a:cs typeface="Calibri"/>
                  <a:sym typeface="Calibri"/>
                </a:rPr>
                <a:t>Contracts, payloads, error responses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5" name="Google Shape;255;p8"/>
          <p:cNvGrpSpPr/>
          <p:nvPr/>
        </p:nvGrpSpPr>
        <p:grpSpPr>
          <a:xfrm>
            <a:off x="2606040" y="2523744"/>
            <a:ext cx="2011680" cy="1078992"/>
            <a:chOff x="2606040" y="2523744"/>
            <a:chExt cx="2011680" cy="1078992"/>
          </a:xfrm>
        </p:grpSpPr>
        <p:sp>
          <p:nvSpPr>
            <p:cNvPr id="256" name="Google Shape;256;p8"/>
            <p:cNvSpPr/>
            <p:nvPr/>
          </p:nvSpPr>
          <p:spPr>
            <a:xfrm>
              <a:off x="2606040" y="2523744"/>
              <a:ext cx="2011680" cy="1078992"/>
            </a:xfrm>
            <a:prstGeom prst="rect">
              <a:avLst/>
            </a:prstGeom>
            <a:solidFill>
              <a:srgbClr val="FFFFFF"/>
            </a:solidFill>
            <a:ln cap="flat" cmpd="sng" w="10150">
              <a:solidFill>
                <a:srgbClr val="D2D2D7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12700">
                <a:srgbClr val="000000">
                  <a:alpha val="7058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8"/>
            <p:cNvSpPr/>
            <p:nvPr/>
          </p:nvSpPr>
          <p:spPr>
            <a:xfrm>
              <a:off x="2606040" y="2523744"/>
              <a:ext cx="2011680" cy="54864"/>
            </a:xfrm>
            <a:prstGeom prst="rect">
              <a:avLst/>
            </a:prstGeom>
            <a:solidFill>
              <a:srgbClr val="0071E3"/>
            </a:solidFill>
            <a:ln cap="flat" cmpd="sng" w="12700">
              <a:solidFill>
                <a:srgbClr val="0071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8"/>
            <p:cNvSpPr/>
            <p:nvPr/>
          </p:nvSpPr>
          <p:spPr>
            <a:xfrm>
              <a:off x="2697480" y="2770632"/>
              <a:ext cx="512064" cy="512064"/>
            </a:xfrm>
            <a:prstGeom prst="ellipse">
              <a:avLst/>
            </a:prstGeom>
            <a:solidFill>
              <a:srgbClr val="EBF4FF"/>
            </a:solidFill>
            <a:ln cap="flat" cmpd="sng" w="12700">
              <a:solidFill>
                <a:srgbClr val="EBF4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259" name="Google Shape;259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787091" y="2860243"/>
              <a:ext cx="332842" cy="3328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0" name="Google Shape;260;p8"/>
            <p:cNvSpPr/>
            <p:nvPr/>
          </p:nvSpPr>
          <p:spPr>
            <a:xfrm>
              <a:off x="3319272" y="2651760"/>
              <a:ext cx="11887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1D1D1F"/>
                  </a:solidFill>
                  <a:latin typeface="Calibri"/>
                  <a:ea typeface="Calibri"/>
                  <a:cs typeface="Calibri"/>
                  <a:sym typeface="Calibri"/>
                </a:rPr>
                <a:t>Data / Database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8"/>
            <p:cNvSpPr/>
            <p:nvPr/>
          </p:nvSpPr>
          <p:spPr>
            <a:xfrm>
              <a:off x="3319272" y="3035808"/>
              <a:ext cx="1234440" cy="475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E6E73"/>
                </a:buClr>
                <a:buSzPts val="950"/>
                <a:buFont typeface="Calibri"/>
                <a:buNone/>
              </a:pPr>
              <a:r>
                <a:rPr b="0" i="0" lang="en-US" sz="950" u="none" cap="none" strike="noStrike">
                  <a:solidFill>
                    <a:srgbClr val="6E6E73"/>
                  </a:solidFill>
                  <a:latin typeface="Calibri"/>
                  <a:ea typeface="Calibri"/>
                  <a:cs typeface="Calibri"/>
                  <a:sym typeface="Calibri"/>
                </a:rPr>
                <a:t>Schema, integrity, query correctness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2" name="Google Shape;262;p8"/>
          <p:cNvGrpSpPr/>
          <p:nvPr/>
        </p:nvGrpSpPr>
        <p:grpSpPr>
          <a:xfrm>
            <a:off x="4800600" y="2523744"/>
            <a:ext cx="2011680" cy="1078992"/>
            <a:chOff x="4800600" y="2523744"/>
            <a:chExt cx="2011680" cy="1078992"/>
          </a:xfrm>
        </p:grpSpPr>
        <p:sp>
          <p:nvSpPr>
            <p:cNvPr id="263" name="Google Shape;263;p8"/>
            <p:cNvSpPr/>
            <p:nvPr/>
          </p:nvSpPr>
          <p:spPr>
            <a:xfrm>
              <a:off x="4800600" y="2523744"/>
              <a:ext cx="2011680" cy="1078992"/>
            </a:xfrm>
            <a:prstGeom prst="rect">
              <a:avLst/>
            </a:prstGeom>
            <a:solidFill>
              <a:srgbClr val="FFFFFF"/>
            </a:solidFill>
            <a:ln cap="flat" cmpd="sng" w="10150">
              <a:solidFill>
                <a:srgbClr val="D2D2D7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12700">
                <a:srgbClr val="000000">
                  <a:alpha val="7058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8"/>
            <p:cNvSpPr/>
            <p:nvPr/>
          </p:nvSpPr>
          <p:spPr>
            <a:xfrm>
              <a:off x="4800600" y="2523744"/>
              <a:ext cx="2011680" cy="54864"/>
            </a:xfrm>
            <a:prstGeom prst="rect">
              <a:avLst/>
            </a:prstGeom>
            <a:solidFill>
              <a:srgbClr val="E8820C"/>
            </a:solidFill>
            <a:ln cap="flat" cmpd="sng" w="12700">
              <a:solidFill>
                <a:srgbClr val="E882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8"/>
            <p:cNvSpPr/>
            <p:nvPr/>
          </p:nvSpPr>
          <p:spPr>
            <a:xfrm>
              <a:off x="4892040" y="2770632"/>
              <a:ext cx="512064" cy="512064"/>
            </a:xfrm>
            <a:prstGeom prst="ellipse">
              <a:avLst/>
            </a:prstGeom>
            <a:solidFill>
              <a:srgbClr val="FFF3E0"/>
            </a:solidFill>
            <a:ln cap="flat" cmpd="sng" w="12700">
              <a:solidFill>
                <a:srgbClr val="FFF3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266" name="Google Shape;266;p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981651" y="2860243"/>
              <a:ext cx="332842" cy="3328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8"/>
            <p:cNvSpPr/>
            <p:nvPr/>
          </p:nvSpPr>
          <p:spPr>
            <a:xfrm>
              <a:off x="5513832" y="2651760"/>
              <a:ext cx="11887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1D1D1F"/>
                  </a:solidFill>
                  <a:latin typeface="Calibri"/>
                  <a:ea typeface="Calibri"/>
                  <a:cs typeface="Calibri"/>
                  <a:sym typeface="Calibri"/>
                </a:rPr>
                <a:t>Documentation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8"/>
            <p:cNvSpPr/>
            <p:nvPr/>
          </p:nvSpPr>
          <p:spPr>
            <a:xfrm>
              <a:off x="5513832" y="3035808"/>
              <a:ext cx="1234440" cy="475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E6E73"/>
                </a:buClr>
                <a:buSzPts val="950"/>
                <a:buFont typeface="Calibri"/>
                <a:buNone/>
              </a:pPr>
              <a:r>
                <a:rPr b="0" i="0" lang="en-US" sz="950" u="none" cap="none" strike="noStrike">
                  <a:solidFill>
                    <a:srgbClr val="6E6E73"/>
                  </a:solidFill>
                  <a:latin typeface="Calibri"/>
                  <a:ea typeface="Calibri"/>
                  <a:cs typeface="Calibri"/>
                  <a:sym typeface="Calibri"/>
                </a:rPr>
                <a:t>User guides, API docs, error messages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9" name="Google Shape;269;p8"/>
          <p:cNvGrpSpPr/>
          <p:nvPr/>
        </p:nvGrpSpPr>
        <p:grpSpPr>
          <a:xfrm>
            <a:off x="6995160" y="2523744"/>
            <a:ext cx="2011680" cy="1078992"/>
            <a:chOff x="6995160" y="2523744"/>
            <a:chExt cx="2011680" cy="1078992"/>
          </a:xfrm>
        </p:grpSpPr>
        <p:sp>
          <p:nvSpPr>
            <p:cNvPr id="270" name="Google Shape;270;p8"/>
            <p:cNvSpPr/>
            <p:nvPr/>
          </p:nvSpPr>
          <p:spPr>
            <a:xfrm>
              <a:off x="6995160" y="2523744"/>
              <a:ext cx="2011680" cy="1078992"/>
            </a:xfrm>
            <a:prstGeom prst="rect">
              <a:avLst/>
            </a:prstGeom>
            <a:solidFill>
              <a:srgbClr val="FFFFFF"/>
            </a:solidFill>
            <a:ln cap="flat" cmpd="sng" w="10150">
              <a:solidFill>
                <a:srgbClr val="D2D2D7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12700">
                <a:srgbClr val="000000">
                  <a:alpha val="7058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8"/>
            <p:cNvSpPr/>
            <p:nvPr/>
          </p:nvSpPr>
          <p:spPr>
            <a:xfrm>
              <a:off x="6995160" y="2523744"/>
              <a:ext cx="2011680" cy="54864"/>
            </a:xfrm>
            <a:prstGeom prst="rect">
              <a:avLst/>
            </a:prstGeom>
            <a:solidFill>
              <a:srgbClr val="00999E"/>
            </a:solidFill>
            <a:ln cap="flat" cmpd="sng" w="12700">
              <a:solidFill>
                <a:srgbClr val="0099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8"/>
            <p:cNvSpPr/>
            <p:nvPr/>
          </p:nvSpPr>
          <p:spPr>
            <a:xfrm>
              <a:off x="7086600" y="2770632"/>
              <a:ext cx="512064" cy="512064"/>
            </a:xfrm>
            <a:prstGeom prst="ellipse">
              <a:avLst/>
            </a:prstGeom>
            <a:solidFill>
              <a:srgbClr val="E2F7F8"/>
            </a:solidFill>
            <a:ln cap="flat" cmpd="sng" w="12700">
              <a:solidFill>
                <a:srgbClr val="E2F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273" name="Google Shape;273;p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176211" y="2860243"/>
              <a:ext cx="332842" cy="3328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8"/>
            <p:cNvSpPr/>
            <p:nvPr/>
          </p:nvSpPr>
          <p:spPr>
            <a:xfrm>
              <a:off x="7708392" y="2651760"/>
              <a:ext cx="11887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1D1D1F"/>
                  </a:solidFill>
                  <a:latin typeface="Calibri"/>
                  <a:ea typeface="Calibri"/>
                  <a:cs typeface="Calibri"/>
                  <a:sym typeface="Calibri"/>
                </a:rPr>
                <a:t>Configuration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8"/>
            <p:cNvSpPr/>
            <p:nvPr/>
          </p:nvSpPr>
          <p:spPr>
            <a:xfrm>
              <a:off x="7708392" y="3035808"/>
              <a:ext cx="1234440" cy="475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E6E73"/>
                </a:buClr>
                <a:buSzPts val="950"/>
                <a:buFont typeface="Calibri"/>
                <a:buNone/>
              </a:pPr>
              <a:r>
                <a:rPr b="0" i="0" lang="en-US" sz="950" u="none" cap="none" strike="noStrike">
                  <a:solidFill>
                    <a:srgbClr val="6E6E73"/>
                  </a:solidFill>
                  <a:latin typeface="Calibri"/>
                  <a:ea typeface="Calibri"/>
                  <a:cs typeface="Calibri"/>
                  <a:sym typeface="Calibri"/>
                </a:rPr>
                <a:t>Env vars, feature flags, deployment setup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6" name="Google Shape;276;p8"/>
          <p:cNvGrpSpPr/>
          <p:nvPr/>
        </p:nvGrpSpPr>
        <p:grpSpPr>
          <a:xfrm>
            <a:off x="411480" y="3785616"/>
            <a:ext cx="2011680" cy="1078992"/>
            <a:chOff x="411480" y="3785616"/>
            <a:chExt cx="2011680" cy="1078992"/>
          </a:xfrm>
        </p:grpSpPr>
        <p:sp>
          <p:nvSpPr>
            <p:cNvPr id="277" name="Google Shape;277;p8"/>
            <p:cNvSpPr/>
            <p:nvPr/>
          </p:nvSpPr>
          <p:spPr>
            <a:xfrm>
              <a:off x="411480" y="3785616"/>
              <a:ext cx="2011680" cy="1078992"/>
            </a:xfrm>
            <a:prstGeom prst="rect">
              <a:avLst/>
            </a:prstGeom>
            <a:solidFill>
              <a:srgbClr val="FFFFFF"/>
            </a:solidFill>
            <a:ln cap="flat" cmpd="sng" w="10150">
              <a:solidFill>
                <a:srgbClr val="D2D2D7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12700">
                <a:srgbClr val="000000">
                  <a:alpha val="7058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8"/>
            <p:cNvSpPr/>
            <p:nvPr/>
          </p:nvSpPr>
          <p:spPr>
            <a:xfrm>
              <a:off x="411480" y="3785616"/>
              <a:ext cx="2011680" cy="54864"/>
            </a:xfrm>
            <a:prstGeom prst="rect">
              <a:avLst/>
            </a:prstGeom>
            <a:solidFill>
              <a:srgbClr val="28A745"/>
            </a:solidFill>
            <a:ln cap="flat" cmpd="sng" w="12700">
              <a:solidFill>
                <a:srgbClr val="28A7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8"/>
            <p:cNvSpPr/>
            <p:nvPr/>
          </p:nvSpPr>
          <p:spPr>
            <a:xfrm>
              <a:off x="502920" y="4032504"/>
              <a:ext cx="512064" cy="512064"/>
            </a:xfrm>
            <a:prstGeom prst="ellipse">
              <a:avLst/>
            </a:prstGeom>
            <a:solidFill>
              <a:srgbClr val="E8F8EE"/>
            </a:solidFill>
            <a:ln cap="flat" cmpd="sng" w="12700">
              <a:solidFill>
                <a:srgbClr val="E8F8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280" name="Google Shape;280;p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92531" y="4122115"/>
              <a:ext cx="332842" cy="3328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8"/>
            <p:cNvSpPr/>
            <p:nvPr/>
          </p:nvSpPr>
          <p:spPr>
            <a:xfrm>
              <a:off x="1124712" y="3913632"/>
              <a:ext cx="11887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1D1D1F"/>
                  </a:solidFill>
                  <a:latin typeface="Calibri"/>
                  <a:ea typeface="Calibri"/>
                  <a:cs typeface="Calibri"/>
                  <a:sym typeface="Calibri"/>
                </a:rPr>
                <a:t>Accessibility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8"/>
            <p:cNvSpPr/>
            <p:nvPr/>
          </p:nvSpPr>
          <p:spPr>
            <a:xfrm>
              <a:off x="1124712" y="4297680"/>
              <a:ext cx="1234440" cy="475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E6E73"/>
                </a:buClr>
                <a:buSzPts val="950"/>
                <a:buFont typeface="Calibri"/>
                <a:buNone/>
              </a:pPr>
              <a:r>
                <a:rPr b="0" i="0" lang="en-US" sz="950" u="none" cap="none" strike="noStrike">
                  <a:solidFill>
                    <a:srgbClr val="6E6E73"/>
                  </a:solidFill>
                  <a:latin typeface="Calibri"/>
                  <a:ea typeface="Calibri"/>
                  <a:cs typeface="Calibri"/>
                  <a:sym typeface="Calibri"/>
                </a:rPr>
                <a:t>WCAG compliance, keyboard navigation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3" name="Google Shape;283;p8"/>
          <p:cNvGrpSpPr/>
          <p:nvPr/>
        </p:nvGrpSpPr>
        <p:grpSpPr>
          <a:xfrm>
            <a:off x="2606040" y="3785616"/>
            <a:ext cx="2011680" cy="1078992"/>
            <a:chOff x="2606040" y="3785616"/>
            <a:chExt cx="2011680" cy="1078992"/>
          </a:xfrm>
        </p:grpSpPr>
        <p:sp>
          <p:nvSpPr>
            <p:cNvPr id="284" name="Google Shape;284;p8"/>
            <p:cNvSpPr/>
            <p:nvPr/>
          </p:nvSpPr>
          <p:spPr>
            <a:xfrm>
              <a:off x="2606040" y="3785616"/>
              <a:ext cx="2011680" cy="1078992"/>
            </a:xfrm>
            <a:prstGeom prst="rect">
              <a:avLst/>
            </a:prstGeom>
            <a:solidFill>
              <a:srgbClr val="FFFFFF"/>
            </a:solidFill>
            <a:ln cap="flat" cmpd="sng" w="10150">
              <a:solidFill>
                <a:srgbClr val="D2D2D7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12700">
                <a:srgbClr val="000000">
                  <a:alpha val="7058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8"/>
            <p:cNvSpPr/>
            <p:nvPr/>
          </p:nvSpPr>
          <p:spPr>
            <a:xfrm>
              <a:off x="2606040" y="3785616"/>
              <a:ext cx="2011680" cy="54864"/>
            </a:xfrm>
            <a:prstGeom prst="rect">
              <a:avLst/>
            </a:prstGeom>
            <a:solidFill>
              <a:srgbClr val="D70015"/>
            </a:solidFill>
            <a:ln cap="flat" cmpd="sng" w="12700">
              <a:solidFill>
                <a:srgbClr val="D700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8"/>
            <p:cNvSpPr/>
            <p:nvPr/>
          </p:nvSpPr>
          <p:spPr>
            <a:xfrm>
              <a:off x="2697480" y="4032504"/>
              <a:ext cx="512064" cy="512064"/>
            </a:xfrm>
            <a:prstGeom prst="ellipse">
              <a:avLst/>
            </a:prstGeom>
            <a:solidFill>
              <a:srgbClr val="FFEBEE"/>
            </a:solidFill>
            <a:ln cap="flat" cmpd="sng" w="12700">
              <a:solidFill>
                <a:srgbClr val="FFEB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287" name="Google Shape;287;p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787091" y="4122115"/>
              <a:ext cx="332842" cy="3328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" name="Google Shape;288;p8"/>
            <p:cNvSpPr/>
            <p:nvPr/>
          </p:nvSpPr>
          <p:spPr>
            <a:xfrm>
              <a:off x="3319272" y="3913632"/>
              <a:ext cx="11887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1D1D1F"/>
                  </a:solidFill>
                  <a:latin typeface="Calibri"/>
                  <a:ea typeface="Calibri"/>
                  <a:cs typeface="Calibri"/>
                  <a:sym typeface="Calibri"/>
                </a:rPr>
                <a:t>Security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8"/>
            <p:cNvSpPr/>
            <p:nvPr/>
          </p:nvSpPr>
          <p:spPr>
            <a:xfrm>
              <a:off x="3319272" y="4297680"/>
              <a:ext cx="1234440" cy="475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E6E73"/>
                </a:buClr>
                <a:buSzPts val="950"/>
                <a:buFont typeface="Calibri"/>
                <a:buNone/>
              </a:pPr>
              <a:r>
                <a:rPr b="0" i="0" lang="en-US" sz="950" u="none" cap="none" strike="noStrike">
                  <a:solidFill>
                    <a:srgbClr val="6E6E73"/>
                  </a:solidFill>
                  <a:latin typeface="Calibri"/>
                  <a:ea typeface="Calibri"/>
                  <a:cs typeface="Calibri"/>
                  <a:sym typeface="Calibri"/>
                </a:rPr>
                <a:t>Auth, input validation, OWASP checks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0" name="Google Shape;290;p8"/>
          <p:cNvGrpSpPr/>
          <p:nvPr/>
        </p:nvGrpSpPr>
        <p:grpSpPr>
          <a:xfrm>
            <a:off x="4800600" y="3785616"/>
            <a:ext cx="2011680" cy="1078992"/>
            <a:chOff x="4800600" y="3785616"/>
            <a:chExt cx="2011680" cy="1078992"/>
          </a:xfrm>
        </p:grpSpPr>
        <p:sp>
          <p:nvSpPr>
            <p:cNvPr id="291" name="Google Shape;291;p8"/>
            <p:cNvSpPr/>
            <p:nvPr/>
          </p:nvSpPr>
          <p:spPr>
            <a:xfrm>
              <a:off x="4800600" y="3785616"/>
              <a:ext cx="2011680" cy="1078992"/>
            </a:xfrm>
            <a:prstGeom prst="rect">
              <a:avLst/>
            </a:prstGeom>
            <a:solidFill>
              <a:srgbClr val="FFFFFF"/>
            </a:solidFill>
            <a:ln cap="flat" cmpd="sng" w="10150">
              <a:solidFill>
                <a:srgbClr val="D2D2D7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12700">
                <a:srgbClr val="000000">
                  <a:alpha val="7058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8"/>
            <p:cNvSpPr/>
            <p:nvPr/>
          </p:nvSpPr>
          <p:spPr>
            <a:xfrm>
              <a:off x="4800600" y="3785616"/>
              <a:ext cx="2011680" cy="54864"/>
            </a:xfrm>
            <a:prstGeom prst="rect">
              <a:avLst/>
            </a:prstGeom>
            <a:solidFill>
              <a:srgbClr val="E8820C"/>
            </a:solidFill>
            <a:ln cap="flat" cmpd="sng" w="12700">
              <a:solidFill>
                <a:srgbClr val="E882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8"/>
            <p:cNvSpPr/>
            <p:nvPr/>
          </p:nvSpPr>
          <p:spPr>
            <a:xfrm>
              <a:off x="4892040" y="4032504"/>
              <a:ext cx="512064" cy="512064"/>
            </a:xfrm>
            <a:prstGeom prst="ellipse">
              <a:avLst/>
            </a:prstGeom>
            <a:solidFill>
              <a:srgbClr val="FFF3E0"/>
            </a:solidFill>
            <a:ln cap="flat" cmpd="sng" w="12700">
              <a:solidFill>
                <a:srgbClr val="FFF3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294" name="Google Shape;294;p8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981651" y="4122115"/>
              <a:ext cx="332842" cy="3328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5" name="Google Shape;295;p8"/>
            <p:cNvSpPr/>
            <p:nvPr/>
          </p:nvSpPr>
          <p:spPr>
            <a:xfrm>
              <a:off x="5513832" y="3913632"/>
              <a:ext cx="11887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1D1D1F"/>
                  </a:solidFill>
                  <a:latin typeface="Calibri"/>
                  <a:ea typeface="Calibri"/>
                  <a:cs typeface="Calibri"/>
                  <a:sym typeface="Calibri"/>
                </a:rPr>
                <a:t>Performance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8"/>
            <p:cNvSpPr/>
            <p:nvPr/>
          </p:nvSpPr>
          <p:spPr>
            <a:xfrm>
              <a:off x="5513832" y="4297680"/>
              <a:ext cx="1234440" cy="475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E6E73"/>
                </a:buClr>
                <a:buSzPts val="950"/>
                <a:buFont typeface="Calibri"/>
                <a:buNone/>
              </a:pPr>
              <a:r>
                <a:rPr b="0" i="0" lang="en-US" sz="950" u="none" cap="none" strike="noStrike">
                  <a:solidFill>
                    <a:srgbClr val="6E6E73"/>
                  </a:solidFill>
                  <a:latin typeface="Calibri"/>
                  <a:ea typeface="Calibri"/>
                  <a:cs typeface="Calibri"/>
                  <a:sym typeface="Calibri"/>
                </a:rPr>
                <a:t>Load, stress, response time under scale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7" name="Google Shape;297;p8"/>
          <p:cNvGrpSpPr/>
          <p:nvPr/>
        </p:nvGrpSpPr>
        <p:grpSpPr>
          <a:xfrm>
            <a:off x="6995160" y="3785616"/>
            <a:ext cx="2011680" cy="1078992"/>
            <a:chOff x="6995160" y="3785616"/>
            <a:chExt cx="2011680" cy="1078992"/>
          </a:xfrm>
        </p:grpSpPr>
        <p:sp>
          <p:nvSpPr>
            <p:cNvPr id="298" name="Google Shape;298;p8"/>
            <p:cNvSpPr/>
            <p:nvPr/>
          </p:nvSpPr>
          <p:spPr>
            <a:xfrm>
              <a:off x="6995160" y="3785616"/>
              <a:ext cx="2011680" cy="1078992"/>
            </a:xfrm>
            <a:prstGeom prst="rect">
              <a:avLst/>
            </a:prstGeom>
            <a:solidFill>
              <a:srgbClr val="FFFFFF"/>
            </a:solidFill>
            <a:ln cap="flat" cmpd="sng" w="10150">
              <a:solidFill>
                <a:srgbClr val="D2D2D7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12700">
                <a:srgbClr val="000000">
                  <a:alpha val="7058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8"/>
            <p:cNvSpPr/>
            <p:nvPr/>
          </p:nvSpPr>
          <p:spPr>
            <a:xfrm>
              <a:off x="6995160" y="3785616"/>
              <a:ext cx="2011680" cy="54864"/>
            </a:xfrm>
            <a:prstGeom prst="rect">
              <a:avLst/>
            </a:prstGeom>
            <a:solidFill>
              <a:srgbClr val="9B59B6"/>
            </a:solidFill>
            <a:ln cap="flat" cmpd="sng" w="12700">
              <a:solidFill>
                <a:srgbClr val="9B59B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8"/>
            <p:cNvSpPr/>
            <p:nvPr/>
          </p:nvSpPr>
          <p:spPr>
            <a:xfrm>
              <a:off x="7086600" y="4032504"/>
              <a:ext cx="512064" cy="512064"/>
            </a:xfrm>
            <a:prstGeom prst="ellipse">
              <a:avLst/>
            </a:prstGeom>
            <a:solidFill>
              <a:srgbClr val="F5EEFF"/>
            </a:solidFill>
            <a:ln cap="flat" cmpd="sng" w="12700">
              <a:solidFill>
                <a:srgbClr val="F5EE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301" name="Google Shape;301;p8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176211" y="4122115"/>
              <a:ext cx="332842" cy="3328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2" name="Google Shape;302;p8"/>
            <p:cNvSpPr/>
            <p:nvPr/>
          </p:nvSpPr>
          <p:spPr>
            <a:xfrm>
              <a:off x="7708392" y="3913632"/>
              <a:ext cx="11887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1D1D1F"/>
                  </a:solidFill>
                  <a:latin typeface="Calibri"/>
                  <a:ea typeface="Calibri"/>
                  <a:cs typeface="Calibri"/>
                  <a:sym typeface="Calibri"/>
                </a:rPr>
                <a:t>Deployment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8"/>
            <p:cNvSpPr/>
            <p:nvPr/>
          </p:nvSpPr>
          <p:spPr>
            <a:xfrm>
              <a:off x="7708392" y="4297680"/>
              <a:ext cx="1234440" cy="475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E6E73"/>
                </a:buClr>
                <a:buSzPts val="950"/>
                <a:buFont typeface="Calibri"/>
                <a:buNone/>
              </a:pPr>
              <a:r>
                <a:rPr b="0" i="0" lang="en-US" sz="950" u="none" cap="none" strike="noStrike">
                  <a:solidFill>
                    <a:srgbClr val="6E6E73"/>
                  </a:solidFill>
                  <a:latin typeface="Calibri"/>
                  <a:ea typeface="Calibri"/>
                  <a:cs typeface="Calibri"/>
                  <a:sym typeface="Calibri"/>
                </a:rPr>
                <a:t>Smoke tests, config verify, rollback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1D1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/>
          <p:nvPr/>
        </p:nvSpPr>
        <p:spPr>
          <a:xfrm>
            <a:off x="5943600" y="274320"/>
            <a:ext cx="29260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C2C2E"/>
              </a:buClr>
              <a:buSzPts val="18000"/>
              <a:buFont typeface="Calibri"/>
              <a:buNone/>
            </a:pPr>
            <a:r>
              <a:rPr b="1" i="0" lang="en-US" sz="18000" u="none" cap="none" strike="noStrike">
                <a:solidFill>
                  <a:srgbClr val="2C2C2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999E"/>
          </a:solidFill>
          <a:ln cap="flat" cmpd="sng" w="12700">
            <a:solidFill>
              <a:srgbClr val="0099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548640" y="384048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99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999E"/>
                </a:solidFill>
                <a:latin typeface="Calibri"/>
                <a:ea typeface="Calibri"/>
                <a:cs typeface="Calibri"/>
                <a:sym typeface="Calibri"/>
              </a:rPr>
              <a:t>02  /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548640" y="749808"/>
            <a:ext cx="7498080" cy="18288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1980000" dist="28575">
              <a:schemeClr val="lt1">
                <a:alpha val="73000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QA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Lifecycle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548640" y="2670048"/>
            <a:ext cx="4572000" cy="22860"/>
          </a:xfrm>
          <a:prstGeom prst="rect">
            <a:avLst/>
          </a:prstGeom>
          <a:solidFill>
            <a:srgbClr val="00999E"/>
          </a:solidFill>
          <a:ln cap="flat" cmpd="sng" w="12700">
            <a:solidFill>
              <a:srgbClr val="0099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9"/>
          <p:cNvSpPr/>
          <p:nvPr/>
        </p:nvSpPr>
        <p:spPr>
          <a:xfrm>
            <a:off x="548640" y="2788920"/>
            <a:ext cx="7498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AEB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EAEB2"/>
                </a:solidFill>
                <a:latin typeface="Calibri"/>
                <a:ea typeface="Calibri"/>
                <a:cs typeface="Calibri"/>
                <a:sym typeface="Calibri"/>
              </a:rPr>
              <a:t>Quality exists in every phase — not just at the 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The QA Lifecycle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8 phases where a QA engineer adds value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457200" y="1078992"/>
            <a:ext cx="8229600" cy="182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0"/>
          <p:cNvSpPr/>
          <p:nvPr/>
        </p:nvSpPr>
        <p:spPr>
          <a:xfrm>
            <a:off x="256032" y="1371600"/>
            <a:ext cx="9509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256032" y="1920240"/>
            <a:ext cx="95097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256032" y="1325880"/>
            <a:ext cx="950976" cy="315468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201168" y="4305741"/>
            <a:ext cx="1060800" cy="640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1344168" y="1325880"/>
            <a:ext cx="950976" cy="502920"/>
          </a:xfrm>
          <a:prstGeom prst="rect">
            <a:avLst/>
          </a:prstGeom>
          <a:solidFill>
            <a:srgbClr val="00999E"/>
          </a:solidFill>
          <a:ln cap="flat" cmpd="sng" w="12700">
            <a:solidFill>
              <a:srgbClr val="0099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0"/>
          <p:cNvSpPr/>
          <p:nvPr/>
        </p:nvSpPr>
        <p:spPr>
          <a:xfrm>
            <a:off x="1344168" y="1371600"/>
            <a:ext cx="9509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1344168" y="1920240"/>
            <a:ext cx="95097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99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0999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1344168" y="1325880"/>
            <a:ext cx="950976" cy="3154680"/>
          </a:xfrm>
          <a:prstGeom prst="rect">
            <a:avLst/>
          </a:prstGeom>
          <a:solidFill>
            <a:srgbClr val="00999E"/>
          </a:solidFill>
          <a:ln cap="flat" cmpd="sng" w="12700">
            <a:solidFill>
              <a:srgbClr val="00999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1289304" y="4305741"/>
            <a:ext cx="1060800" cy="640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Planning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2432304" y="1325880"/>
            <a:ext cx="950976" cy="3154680"/>
          </a:xfrm>
          <a:prstGeom prst="rect">
            <a:avLst/>
          </a:prstGeom>
          <a:solidFill>
            <a:srgbClr val="9B59B6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0"/>
          <p:cNvSpPr/>
          <p:nvPr/>
        </p:nvSpPr>
        <p:spPr>
          <a:xfrm>
            <a:off x="2432304" y="1325880"/>
            <a:ext cx="950976" cy="502920"/>
          </a:xfrm>
          <a:prstGeom prst="rect">
            <a:avLst/>
          </a:prstGeom>
          <a:solidFill>
            <a:srgbClr val="9B59B6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0"/>
          <p:cNvSpPr/>
          <p:nvPr/>
        </p:nvSpPr>
        <p:spPr>
          <a:xfrm>
            <a:off x="2432304" y="1371600"/>
            <a:ext cx="9509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2432304" y="1920240"/>
            <a:ext cx="95097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9B59B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2377440" y="4305741"/>
            <a:ext cx="1060800" cy="640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3520440" y="1325880"/>
            <a:ext cx="950976" cy="3154680"/>
          </a:xfrm>
          <a:prstGeom prst="rect">
            <a:avLst/>
          </a:prstGeom>
          <a:solidFill>
            <a:srgbClr val="3451B2"/>
          </a:solidFill>
          <a:ln cap="flat" cmpd="sng" w="12700">
            <a:solidFill>
              <a:srgbClr val="3451B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0"/>
          <p:cNvSpPr/>
          <p:nvPr/>
        </p:nvSpPr>
        <p:spPr>
          <a:xfrm>
            <a:off x="3520440" y="1325880"/>
            <a:ext cx="950976" cy="502920"/>
          </a:xfrm>
          <a:prstGeom prst="rect">
            <a:avLst/>
          </a:prstGeom>
          <a:solidFill>
            <a:srgbClr val="3451B2"/>
          </a:solidFill>
          <a:ln cap="flat" cmpd="sng" w="12700">
            <a:solidFill>
              <a:srgbClr val="345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0"/>
          <p:cNvSpPr/>
          <p:nvPr/>
        </p:nvSpPr>
        <p:spPr>
          <a:xfrm>
            <a:off x="3520440" y="1371600"/>
            <a:ext cx="9509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3520440" y="1920240"/>
            <a:ext cx="95097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51B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3451B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3465576" y="4305741"/>
            <a:ext cx="1060800" cy="640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Shift-Left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Dev Phase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4608576" y="1325880"/>
            <a:ext cx="950976" cy="3154680"/>
          </a:xfrm>
          <a:prstGeom prst="rect">
            <a:avLst/>
          </a:prstGeom>
          <a:solidFill>
            <a:srgbClr val="28A745"/>
          </a:solidFill>
          <a:ln cap="flat" cmpd="sng" w="127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4608576" y="1325880"/>
            <a:ext cx="950976" cy="502920"/>
          </a:xfrm>
          <a:prstGeom prst="rect">
            <a:avLst/>
          </a:prstGeom>
          <a:solidFill>
            <a:srgbClr val="28A745"/>
          </a:solidFill>
          <a:ln cap="flat" cmpd="sng" w="127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0"/>
          <p:cNvSpPr/>
          <p:nvPr/>
        </p:nvSpPr>
        <p:spPr>
          <a:xfrm>
            <a:off x="4608576" y="1371600"/>
            <a:ext cx="9509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4608576" y="1920240"/>
            <a:ext cx="95097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4553712" y="4305741"/>
            <a:ext cx="1060800" cy="640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Functional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5696712" y="1325880"/>
            <a:ext cx="950976" cy="3154680"/>
          </a:xfrm>
          <a:prstGeom prst="rect">
            <a:avLst/>
          </a:prstGeom>
          <a:solidFill>
            <a:srgbClr val="E8820C"/>
          </a:solidFill>
          <a:ln cap="flat" cmpd="sng" w="1270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0"/>
          <p:cNvSpPr/>
          <p:nvPr/>
        </p:nvSpPr>
        <p:spPr>
          <a:xfrm>
            <a:off x="5696712" y="1325880"/>
            <a:ext cx="950976" cy="502920"/>
          </a:xfrm>
          <a:prstGeom prst="rect">
            <a:avLst/>
          </a:prstGeom>
          <a:solidFill>
            <a:srgbClr val="E8820C"/>
          </a:solidFill>
          <a:ln cap="flat" cmpd="sng" w="1270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"/>
          <p:cNvSpPr/>
          <p:nvPr/>
        </p:nvSpPr>
        <p:spPr>
          <a:xfrm>
            <a:off x="5696712" y="1371600"/>
            <a:ext cx="9509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NFT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5696712" y="1920240"/>
            <a:ext cx="95097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5641848" y="4305741"/>
            <a:ext cx="1060800" cy="640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Non-Functional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6784848" y="1325880"/>
            <a:ext cx="950976" cy="3154680"/>
          </a:xfrm>
          <a:prstGeom prst="rect">
            <a:avLst/>
          </a:prstGeom>
          <a:solidFill>
            <a:srgbClr val="00999E"/>
          </a:solidFill>
          <a:ln cap="flat" cmpd="sng" w="12700">
            <a:solidFill>
              <a:srgbClr val="00999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0"/>
          <p:cNvSpPr/>
          <p:nvPr/>
        </p:nvSpPr>
        <p:spPr>
          <a:xfrm>
            <a:off x="6784848" y="1325880"/>
            <a:ext cx="950976" cy="502920"/>
          </a:xfrm>
          <a:prstGeom prst="rect">
            <a:avLst/>
          </a:prstGeom>
          <a:solidFill>
            <a:srgbClr val="00999E"/>
          </a:solidFill>
          <a:ln cap="flat" cmpd="sng" w="12700">
            <a:solidFill>
              <a:srgbClr val="0099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0"/>
          <p:cNvSpPr/>
          <p:nvPr/>
        </p:nvSpPr>
        <p:spPr>
          <a:xfrm>
            <a:off x="6784848" y="1371600"/>
            <a:ext cx="9509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6784848" y="1920240"/>
            <a:ext cx="95097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99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0999E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6729984" y="4305741"/>
            <a:ext cx="1060800" cy="640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7872984" y="1325880"/>
            <a:ext cx="950976" cy="3154680"/>
          </a:xfrm>
          <a:prstGeom prst="rect">
            <a:avLst/>
          </a:prstGeom>
          <a:solidFill>
            <a:srgbClr val="D70015"/>
          </a:solidFill>
          <a:ln cap="flat" cmpd="sng" w="12700">
            <a:solidFill>
              <a:srgbClr val="D7001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0"/>
          <p:cNvSpPr/>
          <p:nvPr/>
        </p:nvSpPr>
        <p:spPr>
          <a:xfrm>
            <a:off x="7872984" y="1325880"/>
            <a:ext cx="950976" cy="502920"/>
          </a:xfrm>
          <a:prstGeom prst="rect">
            <a:avLst/>
          </a:prstGeom>
          <a:solidFill>
            <a:srgbClr val="D70015"/>
          </a:solidFill>
          <a:ln cap="flat" cmpd="sng" w="12700">
            <a:solidFill>
              <a:srgbClr val="D700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0"/>
          <p:cNvSpPr/>
          <p:nvPr/>
        </p:nvSpPr>
        <p:spPr>
          <a:xfrm>
            <a:off x="7872984" y="1371600"/>
            <a:ext cx="9509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7872984" y="1920240"/>
            <a:ext cx="95097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0015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D70015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7818120" y="4305741"/>
            <a:ext cx="1060800" cy="640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Deploy &amp;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Docs Verify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256032" y="4206240"/>
            <a:ext cx="8631936" cy="182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QA begins at requirements and ends after deployment. Every phase is your responsibility.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Phase 1 — Requirements Analysis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The most valuable bug you will ever find is in the requirements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457200" y="1078992"/>
            <a:ext cx="8229600" cy="182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1"/>
          <p:cNvSpPr/>
          <p:nvPr/>
        </p:nvSpPr>
        <p:spPr>
          <a:xfrm>
            <a:off x="457200" y="1261872"/>
            <a:ext cx="4663440" cy="35661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1"/>
          <p:cNvSpPr/>
          <p:nvPr/>
        </p:nvSpPr>
        <p:spPr>
          <a:xfrm>
            <a:off x="548640" y="1463040"/>
            <a:ext cx="694944" cy="694944"/>
          </a:xfrm>
          <a:prstGeom prst="ellipse">
            <a:avLst/>
          </a:prstGeom>
          <a:solidFill>
            <a:srgbClr val="EBF4FF"/>
          </a:solidFill>
          <a:ln cap="flat" cmpd="sng" w="12700">
            <a:solidFill>
              <a:srgbClr val="EB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4" name="Google Shape;37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255" y="1584655"/>
            <a:ext cx="451714" cy="451714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1"/>
          <p:cNvSpPr/>
          <p:nvPr/>
        </p:nvSpPr>
        <p:spPr>
          <a:xfrm>
            <a:off x="658368" y="2267712"/>
            <a:ext cx="4206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What a QA does here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658368" y="2761488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Review every requirement for ambiguity &amp; completeness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658368" y="3163824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Identify missing edge cases and implicit assumptions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658368" y="3566160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Clarify acceptance criteria before code is written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658368" y="3968496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Flag conflicts between requirements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658368" y="4370832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Define traceability from requirement to test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/>
          <p:nvPr/>
        </p:nvSpPr>
        <p:spPr>
          <a:xfrm>
            <a:off x="5303520" y="1261872"/>
            <a:ext cx="3383280" cy="3566160"/>
          </a:xfrm>
          <a:prstGeom prst="rect">
            <a:avLst/>
          </a:prstGeom>
          <a:solidFill>
            <a:srgbClr val="EBF4FF"/>
          </a:solidFill>
          <a:ln cap="flat" cmpd="sng" w="1015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1"/>
          <p:cNvSpPr/>
          <p:nvPr/>
        </p:nvSpPr>
        <p:spPr>
          <a:xfrm>
            <a:off x="5486400" y="137160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Ask at every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4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requirement 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5486400" y="221284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1.  What does success look like?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/>
          <p:nvPr/>
        </p:nvSpPr>
        <p:spPr>
          <a:xfrm>
            <a:off x="5486400" y="2688336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2.  What happens when it fails?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5486400" y="3163824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3.  Who are all the users affected?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5486400" y="3639312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4.  What data is involved?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5486400" y="411480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5.  What are the boundaries / limits?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2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Requirements in Practice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One sentence. A hundred questions.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457200" y="1078992"/>
            <a:ext cx="8229600" cy="182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2"/>
          <p:cNvSpPr/>
          <p:nvPr/>
        </p:nvSpPr>
        <p:spPr>
          <a:xfrm>
            <a:off x="457200" y="1261872"/>
            <a:ext cx="8229600" cy="749808"/>
          </a:xfrm>
          <a:prstGeom prst="rect">
            <a:avLst/>
          </a:prstGeom>
          <a:solidFill>
            <a:srgbClr val="EEF1FF"/>
          </a:solidFill>
          <a:ln cap="flat" cmpd="sng" w="10150">
            <a:solidFill>
              <a:srgbClr val="3451B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7" name="Google Shape;39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" y="13533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12"/>
          <p:cNvSpPr/>
          <p:nvPr/>
        </p:nvSpPr>
        <p:spPr>
          <a:xfrm>
            <a:off x="1170432" y="1353312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51B2"/>
              </a:buClr>
              <a:buSzPts val="1600"/>
              <a:buFont typeface="Calibri"/>
              <a:buNone/>
            </a:pPr>
            <a:r>
              <a:rPr b="1" i="1" lang="en-US" sz="1600" u="none" cap="none" strike="noStrike">
                <a:solidFill>
                  <a:srgbClr val="3451B2"/>
                </a:solidFill>
                <a:latin typeface="Calibri"/>
                <a:ea typeface="Calibri"/>
                <a:cs typeface="Calibri"/>
                <a:sym typeface="Calibri"/>
              </a:rPr>
              <a:t>"The system shall allow vendors to upload invoices."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457200" y="2176272"/>
            <a:ext cx="3931920" cy="7772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2"/>
          <p:cNvSpPr/>
          <p:nvPr/>
        </p:nvSpPr>
        <p:spPr>
          <a:xfrm>
            <a:off x="457200" y="2176272"/>
            <a:ext cx="54864" cy="777240"/>
          </a:xfrm>
          <a:prstGeom prst="rect">
            <a:avLst/>
          </a:prstGeom>
          <a:solidFill>
            <a:srgbClr val="E8820C"/>
          </a:solidFill>
          <a:ln cap="flat" cmpd="sng" w="1270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2"/>
          <p:cNvSpPr/>
          <p:nvPr/>
        </p:nvSpPr>
        <p:spPr>
          <a:xfrm>
            <a:off x="640080" y="2249424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What file formats are accepted?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640080" y="259689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PDF only? Excel? Images? ZIP?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457200" y="3090672"/>
            <a:ext cx="3931920" cy="7772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2"/>
          <p:cNvSpPr/>
          <p:nvPr/>
        </p:nvSpPr>
        <p:spPr>
          <a:xfrm>
            <a:off x="457200" y="3090672"/>
            <a:ext cx="54864" cy="777240"/>
          </a:xfrm>
          <a:prstGeom prst="rect">
            <a:avLst/>
          </a:prstGeom>
          <a:solidFill>
            <a:srgbClr val="E8820C"/>
          </a:solidFill>
          <a:ln cap="flat" cmpd="sng" w="1270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2"/>
          <p:cNvSpPr/>
          <p:nvPr/>
        </p:nvSpPr>
        <p:spPr>
          <a:xfrm>
            <a:off x="640080" y="3163824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What is the max file size?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640080" y="351129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1 MB? 10 MB? Unlimited?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457200" y="4005072"/>
            <a:ext cx="3931920" cy="7772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2"/>
          <p:cNvSpPr/>
          <p:nvPr/>
        </p:nvSpPr>
        <p:spPr>
          <a:xfrm>
            <a:off x="457200" y="4005072"/>
            <a:ext cx="54864" cy="777240"/>
          </a:xfrm>
          <a:prstGeom prst="rect">
            <a:avLst/>
          </a:prstGeom>
          <a:solidFill>
            <a:srgbClr val="E8820C"/>
          </a:solidFill>
          <a:ln cap="flat" cmpd="sng" w="1270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2"/>
          <p:cNvSpPr/>
          <p:nvPr/>
        </p:nvSpPr>
        <p:spPr>
          <a:xfrm>
            <a:off x="640080" y="4078224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Who is allowed to upload?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640080" y="442569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Any vendor? Only approved ones?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4617720" y="2176272"/>
            <a:ext cx="3931920" cy="7772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2"/>
          <p:cNvSpPr/>
          <p:nvPr/>
        </p:nvSpPr>
        <p:spPr>
          <a:xfrm>
            <a:off x="4617720" y="2176272"/>
            <a:ext cx="54864" cy="777240"/>
          </a:xfrm>
          <a:prstGeom prst="rect">
            <a:avLst/>
          </a:prstGeom>
          <a:solidFill>
            <a:srgbClr val="E8820C"/>
          </a:solidFill>
          <a:ln cap="flat" cmpd="sng" w="1270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2"/>
          <p:cNvSpPr/>
          <p:nvPr/>
        </p:nvSpPr>
        <p:spPr>
          <a:xfrm>
            <a:off x="4800600" y="2249424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Can they upload multiple files?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4800600" y="259689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Per submission? Per day?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/>
          <p:nvPr/>
        </p:nvSpPr>
        <p:spPr>
          <a:xfrm>
            <a:off x="4617720" y="3090672"/>
            <a:ext cx="3931920" cy="7772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2"/>
          <p:cNvSpPr/>
          <p:nvPr/>
        </p:nvSpPr>
        <p:spPr>
          <a:xfrm>
            <a:off x="4617720" y="3090672"/>
            <a:ext cx="54864" cy="777240"/>
          </a:xfrm>
          <a:prstGeom prst="rect">
            <a:avLst/>
          </a:prstGeom>
          <a:solidFill>
            <a:srgbClr val="E8820C"/>
          </a:solidFill>
          <a:ln cap="flat" cmpd="sng" w="1270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2"/>
          <p:cNvSpPr/>
          <p:nvPr/>
        </p:nvSpPr>
        <p:spPr>
          <a:xfrm>
            <a:off x="4800600" y="3163824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What happens after upload?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4800600" y="351129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Approval flow? Notification? Nothing?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4617720" y="4005072"/>
            <a:ext cx="3931920" cy="7772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2"/>
          <p:cNvSpPr/>
          <p:nvPr/>
        </p:nvSpPr>
        <p:spPr>
          <a:xfrm>
            <a:off x="4617720" y="4005072"/>
            <a:ext cx="54864" cy="777240"/>
          </a:xfrm>
          <a:prstGeom prst="rect">
            <a:avLst/>
          </a:prstGeom>
          <a:solidFill>
            <a:srgbClr val="E8820C"/>
          </a:solidFill>
          <a:ln cap="flat" cmpd="sng" w="1270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2"/>
          <p:cNvSpPr/>
          <p:nvPr/>
        </p:nvSpPr>
        <p:spPr>
          <a:xfrm>
            <a:off x="4800600" y="4078224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Can they edit after upload?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4800600" y="442569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Before approval? After rejection?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3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Phase 2 — Test Planning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A plan without risk analysis is just a wish list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3"/>
          <p:cNvSpPr/>
          <p:nvPr/>
        </p:nvSpPr>
        <p:spPr>
          <a:xfrm>
            <a:off x="457200" y="1078992"/>
            <a:ext cx="8229600" cy="182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3"/>
          <p:cNvSpPr/>
          <p:nvPr/>
        </p:nvSpPr>
        <p:spPr>
          <a:xfrm>
            <a:off x="457200" y="1261872"/>
            <a:ext cx="4114800" cy="15727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3"/>
          <p:cNvSpPr/>
          <p:nvPr/>
        </p:nvSpPr>
        <p:spPr>
          <a:xfrm>
            <a:off x="667512" y="1472184"/>
            <a:ext cx="640080" cy="640080"/>
          </a:xfrm>
          <a:prstGeom prst="ellipse">
            <a:avLst/>
          </a:prstGeom>
          <a:solidFill>
            <a:srgbClr val="EBF4FF"/>
          </a:solidFill>
          <a:ln cap="flat" cmpd="sng" w="12700">
            <a:solidFill>
              <a:srgbClr val="EB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3" name="Google Shape;43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526" y="1584198"/>
            <a:ext cx="416052" cy="416052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13"/>
          <p:cNvSpPr/>
          <p:nvPr/>
        </p:nvSpPr>
        <p:spPr>
          <a:xfrm>
            <a:off x="1463040" y="1371600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3"/>
          <p:cNvSpPr/>
          <p:nvPr/>
        </p:nvSpPr>
        <p:spPr>
          <a:xfrm>
            <a:off x="1463040" y="1810512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What will be tested and what will not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3"/>
          <p:cNvSpPr/>
          <p:nvPr/>
        </p:nvSpPr>
        <p:spPr>
          <a:xfrm>
            <a:off x="4800600" y="1261872"/>
            <a:ext cx="4114800" cy="15727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3"/>
          <p:cNvSpPr/>
          <p:nvPr/>
        </p:nvSpPr>
        <p:spPr>
          <a:xfrm>
            <a:off x="5010912" y="1472184"/>
            <a:ext cx="640080" cy="640080"/>
          </a:xfrm>
          <a:prstGeom prst="ellipse">
            <a:avLst/>
          </a:prstGeom>
          <a:solidFill>
            <a:srgbClr val="FFF3E0"/>
          </a:solidFill>
          <a:ln cap="flat" cmpd="sng" w="12700">
            <a:solidFill>
              <a:srgbClr val="FFF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8" name="Google Shape;43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2926" y="1584198"/>
            <a:ext cx="416052" cy="416052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3"/>
          <p:cNvSpPr/>
          <p:nvPr/>
        </p:nvSpPr>
        <p:spPr>
          <a:xfrm>
            <a:off x="5806440" y="1371600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RISK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3"/>
          <p:cNvSpPr/>
          <p:nvPr/>
        </p:nvSpPr>
        <p:spPr>
          <a:xfrm>
            <a:off x="5806440" y="1810512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What could go wrong — and how likely?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457200" y="3035808"/>
            <a:ext cx="4114800" cy="15727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3"/>
          <p:cNvSpPr/>
          <p:nvPr/>
        </p:nvSpPr>
        <p:spPr>
          <a:xfrm>
            <a:off x="667512" y="3246120"/>
            <a:ext cx="640080" cy="640080"/>
          </a:xfrm>
          <a:prstGeom prst="ellipse">
            <a:avLst/>
          </a:prstGeom>
          <a:solidFill>
            <a:srgbClr val="E2F7F8"/>
          </a:solidFill>
          <a:ln cap="flat" cmpd="sng" w="12700">
            <a:solidFill>
              <a:srgbClr val="E2F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3" name="Google Shape;44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9526" y="3358134"/>
            <a:ext cx="416052" cy="416052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13"/>
          <p:cNvSpPr/>
          <p:nvPr/>
        </p:nvSpPr>
        <p:spPr>
          <a:xfrm>
            <a:off x="1463040" y="3145536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99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999E"/>
                </a:solidFill>
                <a:latin typeface="Calibri"/>
                <a:ea typeface="Calibri"/>
                <a:cs typeface="Calibri"/>
                <a:sym typeface="Calibri"/>
              </a:rPr>
              <a:t>APPROACH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1463040" y="3584448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Which techniques, environments &amp; tools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3"/>
          <p:cNvSpPr/>
          <p:nvPr/>
        </p:nvSpPr>
        <p:spPr>
          <a:xfrm>
            <a:off x="4800600" y="3035808"/>
            <a:ext cx="4114800" cy="15727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3"/>
          <p:cNvSpPr/>
          <p:nvPr/>
        </p:nvSpPr>
        <p:spPr>
          <a:xfrm>
            <a:off x="5010912" y="3246120"/>
            <a:ext cx="640080" cy="640080"/>
          </a:xfrm>
          <a:prstGeom prst="ellipse">
            <a:avLst/>
          </a:prstGeom>
          <a:solidFill>
            <a:srgbClr val="F5EEFF"/>
          </a:solidFill>
          <a:ln cap="flat" cmpd="sng" w="12700">
            <a:solidFill>
              <a:srgbClr val="F5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8" name="Google Shape;44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22926" y="3358134"/>
            <a:ext cx="416052" cy="416052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13"/>
          <p:cNvSpPr/>
          <p:nvPr/>
        </p:nvSpPr>
        <p:spPr>
          <a:xfrm>
            <a:off x="5806440" y="3145536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B59B6"/>
                </a:solidFill>
                <a:latin typeface="Calibri"/>
                <a:ea typeface="Calibri"/>
                <a:cs typeface="Calibri"/>
                <a:sym typeface="Calibri"/>
              </a:rPr>
              <a:t>METRICS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3"/>
          <p:cNvSpPr/>
          <p:nvPr/>
        </p:nvSpPr>
        <p:spPr>
          <a:xfrm>
            <a:off x="5806440" y="3584448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How we measure coverage and quality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4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Phase 3 — Test Design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Good test cases are designed, not discovered by accident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4"/>
          <p:cNvSpPr/>
          <p:nvPr/>
        </p:nvSpPr>
        <p:spPr>
          <a:xfrm>
            <a:off x="457200" y="1078992"/>
            <a:ext cx="8229600" cy="182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4"/>
          <p:cNvSpPr/>
          <p:nvPr/>
        </p:nvSpPr>
        <p:spPr>
          <a:xfrm>
            <a:off x="457200" y="1261872"/>
            <a:ext cx="8229600" cy="109728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4"/>
          <p:cNvSpPr/>
          <p:nvPr/>
        </p:nvSpPr>
        <p:spPr>
          <a:xfrm>
            <a:off x="457200" y="1261872"/>
            <a:ext cx="54864" cy="109728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4"/>
          <p:cNvSpPr/>
          <p:nvPr/>
        </p:nvSpPr>
        <p:spPr>
          <a:xfrm>
            <a:off x="658368" y="1353312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Equivalence Partitioning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658368" y="182880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Divide inputs into valid and invalid classes.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4"/>
          <p:cNvSpPr/>
          <p:nvPr/>
        </p:nvSpPr>
        <p:spPr>
          <a:xfrm>
            <a:off x="4434840" y="1371600"/>
            <a:ext cx="4114800" cy="868680"/>
          </a:xfrm>
          <a:prstGeom prst="rect">
            <a:avLst/>
          </a:prstGeom>
          <a:solidFill>
            <a:srgbClr val="FAFAFA"/>
          </a:solidFill>
          <a:ln cap="flat" cmpd="sng" w="1015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4"/>
          <p:cNvSpPr/>
          <p:nvPr/>
        </p:nvSpPr>
        <p:spPr>
          <a:xfrm>
            <a:off x="4590288" y="142646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Example 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4"/>
          <p:cNvSpPr/>
          <p:nvPr/>
        </p:nvSpPr>
        <p:spPr>
          <a:xfrm>
            <a:off x="4590288" y="1719072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Age field: valid (0–120), invalid (negative, &gt;120, text)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4"/>
          <p:cNvSpPr/>
          <p:nvPr/>
        </p:nvSpPr>
        <p:spPr>
          <a:xfrm>
            <a:off x="457200" y="2496312"/>
            <a:ext cx="8229600" cy="109728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4"/>
          <p:cNvSpPr/>
          <p:nvPr/>
        </p:nvSpPr>
        <p:spPr>
          <a:xfrm>
            <a:off x="457200" y="2496312"/>
            <a:ext cx="54864" cy="1097280"/>
          </a:xfrm>
          <a:prstGeom prst="rect">
            <a:avLst/>
          </a:prstGeom>
          <a:solidFill>
            <a:srgbClr val="00999E"/>
          </a:solidFill>
          <a:ln cap="flat" cmpd="sng" w="12700">
            <a:solidFill>
              <a:srgbClr val="00999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4"/>
          <p:cNvSpPr/>
          <p:nvPr/>
        </p:nvSpPr>
        <p:spPr>
          <a:xfrm>
            <a:off x="658368" y="2587752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99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999E"/>
                </a:solidFill>
                <a:latin typeface="Calibri"/>
                <a:ea typeface="Calibri"/>
                <a:cs typeface="Calibri"/>
                <a:sym typeface="Calibri"/>
              </a:rPr>
              <a:t>Boundary Value Analysis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4"/>
          <p:cNvSpPr/>
          <p:nvPr/>
        </p:nvSpPr>
        <p:spPr>
          <a:xfrm>
            <a:off x="658368" y="306324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Test at the edges of valid input ranges.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4"/>
          <p:cNvSpPr/>
          <p:nvPr/>
        </p:nvSpPr>
        <p:spPr>
          <a:xfrm>
            <a:off x="4434840" y="2606040"/>
            <a:ext cx="4114800" cy="868680"/>
          </a:xfrm>
          <a:prstGeom prst="rect">
            <a:avLst/>
          </a:prstGeom>
          <a:solidFill>
            <a:srgbClr val="FAFAFA"/>
          </a:solidFill>
          <a:ln cap="flat" cmpd="sng" w="1015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4"/>
          <p:cNvSpPr/>
          <p:nvPr/>
        </p:nvSpPr>
        <p:spPr>
          <a:xfrm>
            <a:off x="4590288" y="266090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9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999E"/>
                </a:solidFill>
                <a:latin typeface="Calibri"/>
                <a:ea typeface="Calibri"/>
                <a:cs typeface="Calibri"/>
                <a:sym typeface="Calibri"/>
              </a:rPr>
              <a:t>Example 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4"/>
          <p:cNvSpPr/>
          <p:nvPr/>
        </p:nvSpPr>
        <p:spPr>
          <a:xfrm>
            <a:off x="4590288" y="2953512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Max file size 5 MB → test 4.9 MB, 5.0 MB, 5.1 MB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4"/>
          <p:cNvSpPr/>
          <p:nvPr/>
        </p:nvSpPr>
        <p:spPr>
          <a:xfrm>
            <a:off x="457200" y="3730752"/>
            <a:ext cx="8229600" cy="109728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4"/>
          <p:cNvSpPr/>
          <p:nvPr/>
        </p:nvSpPr>
        <p:spPr>
          <a:xfrm>
            <a:off x="457200" y="3730752"/>
            <a:ext cx="54864" cy="1097280"/>
          </a:xfrm>
          <a:prstGeom prst="rect">
            <a:avLst/>
          </a:prstGeom>
          <a:solidFill>
            <a:srgbClr val="E8820C"/>
          </a:solidFill>
          <a:ln cap="flat" cmpd="sng" w="1270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4"/>
          <p:cNvSpPr/>
          <p:nvPr/>
        </p:nvSpPr>
        <p:spPr>
          <a:xfrm>
            <a:off x="658368" y="3822192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Decision Table 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4"/>
          <p:cNvSpPr/>
          <p:nvPr/>
        </p:nvSpPr>
        <p:spPr>
          <a:xfrm>
            <a:off x="658368" y="429768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Map combinations of inputs to expected outcomes.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4"/>
          <p:cNvSpPr/>
          <p:nvPr/>
        </p:nvSpPr>
        <p:spPr>
          <a:xfrm>
            <a:off x="4434840" y="3840480"/>
            <a:ext cx="4114800" cy="868680"/>
          </a:xfrm>
          <a:prstGeom prst="rect">
            <a:avLst/>
          </a:prstGeom>
          <a:solidFill>
            <a:srgbClr val="FAFAFA"/>
          </a:solidFill>
          <a:ln cap="flat" cmpd="sng" w="1015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4"/>
          <p:cNvSpPr/>
          <p:nvPr/>
        </p:nvSpPr>
        <p:spPr>
          <a:xfrm>
            <a:off x="4590288" y="389534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Example 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4"/>
          <p:cNvSpPr/>
          <p:nvPr/>
        </p:nvSpPr>
        <p:spPr>
          <a:xfrm>
            <a:off x="4590288" y="4187952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Login: valid user + wrong password = specific error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5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Phase 4 — Shift-Left Testing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5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Find bugs where they are cheapest to fix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5"/>
          <p:cNvSpPr/>
          <p:nvPr/>
        </p:nvSpPr>
        <p:spPr>
          <a:xfrm>
            <a:off x="457200" y="1078992"/>
            <a:ext cx="8229600" cy="182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5"/>
          <p:cNvSpPr/>
          <p:nvPr/>
        </p:nvSpPr>
        <p:spPr>
          <a:xfrm>
            <a:off x="457200" y="1261872"/>
            <a:ext cx="4389120" cy="749808"/>
          </a:xfrm>
          <a:prstGeom prst="rect">
            <a:avLst/>
          </a:prstGeom>
          <a:solidFill>
            <a:srgbClr val="EBF4FF"/>
          </a:solidFill>
          <a:ln cap="flat" cmpd="sng" w="1015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5"/>
          <p:cNvSpPr/>
          <p:nvPr/>
        </p:nvSpPr>
        <p:spPr>
          <a:xfrm>
            <a:off x="640080" y="1316736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QA's role during Development: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5"/>
          <p:cNvSpPr/>
          <p:nvPr/>
        </p:nvSpPr>
        <p:spPr>
          <a:xfrm>
            <a:off x="640080" y="1645920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Review code  •  Attend standups  •  Clarify user stories  •  Challenge designs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5"/>
          <p:cNvSpPr/>
          <p:nvPr/>
        </p:nvSpPr>
        <p:spPr>
          <a:xfrm>
            <a:off x="411480" y="3950208"/>
            <a:ext cx="1170432" cy="27432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5"/>
          <p:cNvSpPr/>
          <p:nvPr/>
        </p:nvSpPr>
        <p:spPr>
          <a:xfrm>
            <a:off x="411480" y="3630168"/>
            <a:ext cx="11704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1x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5"/>
          <p:cNvSpPr/>
          <p:nvPr/>
        </p:nvSpPr>
        <p:spPr>
          <a:xfrm>
            <a:off x="320040" y="4279392"/>
            <a:ext cx="1353312" cy="3657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5"/>
          <p:cNvSpPr/>
          <p:nvPr/>
        </p:nvSpPr>
        <p:spPr>
          <a:xfrm>
            <a:off x="2103120" y="3721608"/>
            <a:ext cx="1170432" cy="502920"/>
          </a:xfrm>
          <a:prstGeom prst="rect">
            <a:avLst/>
          </a:prstGeom>
          <a:solidFill>
            <a:srgbClr val="00999E"/>
          </a:solidFill>
          <a:ln cap="flat" cmpd="sng" w="12700">
            <a:solidFill>
              <a:srgbClr val="00999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5"/>
          <p:cNvSpPr/>
          <p:nvPr/>
        </p:nvSpPr>
        <p:spPr>
          <a:xfrm>
            <a:off x="2103120" y="3401568"/>
            <a:ext cx="11704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99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999E"/>
                </a:solidFill>
                <a:latin typeface="Calibri"/>
                <a:ea typeface="Calibri"/>
                <a:cs typeface="Calibri"/>
                <a:sym typeface="Calibri"/>
              </a:rPr>
              <a:t>3x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5"/>
          <p:cNvSpPr/>
          <p:nvPr/>
        </p:nvSpPr>
        <p:spPr>
          <a:xfrm>
            <a:off x="2011680" y="4279392"/>
            <a:ext cx="1353312" cy="3657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5"/>
          <p:cNvSpPr/>
          <p:nvPr/>
        </p:nvSpPr>
        <p:spPr>
          <a:xfrm>
            <a:off x="3794760" y="3264408"/>
            <a:ext cx="1170432" cy="960120"/>
          </a:xfrm>
          <a:prstGeom prst="rect">
            <a:avLst/>
          </a:prstGeom>
          <a:solidFill>
            <a:srgbClr val="E8820C"/>
          </a:solidFill>
          <a:ln cap="flat" cmpd="sng" w="1270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5"/>
          <p:cNvSpPr/>
          <p:nvPr/>
        </p:nvSpPr>
        <p:spPr>
          <a:xfrm>
            <a:off x="3794760" y="2944368"/>
            <a:ext cx="11704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10x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5"/>
          <p:cNvSpPr/>
          <p:nvPr/>
        </p:nvSpPr>
        <p:spPr>
          <a:xfrm>
            <a:off x="3703320" y="4279392"/>
            <a:ext cx="1353312" cy="3657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Development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5"/>
          <p:cNvSpPr/>
          <p:nvPr/>
        </p:nvSpPr>
        <p:spPr>
          <a:xfrm>
            <a:off x="5486400" y="2532888"/>
            <a:ext cx="1170432" cy="1691640"/>
          </a:xfrm>
          <a:prstGeom prst="rect">
            <a:avLst/>
          </a:prstGeom>
          <a:solidFill>
            <a:srgbClr val="D70015"/>
          </a:solidFill>
          <a:ln cap="flat" cmpd="sng" w="12700">
            <a:solidFill>
              <a:srgbClr val="D7001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5"/>
          <p:cNvSpPr/>
          <p:nvPr/>
        </p:nvSpPr>
        <p:spPr>
          <a:xfrm>
            <a:off x="5486400" y="2212848"/>
            <a:ext cx="11704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001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70015"/>
                </a:solidFill>
                <a:latin typeface="Calibri"/>
                <a:ea typeface="Calibri"/>
                <a:cs typeface="Calibri"/>
                <a:sym typeface="Calibri"/>
              </a:rPr>
              <a:t>40x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5"/>
          <p:cNvSpPr/>
          <p:nvPr/>
        </p:nvSpPr>
        <p:spPr>
          <a:xfrm>
            <a:off x="5394960" y="4279392"/>
            <a:ext cx="1353312" cy="3657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5"/>
          <p:cNvSpPr/>
          <p:nvPr/>
        </p:nvSpPr>
        <p:spPr>
          <a:xfrm>
            <a:off x="7178040" y="1664208"/>
            <a:ext cx="1170432" cy="2560320"/>
          </a:xfrm>
          <a:prstGeom prst="rect">
            <a:avLst/>
          </a:prstGeom>
          <a:solidFill>
            <a:srgbClr val="CC0000"/>
          </a:solidFill>
          <a:ln cap="flat" cmpd="sng" w="127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5"/>
          <p:cNvSpPr/>
          <p:nvPr/>
        </p:nvSpPr>
        <p:spPr>
          <a:xfrm>
            <a:off x="7178040" y="1344168"/>
            <a:ext cx="11704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100x+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5"/>
          <p:cNvSpPr/>
          <p:nvPr/>
        </p:nvSpPr>
        <p:spPr>
          <a:xfrm>
            <a:off x="7086600" y="4279392"/>
            <a:ext cx="1353312" cy="3657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Production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5"/>
          <p:cNvSpPr/>
          <p:nvPr/>
        </p:nvSpPr>
        <p:spPr>
          <a:xfrm>
            <a:off x="411480" y="4224528"/>
            <a:ext cx="8321040" cy="182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5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AEB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AEAEB2"/>
                </a:solidFill>
                <a:latin typeface="Calibri"/>
                <a:ea typeface="Calibri"/>
                <a:cs typeface="Calibri"/>
                <a:sym typeface="Calibri"/>
              </a:rPr>
              <a:t>← Shift Left  |  Cost of fixing defects increases exponentially 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6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Phase 5 — Functional Testing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6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The UI is just the surface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6"/>
          <p:cNvSpPr/>
          <p:nvPr/>
        </p:nvSpPr>
        <p:spPr>
          <a:xfrm>
            <a:off x="457200" y="1078992"/>
            <a:ext cx="8229600" cy="182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6"/>
          <p:cNvSpPr/>
          <p:nvPr/>
        </p:nvSpPr>
        <p:spPr>
          <a:xfrm>
            <a:off x="457200" y="1261872"/>
            <a:ext cx="2633472" cy="35661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6"/>
          <p:cNvSpPr/>
          <p:nvPr/>
        </p:nvSpPr>
        <p:spPr>
          <a:xfrm>
            <a:off x="457200" y="1261872"/>
            <a:ext cx="2633472" cy="54864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6"/>
          <p:cNvSpPr/>
          <p:nvPr/>
        </p:nvSpPr>
        <p:spPr>
          <a:xfrm>
            <a:off x="1362456" y="1645920"/>
            <a:ext cx="822960" cy="822960"/>
          </a:xfrm>
          <a:prstGeom prst="ellipse">
            <a:avLst/>
          </a:prstGeom>
          <a:solidFill>
            <a:srgbClr val="EBF4FF"/>
          </a:solidFill>
          <a:ln cap="flat" cmpd="sng" w="12700">
            <a:solidFill>
              <a:srgbClr val="EB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9" name="Google Shape;5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6474" y="1789938"/>
            <a:ext cx="534924" cy="534924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16"/>
          <p:cNvSpPr/>
          <p:nvPr/>
        </p:nvSpPr>
        <p:spPr>
          <a:xfrm>
            <a:off x="621792" y="2606040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What most people know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6"/>
          <p:cNvSpPr/>
          <p:nvPr/>
        </p:nvSpPr>
        <p:spPr>
          <a:xfrm>
            <a:off x="621792" y="2944368"/>
            <a:ext cx="2331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UI Testing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6"/>
          <p:cNvSpPr/>
          <p:nvPr/>
        </p:nvSpPr>
        <p:spPr>
          <a:xfrm>
            <a:off x="621792" y="3493008"/>
            <a:ext cx="2331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Click flows, form validation, page navigation, visual regression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6"/>
          <p:cNvSpPr/>
          <p:nvPr/>
        </p:nvSpPr>
        <p:spPr>
          <a:xfrm>
            <a:off x="3291840" y="1261872"/>
            <a:ext cx="2633472" cy="35661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6"/>
          <p:cNvSpPr/>
          <p:nvPr/>
        </p:nvSpPr>
        <p:spPr>
          <a:xfrm>
            <a:off x="3291840" y="1261872"/>
            <a:ext cx="2633472" cy="54864"/>
          </a:xfrm>
          <a:prstGeom prst="rect">
            <a:avLst/>
          </a:prstGeom>
          <a:solidFill>
            <a:srgbClr val="3451B2"/>
          </a:solidFill>
          <a:ln cap="flat" cmpd="sng" w="12700">
            <a:solidFill>
              <a:srgbClr val="3451B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6"/>
          <p:cNvSpPr/>
          <p:nvPr/>
        </p:nvSpPr>
        <p:spPr>
          <a:xfrm>
            <a:off x="4197096" y="1645920"/>
            <a:ext cx="822960" cy="822960"/>
          </a:xfrm>
          <a:prstGeom prst="ellipse">
            <a:avLst/>
          </a:prstGeom>
          <a:solidFill>
            <a:srgbClr val="EEF1FF"/>
          </a:solidFill>
          <a:ln cap="flat" cmpd="sng" w="12700">
            <a:solidFill>
              <a:srgbClr val="EEF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6" name="Google Shape;5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1114" y="1789938"/>
            <a:ext cx="534924" cy="534924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16"/>
          <p:cNvSpPr/>
          <p:nvPr/>
        </p:nvSpPr>
        <p:spPr>
          <a:xfrm>
            <a:off x="3456432" y="2606040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51B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451B2"/>
                </a:solidFill>
                <a:latin typeface="Calibri"/>
                <a:ea typeface="Calibri"/>
                <a:cs typeface="Calibri"/>
                <a:sym typeface="Calibri"/>
              </a:rPr>
              <a:t>Where business logic lives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6"/>
          <p:cNvSpPr/>
          <p:nvPr/>
        </p:nvSpPr>
        <p:spPr>
          <a:xfrm>
            <a:off x="3456432" y="2944368"/>
            <a:ext cx="2331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API Testing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6"/>
          <p:cNvSpPr/>
          <p:nvPr/>
        </p:nvSpPr>
        <p:spPr>
          <a:xfrm>
            <a:off x="3456432" y="3493008"/>
            <a:ext cx="2331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Request/response contracts, error codes, auth tokens, data integrity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6"/>
          <p:cNvSpPr/>
          <p:nvPr/>
        </p:nvSpPr>
        <p:spPr>
          <a:xfrm>
            <a:off x="6126480" y="1261872"/>
            <a:ext cx="2633472" cy="35661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6"/>
          <p:cNvSpPr/>
          <p:nvPr/>
        </p:nvSpPr>
        <p:spPr>
          <a:xfrm>
            <a:off x="6126480" y="1261872"/>
            <a:ext cx="2633472" cy="54864"/>
          </a:xfrm>
          <a:prstGeom prst="rect">
            <a:avLst/>
          </a:prstGeom>
          <a:solidFill>
            <a:srgbClr val="00999E"/>
          </a:solidFill>
          <a:ln cap="flat" cmpd="sng" w="12700">
            <a:solidFill>
              <a:srgbClr val="00999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6"/>
          <p:cNvSpPr/>
          <p:nvPr/>
        </p:nvSpPr>
        <p:spPr>
          <a:xfrm>
            <a:off x="7031736" y="1645920"/>
            <a:ext cx="822960" cy="822960"/>
          </a:xfrm>
          <a:prstGeom prst="ellipse">
            <a:avLst/>
          </a:prstGeom>
          <a:solidFill>
            <a:srgbClr val="E2F7F8"/>
          </a:solidFill>
          <a:ln cap="flat" cmpd="sng" w="12700">
            <a:solidFill>
              <a:srgbClr val="E2F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3" name="Google Shape;53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75754" y="1789938"/>
            <a:ext cx="534924" cy="534924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16"/>
          <p:cNvSpPr/>
          <p:nvPr/>
        </p:nvSpPr>
        <p:spPr>
          <a:xfrm>
            <a:off x="6291072" y="2606040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99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999E"/>
                </a:solidFill>
                <a:latin typeface="Calibri"/>
                <a:ea typeface="Calibri"/>
                <a:cs typeface="Calibri"/>
                <a:sym typeface="Calibri"/>
              </a:rPr>
              <a:t>Where truth is stored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6"/>
          <p:cNvSpPr/>
          <p:nvPr/>
        </p:nvSpPr>
        <p:spPr>
          <a:xfrm>
            <a:off x="6291072" y="2944368"/>
            <a:ext cx="2331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Database Testing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6"/>
          <p:cNvSpPr/>
          <p:nvPr/>
        </p:nvSpPr>
        <p:spPr>
          <a:xfrm>
            <a:off x="6291072" y="3493008"/>
            <a:ext cx="2331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Data saved correctly? Constraints enforced? No orphaned records?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6"/>
          <p:cNvSpPr/>
          <p:nvPr/>
        </p:nvSpPr>
        <p:spPr>
          <a:xfrm>
            <a:off x="457200" y="4846320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A bug in the API layer can bypass all UI validations. Test at every layer.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7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Types of Testing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7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A structured view of what testing covers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7"/>
          <p:cNvSpPr/>
          <p:nvPr/>
        </p:nvSpPr>
        <p:spPr>
          <a:xfrm>
            <a:off x="457200" y="1078992"/>
            <a:ext cx="8229600" cy="182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7"/>
          <p:cNvSpPr/>
          <p:nvPr/>
        </p:nvSpPr>
        <p:spPr>
          <a:xfrm>
            <a:off x="457200" y="1261872"/>
            <a:ext cx="4069080" cy="37490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7"/>
          <p:cNvSpPr/>
          <p:nvPr/>
        </p:nvSpPr>
        <p:spPr>
          <a:xfrm>
            <a:off x="457200" y="1261872"/>
            <a:ext cx="4069080" cy="54864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7"/>
          <p:cNvSpPr/>
          <p:nvPr/>
        </p:nvSpPr>
        <p:spPr>
          <a:xfrm>
            <a:off x="621792" y="1389888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FUNCTIONAL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7"/>
          <p:cNvSpPr/>
          <p:nvPr/>
        </p:nvSpPr>
        <p:spPr>
          <a:xfrm>
            <a:off x="621792" y="171907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Does it do what it should?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7"/>
          <p:cNvSpPr/>
          <p:nvPr/>
        </p:nvSpPr>
        <p:spPr>
          <a:xfrm>
            <a:off x="621792" y="2084832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Unit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7"/>
          <p:cNvSpPr/>
          <p:nvPr/>
        </p:nvSpPr>
        <p:spPr>
          <a:xfrm>
            <a:off x="621792" y="2432304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Integration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7"/>
          <p:cNvSpPr/>
          <p:nvPr/>
        </p:nvSpPr>
        <p:spPr>
          <a:xfrm>
            <a:off x="621792" y="2779776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System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7"/>
          <p:cNvSpPr/>
          <p:nvPr/>
        </p:nvSpPr>
        <p:spPr>
          <a:xfrm>
            <a:off x="621792" y="3127248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Regression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7"/>
          <p:cNvSpPr/>
          <p:nvPr/>
        </p:nvSpPr>
        <p:spPr>
          <a:xfrm>
            <a:off x="621792" y="3474720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Smoke / Sanity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7"/>
          <p:cNvSpPr/>
          <p:nvPr/>
        </p:nvSpPr>
        <p:spPr>
          <a:xfrm>
            <a:off x="621792" y="3822192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User Acceptance Testing (UAT)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7"/>
          <p:cNvSpPr/>
          <p:nvPr/>
        </p:nvSpPr>
        <p:spPr>
          <a:xfrm>
            <a:off x="621792" y="4169664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End-to-End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7"/>
          <p:cNvSpPr/>
          <p:nvPr/>
        </p:nvSpPr>
        <p:spPr>
          <a:xfrm>
            <a:off x="621792" y="4517136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API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7"/>
          <p:cNvSpPr/>
          <p:nvPr/>
        </p:nvSpPr>
        <p:spPr>
          <a:xfrm>
            <a:off x="4736592" y="1261872"/>
            <a:ext cx="3950208" cy="37490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7"/>
          <p:cNvSpPr/>
          <p:nvPr/>
        </p:nvSpPr>
        <p:spPr>
          <a:xfrm>
            <a:off x="4736592" y="1261872"/>
            <a:ext cx="3950208" cy="54864"/>
          </a:xfrm>
          <a:prstGeom prst="rect">
            <a:avLst/>
          </a:prstGeom>
          <a:solidFill>
            <a:srgbClr val="E8820C"/>
          </a:solidFill>
          <a:ln cap="flat" cmpd="sng" w="1270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7"/>
          <p:cNvSpPr/>
          <p:nvPr/>
        </p:nvSpPr>
        <p:spPr>
          <a:xfrm>
            <a:off x="4901184" y="1389888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NON-FUNCTIONAL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7"/>
          <p:cNvSpPr/>
          <p:nvPr/>
        </p:nvSpPr>
        <p:spPr>
          <a:xfrm>
            <a:off x="4901184" y="171907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Does it hold up under real conditions?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7"/>
          <p:cNvSpPr/>
          <p:nvPr/>
        </p:nvSpPr>
        <p:spPr>
          <a:xfrm>
            <a:off x="4901184" y="2084832"/>
            <a:ext cx="3566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Performance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7"/>
          <p:cNvSpPr/>
          <p:nvPr/>
        </p:nvSpPr>
        <p:spPr>
          <a:xfrm>
            <a:off x="4901184" y="2432304"/>
            <a:ext cx="3566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Load &amp; Stress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7"/>
          <p:cNvSpPr/>
          <p:nvPr/>
        </p:nvSpPr>
        <p:spPr>
          <a:xfrm>
            <a:off x="4901184" y="2779776"/>
            <a:ext cx="3566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Security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7"/>
          <p:cNvSpPr/>
          <p:nvPr/>
        </p:nvSpPr>
        <p:spPr>
          <a:xfrm>
            <a:off x="4901184" y="3127248"/>
            <a:ext cx="3566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Usability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7"/>
          <p:cNvSpPr/>
          <p:nvPr/>
        </p:nvSpPr>
        <p:spPr>
          <a:xfrm>
            <a:off x="4901184" y="3474720"/>
            <a:ext cx="3566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Compatibility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7"/>
          <p:cNvSpPr/>
          <p:nvPr/>
        </p:nvSpPr>
        <p:spPr>
          <a:xfrm>
            <a:off x="4901184" y="3822192"/>
            <a:ext cx="3566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Accessibility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7"/>
          <p:cNvSpPr/>
          <p:nvPr/>
        </p:nvSpPr>
        <p:spPr>
          <a:xfrm>
            <a:off x="4901184" y="4169664"/>
            <a:ext cx="3566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Reliability / Stability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7"/>
          <p:cNvSpPr/>
          <p:nvPr/>
        </p:nvSpPr>
        <p:spPr>
          <a:xfrm>
            <a:off x="4901184" y="4517136"/>
            <a:ext cx="3566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Documentation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8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Phase 6 — Non-Functional Testing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8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Does it work? Good. But does it hold up?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8"/>
          <p:cNvSpPr/>
          <p:nvPr/>
        </p:nvSpPr>
        <p:spPr>
          <a:xfrm>
            <a:off x="457200" y="1078992"/>
            <a:ext cx="8229600" cy="182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8"/>
          <p:cNvSpPr/>
          <p:nvPr/>
        </p:nvSpPr>
        <p:spPr>
          <a:xfrm>
            <a:off x="457200" y="1261872"/>
            <a:ext cx="4114800" cy="15727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8"/>
          <p:cNvSpPr/>
          <p:nvPr/>
        </p:nvSpPr>
        <p:spPr>
          <a:xfrm>
            <a:off x="667512" y="1472184"/>
            <a:ext cx="640080" cy="640080"/>
          </a:xfrm>
          <a:prstGeom prst="ellipse">
            <a:avLst/>
          </a:prstGeom>
          <a:solidFill>
            <a:srgbClr val="FFF3E0"/>
          </a:solidFill>
          <a:ln cap="flat" cmpd="sng" w="12700">
            <a:solidFill>
              <a:srgbClr val="FFF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0" name="Google Shape;5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526" y="1584198"/>
            <a:ext cx="416052" cy="416052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18"/>
          <p:cNvSpPr/>
          <p:nvPr/>
        </p:nvSpPr>
        <p:spPr>
          <a:xfrm>
            <a:off x="1463040" y="1371600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8"/>
          <p:cNvSpPr/>
          <p:nvPr/>
        </p:nvSpPr>
        <p:spPr>
          <a:xfrm>
            <a:off x="1463040" y="1792224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Does it respond fast under load?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8"/>
          <p:cNvSpPr/>
          <p:nvPr/>
        </p:nvSpPr>
        <p:spPr>
          <a:xfrm>
            <a:off x="640080" y="2194560"/>
            <a:ext cx="37673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Load test with 1000 concurrent users. Measure response time &amp; resource usage.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8"/>
          <p:cNvSpPr/>
          <p:nvPr/>
        </p:nvSpPr>
        <p:spPr>
          <a:xfrm>
            <a:off x="4800600" y="1261872"/>
            <a:ext cx="4114800" cy="15727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8"/>
          <p:cNvSpPr/>
          <p:nvPr/>
        </p:nvSpPr>
        <p:spPr>
          <a:xfrm>
            <a:off x="5010912" y="1472184"/>
            <a:ext cx="640080" cy="640080"/>
          </a:xfrm>
          <a:prstGeom prst="ellipse">
            <a:avLst/>
          </a:prstGeom>
          <a:solidFill>
            <a:srgbClr val="FFEBEE"/>
          </a:solidFill>
          <a:ln cap="flat" cmpd="sng" w="12700">
            <a:solidFill>
              <a:srgbClr val="FFEB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6" name="Google Shape;58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2926" y="1584198"/>
            <a:ext cx="416052" cy="416052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18"/>
          <p:cNvSpPr/>
          <p:nvPr/>
        </p:nvSpPr>
        <p:spPr>
          <a:xfrm>
            <a:off x="5806440" y="1371600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001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70015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8"/>
          <p:cNvSpPr/>
          <p:nvPr/>
        </p:nvSpPr>
        <p:spPr>
          <a:xfrm>
            <a:off x="5806440" y="1792224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Can it be exploited?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8"/>
          <p:cNvSpPr/>
          <p:nvPr/>
        </p:nvSpPr>
        <p:spPr>
          <a:xfrm>
            <a:off x="4983480" y="2194560"/>
            <a:ext cx="37673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SQL injection, XSS, auth bypass, sensitive data exposure, session management.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8"/>
          <p:cNvSpPr/>
          <p:nvPr/>
        </p:nvSpPr>
        <p:spPr>
          <a:xfrm>
            <a:off x="457200" y="3063240"/>
            <a:ext cx="4114800" cy="15727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8"/>
          <p:cNvSpPr/>
          <p:nvPr/>
        </p:nvSpPr>
        <p:spPr>
          <a:xfrm>
            <a:off x="667512" y="3273552"/>
            <a:ext cx="640080" cy="640080"/>
          </a:xfrm>
          <a:prstGeom prst="ellipse">
            <a:avLst/>
          </a:prstGeom>
          <a:solidFill>
            <a:srgbClr val="E8F8EE"/>
          </a:solidFill>
          <a:ln cap="flat" cmpd="sng" w="12700">
            <a:solidFill>
              <a:srgbClr val="E8F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2" name="Google Shape;59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9526" y="3385566"/>
            <a:ext cx="416052" cy="416052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18"/>
          <p:cNvSpPr/>
          <p:nvPr/>
        </p:nvSpPr>
        <p:spPr>
          <a:xfrm>
            <a:off x="1463040" y="3172968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Usability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8"/>
          <p:cNvSpPr/>
          <p:nvPr/>
        </p:nvSpPr>
        <p:spPr>
          <a:xfrm>
            <a:off x="1463040" y="3593592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Can real users actually use it?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8"/>
          <p:cNvSpPr/>
          <p:nvPr/>
        </p:nvSpPr>
        <p:spPr>
          <a:xfrm>
            <a:off x="640080" y="3995928"/>
            <a:ext cx="37673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Task completion rates, error recovery, accessibility (WCAG), mobile responsiveness.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8"/>
          <p:cNvSpPr/>
          <p:nvPr/>
        </p:nvSpPr>
        <p:spPr>
          <a:xfrm>
            <a:off x="4800600" y="3063240"/>
            <a:ext cx="4114800" cy="15727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8"/>
          <p:cNvSpPr/>
          <p:nvPr/>
        </p:nvSpPr>
        <p:spPr>
          <a:xfrm>
            <a:off x="5010912" y="3273552"/>
            <a:ext cx="640080" cy="640080"/>
          </a:xfrm>
          <a:prstGeom prst="ellipse">
            <a:avLst/>
          </a:prstGeom>
          <a:solidFill>
            <a:srgbClr val="EBF4FF"/>
          </a:solidFill>
          <a:ln cap="flat" cmpd="sng" w="12700">
            <a:solidFill>
              <a:srgbClr val="EB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8" name="Google Shape;59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22926" y="3385566"/>
            <a:ext cx="416052" cy="416052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18"/>
          <p:cNvSpPr/>
          <p:nvPr/>
        </p:nvSpPr>
        <p:spPr>
          <a:xfrm>
            <a:off x="5806440" y="3172968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Documentation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8"/>
          <p:cNvSpPr/>
          <p:nvPr/>
        </p:nvSpPr>
        <p:spPr>
          <a:xfrm>
            <a:off x="5806440" y="3593592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Is the user guide accurate?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8"/>
          <p:cNvSpPr/>
          <p:nvPr/>
        </p:nvSpPr>
        <p:spPr>
          <a:xfrm>
            <a:off x="4983480" y="3995928"/>
            <a:ext cx="37673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Match documented features against actual behaviour. Validate all error messages.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9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Phase 7 — Integration Testing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9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Systems talk to each other. Test what they say.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9"/>
          <p:cNvSpPr/>
          <p:nvPr/>
        </p:nvSpPr>
        <p:spPr>
          <a:xfrm>
            <a:off x="457200" y="1078992"/>
            <a:ext cx="8229600" cy="182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9"/>
          <p:cNvSpPr/>
          <p:nvPr/>
        </p:nvSpPr>
        <p:spPr>
          <a:xfrm>
            <a:off x="3063240" y="1371600"/>
            <a:ext cx="3017520" cy="3246120"/>
          </a:xfrm>
          <a:prstGeom prst="rect">
            <a:avLst/>
          </a:prstGeom>
          <a:solidFill>
            <a:srgbClr val="1D1D1F"/>
          </a:solidFill>
          <a:ln cap="flat" cmpd="sng" w="10150">
            <a:solidFill>
              <a:srgbClr val="1D1D1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9"/>
          <p:cNvSpPr/>
          <p:nvPr/>
        </p:nvSpPr>
        <p:spPr>
          <a:xfrm>
            <a:off x="4187952" y="1856232"/>
            <a:ext cx="768096" cy="768096"/>
          </a:xfrm>
          <a:prstGeom prst="ellipse">
            <a:avLst/>
          </a:prstGeom>
          <a:solidFill>
            <a:srgbClr val="E2F7F8"/>
          </a:solidFill>
          <a:ln cap="flat" cmpd="sng" w="12700">
            <a:solidFill>
              <a:srgbClr val="E2F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2" name="Google Shape;61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2369" y="1990649"/>
            <a:ext cx="499262" cy="499262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19"/>
          <p:cNvSpPr/>
          <p:nvPr/>
        </p:nvSpPr>
        <p:spPr>
          <a:xfrm>
            <a:off x="3200400" y="2697480"/>
            <a:ext cx="2743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9"/>
          <p:cNvSpPr/>
          <p:nvPr/>
        </p:nvSpPr>
        <p:spPr>
          <a:xfrm>
            <a:off x="3200400" y="3401568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AEB2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EAEB2"/>
                </a:solidFill>
                <a:latin typeface="Calibri"/>
                <a:ea typeface="Calibri"/>
                <a:cs typeface="Calibri"/>
                <a:sym typeface="Calibri"/>
              </a:rPr>
              <a:t>Integration Boundary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9"/>
          <p:cNvSpPr/>
          <p:nvPr/>
        </p:nvSpPr>
        <p:spPr>
          <a:xfrm>
            <a:off x="274320" y="1463040"/>
            <a:ext cx="2514600" cy="749808"/>
          </a:xfrm>
          <a:prstGeom prst="rect">
            <a:avLst/>
          </a:prstGeom>
          <a:solidFill>
            <a:srgbClr val="EBF4FF"/>
          </a:solidFill>
          <a:ln cap="flat" cmpd="sng" w="1015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9"/>
          <p:cNvSpPr/>
          <p:nvPr/>
        </p:nvSpPr>
        <p:spPr>
          <a:xfrm>
            <a:off x="274320" y="1463040"/>
            <a:ext cx="2514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Payment Gateway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9"/>
          <p:cNvSpPr/>
          <p:nvPr/>
        </p:nvSpPr>
        <p:spPr>
          <a:xfrm>
            <a:off x="2788920" y="1801368"/>
            <a:ext cx="292608" cy="22860"/>
          </a:xfrm>
          <a:prstGeom prst="rect">
            <a:avLst/>
          </a:prstGeom>
          <a:solidFill>
            <a:srgbClr val="00999E"/>
          </a:solidFill>
          <a:ln cap="flat" cmpd="sng" w="12700">
            <a:solidFill>
              <a:srgbClr val="0099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9"/>
          <p:cNvSpPr/>
          <p:nvPr/>
        </p:nvSpPr>
        <p:spPr>
          <a:xfrm>
            <a:off x="274320" y="2514600"/>
            <a:ext cx="2514600" cy="749808"/>
          </a:xfrm>
          <a:prstGeom prst="rect">
            <a:avLst/>
          </a:prstGeom>
          <a:solidFill>
            <a:srgbClr val="EBF4FF"/>
          </a:solidFill>
          <a:ln cap="flat" cmpd="sng" w="1015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9"/>
          <p:cNvSpPr/>
          <p:nvPr/>
        </p:nvSpPr>
        <p:spPr>
          <a:xfrm>
            <a:off x="274320" y="2514600"/>
            <a:ext cx="2514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Email Service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9"/>
          <p:cNvSpPr/>
          <p:nvPr/>
        </p:nvSpPr>
        <p:spPr>
          <a:xfrm>
            <a:off x="2788920" y="2852928"/>
            <a:ext cx="292608" cy="22860"/>
          </a:xfrm>
          <a:prstGeom prst="rect">
            <a:avLst/>
          </a:prstGeom>
          <a:solidFill>
            <a:srgbClr val="00999E"/>
          </a:solidFill>
          <a:ln cap="flat" cmpd="sng" w="12700">
            <a:solidFill>
              <a:srgbClr val="0099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9"/>
          <p:cNvSpPr/>
          <p:nvPr/>
        </p:nvSpPr>
        <p:spPr>
          <a:xfrm>
            <a:off x="274320" y="3566160"/>
            <a:ext cx="2514600" cy="749808"/>
          </a:xfrm>
          <a:prstGeom prst="rect">
            <a:avLst/>
          </a:prstGeom>
          <a:solidFill>
            <a:srgbClr val="EBF4FF"/>
          </a:solidFill>
          <a:ln cap="flat" cmpd="sng" w="1015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9"/>
          <p:cNvSpPr/>
          <p:nvPr/>
        </p:nvSpPr>
        <p:spPr>
          <a:xfrm>
            <a:off x="274320" y="3566160"/>
            <a:ext cx="2514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ERP / SAP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9"/>
          <p:cNvSpPr/>
          <p:nvPr/>
        </p:nvSpPr>
        <p:spPr>
          <a:xfrm>
            <a:off x="2788920" y="3904488"/>
            <a:ext cx="292608" cy="22860"/>
          </a:xfrm>
          <a:prstGeom prst="rect">
            <a:avLst/>
          </a:prstGeom>
          <a:solidFill>
            <a:srgbClr val="00999E"/>
          </a:solidFill>
          <a:ln cap="flat" cmpd="sng" w="12700">
            <a:solidFill>
              <a:srgbClr val="0099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9"/>
          <p:cNvSpPr/>
          <p:nvPr/>
        </p:nvSpPr>
        <p:spPr>
          <a:xfrm>
            <a:off x="6336792" y="1463040"/>
            <a:ext cx="2514600" cy="749808"/>
          </a:xfrm>
          <a:prstGeom prst="rect">
            <a:avLst/>
          </a:prstGeom>
          <a:solidFill>
            <a:srgbClr val="E2F7F8"/>
          </a:solidFill>
          <a:ln cap="flat" cmpd="sng" w="10150">
            <a:solidFill>
              <a:srgbClr val="00999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9"/>
          <p:cNvSpPr/>
          <p:nvPr/>
        </p:nvSpPr>
        <p:spPr>
          <a:xfrm>
            <a:off x="6336792" y="1463040"/>
            <a:ext cx="2514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99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999E"/>
                </a:solidFill>
                <a:latin typeface="Calibri"/>
                <a:ea typeface="Calibri"/>
                <a:cs typeface="Calibri"/>
                <a:sym typeface="Calibri"/>
              </a:rPr>
              <a:t>Auth / SSO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9"/>
          <p:cNvSpPr/>
          <p:nvPr/>
        </p:nvSpPr>
        <p:spPr>
          <a:xfrm>
            <a:off x="6062472" y="1801368"/>
            <a:ext cx="292608" cy="22860"/>
          </a:xfrm>
          <a:prstGeom prst="rect">
            <a:avLst/>
          </a:prstGeom>
          <a:solidFill>
            <a:srgbClr val="00999E"/>
          </a:solidFill>
          <a:ln cap="flat" cmpd="sng" w="12700">
            <a:solidFill>
              <a:srgbClr val="0099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9"/>
          <p:cNvSpPr/>
          <p:nvPr/>
        </p:nvSpPr>
        <p:spPr>
          <a:xfrm>
            <a:off x="6336792" y="2514600"/>
            <a:ext cx="2514600" cy="749808"/>
          </a:xfrm>
          <a:prstGeom prst="rect">
            <a:avLst/>
          </a:prstGeom>
          <a:solidFill>
            <a:srgbClr val="E2F7F8"/>
          </a:solidFill>
          <a:ln cap="flat" cmpd="sng" w="10150">
            <a:solidFill>
              <a:srgbClr val="00999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9"/>
          <p:cNvSpPr/>
          <p:nvPr/>
        </p:nvSpPr>
        <p:spPr>
          <a:xfrm>
            <a:off x="6336792" y="2514600"/>
            <a:ext cx="2514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99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999E"/>
                </a:solidFill>
                <a:latin typeface="Calibri"/>
                <a:ea typeface="Calibri"/>
                <a:cs typeface="Calibri"/>
                <a:sym typeface="Calibri"/>
              </a:rPr>
              <a:t>File Storage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9"/>
          <p:cNvSpPr/>
          <p:nvPr/>
        </p:nvSpPr>
        <p:spPr>
          <a:xfrm>
            <a:off x="6062472" y="2852928"/>
            <a:ext cx="292608" cy="22860"/>
          </a:xfrm>
          <a:prstGeom prst="rect">
            <a:avLst/>
          </a:prstGeom>
          <a:solidFill>
            <a:srgbClr val="00999E"/>
          </a:solidFill>
          <a:ln cap="flat" cmpd="sng" w="12700">
            <a:solidFill>
              <a:srgbClr val="0099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9"/>
          <p:cNvSpPr/>
          <p:nvPr/>
        </p:nvSpPr>
        <p:spPr>
          <a:xfrm>
            <a:off x="6336792" y="3566160"/>
            <a:ext cx="2514600" cy="749808"/>
          </a:xfrm>
          <a:prstGeom prst="rect">
            <a:avLst/>
          </a:prstGeom>
          <a:solidFill>
            <a:srgbClr val="E2F7F8"/>
          </a:solidFill>
          <a:ln cap="flat" cmpd="sng" w="10150">
            <a:solidFill>
              <a:srgbClr val="00999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9"/>
          <p:cNvSpPr/>
          <p:nvPr/>
        </p:nvSpPr>
        <p:spPr>
          <a:xfrm>
            <a:off x="6336792" y="3566160"/>
            <a:ext cx="2514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99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999E"/>
                </a:solidFill>
                <a:latin typeface="Calibri"/>
                <a:ea typeface="Calibri"/>
                <a:cs typeface="Calibri"/>
                <a:sym typeface="Calibri"/>
              </a:rPr>
              <a:t>Notifications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9"/>
          <p:cNvSpPr/>
          <p:nvPr/>
        </p:nvSpPr>
        <p:spPr>
          <a:xfrm>
            <a:off x="6062472" y="3904488"/>
            <a:ext cx="292608" cy="22860"/>
          </a:xfrm>
          <a:prstGeom prst="rect">
            <a:avLst/>
          </a:prstGeom>
          <a:solidFill>
            <a:srgbClr val="00999E"/>
          </a:solidFill>
          <a:ln cap="flat" cmpd="sng" w="12700">
            <a:solidFill>
              <a:srgbClr val="0099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9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Test every connection. What happens when a third-party service is slow, returns an error, or sends unexpected data?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2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Phase 8 — Deployment &amp; Documentation Verification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0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Release is not the finish line — it is a checkpoint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0"/>
          <p:cNvSpPr/>
          <p:nvPr/>
        </p:nvSpPr>
        <p:spPr>
          <a:xfrm>
            <a:off x="457200" y="1078992"/>
            <a:ext cx="8229600" cy="182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0"/>
          <p:cNvSpPr/>
          <p:nvPr/>
        </p:nvSpPr>
        <p:spPr>
          <a:xfrm>
            <a:off x="457200" y="1261872"/>
            <a:ext cx="2633472" cy="35661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0"/>
          <p:cNvSpPr/>
          <p:nvPr/>
        </p:nvSpPr>
        <p:spPr>
          <a:xfrm>
            <a:off x="457200" y="1261872"/>
            <a:ext cx="2633472" cy="54864"/>
          </a:xfrm>
          <a:prstGeom prst="rect">
            <a:avLst/>
          </a:prstGeom>
          <a:solidFill>
            <a:srgbClr val="00999E"/>
          </a:solidFill>
          <a:ln cap="flat" cmpd="sng" w="12700">
            <a:solidFill>
              <a:srgbClr val="00999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20"/>
          <p:cNvSpPr/>
          <p:nvPr/>
        </p:nvSpPr>
        <p:spPr>
          <a:xfrm>
            <a:off x="1389888" y="1645920"/>
            <a:ext cx="768096" cy="768096"/>
          </a:xfrm>
          <a:prstGeom prst="ellipse">
            <a:avLst/>
          </a:prstGeom>
          <a:solidFill>
            <a:srgbClr val="E2F7F8"/>
          </a:solidFill>
          <a:ln cap="flat" cmpd="sng" w="12700">
            <a:solidFill>
              <a:srgbClr val="E2F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5" name="Google Shape;64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305" y="1780337"/>
            <a:ext cx="499262" cy="499262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20"/>
          <p:cNvSpPr/>
          <p:nvPr/>
        </p:nvSpPr>
        <p:spPr>
          <a:xfrm>
            <a:off x="621792" y="2542032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Configuration Verification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0"/>
          <p:cNvSpPr/>
          <p:nvPr/>
        </p:nvSpPr>
        <p:spPr>
          <a:xfrm>
            <a:off x="621792" y="3273552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99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999E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Correct env variables set?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0"/>
          <p:cNvSpPr/>
          <p:nvPr/>
        </p:nvSpPr>
        <p:spPr>
          <a:xfrm>
            <a:off x="621792" y="3749040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99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999E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Feature flags configured?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0"/>
          <p:cNvSpPr/>
          <p:nvPr/>
        </p:nvSpPr>
        <p:spPr>
          <a:xfrm>
            <a:off x="621792" y="4224528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99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999E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DB migrations ran?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0"/>
          <p:cNvSpPr/>
          <p:nvPr/>
        </p:nvSpPr>
        <p:spPr>
          <a:xfrm>
            <a:off x="3291840" y="1261872"/>
            <a:ext cx="2633472" cy="35661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0"/>
          <p:cNvSpPr/>
          <p:nvPr/>
        </p:nvSpPr>
        <p:spPr>
          <a:xfrm>
            <a:off x="3291840" y="1261872"/>
            <a:ext cx="2633472" cy="54864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0"/>
          <p:cNvSpPr/>
          <p:nvPr/>
        </p:nvSpPr>
        <p:spPr>
          <a:xfrm>
            <a:off x="4224528" y="1645920"/>
            <a:ext cx="768096" cy="768096"/>
          </a:xfrm>
          <a:prstGeom prst="ellipse">
            <a:avLst/>
          </a:prstGeom>
          <a:solidFill>
            <a:srgbClr val="EBF4FF"/>
          </a:solidFill>
          <a:ln cap="flat" cmpd="sng" w="12700">
            <a:solidFill>
              <a:srgbClr val="EB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3" name="Google Shape;65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8945" y="1780337"/>
            <a:ext cx="499262" cy="499262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20"/>
          <p:cNvSpPr/>
          <p:nvPr/>
        </p:nvSpPr>
        <p:spPr>
          <a:xfrm>
            <a:off x="3456432" y="2542032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Documentation Accuracy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0"/>
          <p:cNvSpPr/>
          <p:nvPr/>
        </p:nvSpPr>
        <p:spPr>
          <a:xfrm>
            <a:off x="3456432" y="3273552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User guide matches actual UI?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0"/>
          <p:cNvSpPr/>
          <p:nvPr/>
        </p:nvSpPr>
        <p:spPr>
          <a:xfrm>
            <a:off x="3456432" y="3749040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API docs reflect latest changes?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0"/>
          <p:cNvSpPr/>
          <p:nvPr/>
        </p:nvSpPr>
        <p:spPr>
          <a:xfrm>
            <a:off x="3456432" y="4224528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Error messages are user-friendly?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0"/>
          <p:cNvSpPr/>
          <p:nvPr/>
        </p:nvSpPr>
        <p:spPr>
          <a:xfrm>
            <a:off x="6126480" y="1261872"/>
            <a:ext cx="2633472" cy="35661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0"/>
          <p:cNvSpPr/>
          <p:nvPr/>
        </p:nvSpPr>
        <p:spPr>
          <a:xfrm>
            <a:off x="6126480" y="1261872"/>
            <a:ext cx="2633472" cy="54864"/>
          </a:xfrm>
          <a:prstGeom prst="rect">
            <a:avLst/>
          </a:prstGeom>
          <a:solidFill>
            <a:srgbClr val="E8820C"/>
          </a:solidFill>
          <a:ln cap="flat" cmpd="sng" w="1270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0"/>
          <p:cNvSpPr/>
          <p:nvPr/>
        </p:nvSpPr>
        <p:spPr>
          <a:xfrm>
            <a:off x="7059168" y="1645920"/>
            <a:ext cx="768096" cy="768096"/>
          </a:xfrm>
          <a:prstGeom prst="ellipse">
            <a:avLst/>
          </a:prstGeom>
          <a:solidFill>
            <a:srgbClr val="FFF3E0"/>
          </a:solidFill>
          <a:ln cap="flat" cmpd="sng" w="12700">
            <a:solidFill>
              <a:srgbClr val="FFF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1" name="Google Shape;66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93585" y="1780337"/>
            <a:ext cx="499262" cy="499262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20"/>
          <p:cNvSpPr/>
          <p:nvPr/>
        </p:nvSpPr>
        <p:spPr>
          <a:xfrm>
            <a:off x="6291072" y="2542032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Rollback Readiness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0"/>
          <p:cNvSpPr/>
          <p:nvPr/>
        </p:nvSpPr>
        <p:spPr>
          <a:xfrm>
            <a:off x="6291072" y="3273552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Rollback plan documented?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0"/>
          <p:cNvSpPr/>
          <p:nvPr/>
        </p:nvSpPr>
        <p:spPr>
          <a:xfrm>
            <a:off x="6291072" y="3749040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Smoke tests ready post-deploy?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0"/>
          <p:cNvSpPr/>
          <p:nvPr/>
        </p:nvSpPr>
        <p:spPr>
          <a:xfrm>
            <a:off x="6291072" y="4224528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Monitoring alerts configured?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1D1F"/>
        </a:solidFill>
      </p:bgPr>
    </p:bg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21"/>
          <p:cNvSpPr/>
          <p:nvPr/>
        </p:nvSpPr>
        <p:spPr>
          <a:xfrm>
            <a:off x="5943600" y="274320"/>
            <a:ext cx="29260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C2C2E"/>
              </a:buClr>
              <a:buSzPts val="18000"/>
              <a:buFont typeface="Calibri"/>
              <a:buNone/>
            </a:pPr>
            <a:r>
              <a:rPr b="1" i="0" lang="en-US" sz="18000" u="none" cap="none" strike="noStrike">
                <a:solidFill>
                  <a:srgbClr val="2C2C2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9B59B6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1"/>
          <p:cNvSpPr/>
          <p:nvPr/>
        </p:nvSpPr>
        <p:spPr>
          <a:xfrm>
            <a:off x="548640" y="384048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B59B6"/>
                </a:solidFill>
                <a:latin typeface="Calibri"/>
                <a:ea typeface="Calibri"/>
                <a:cs typeface="Calibri"/>
                <a:sym typeface="Calibri"/>
              </a:rPr>
              <a:t>03  /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1"/>
          <p:cNvSpPr/>
          <p:nvPr/>
        </p:nvSpPr>
        <p:spPr>
          <a:xfrm>
            <a:off x="548640" y="749808"/>
            <a:ext cx="7498080" cy="18288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1980000" dist="28575">
              <a:schemeClr val="lt1">
                <a:alpha val="73000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Artifacts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1"/>
          <p:cNvSpPr/>
          <p:nvPr/>
        </p:nvSpPr>
        <p:spPr>
          <a:xfrm>
            <a:off x="548640" y="2670048"/>
            <a:ext cx="4572000" cy="22860"/>
          </a:xfrm>
          <a:prstGeom prst="rect">
            <a:avLst/>
          </a:prstGeom>
          <a:solidFill>
            <a:srgbClr val="9B59B6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1"/>
          <p:cNvSpPr/>
          <p:nvPr/>
        </p:nvSpPr>
        <p:spPr>
          <a:xfrm>
            <a:off x="548640" y="2788920"/>
            <a:ext cx="7498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AEB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EAEB2"/>
                </a:solidFill>
                <a:latin typeface="Calibri"/>
                <a:ea typeface="Calibri"/>
                <a:cs typeface="Calibri"/>
                <a:sym typeface="Calibri"/>
              </a:rPr>
              <a:t>The deliverables a QA engineer produces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2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Test Deliverables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What a QA engineer produces at each stage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2"/>
          <p:cNvSpPr/>
          <p:nvPr/>
        </p:nvSpPr>
        <p:spPr>
          <a:xfrm>
            <a:off x="457200" y="1078992"/>
            <a:ext cx="8229600" cy="182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2"/>
          <p:cNvSpPr/>
          <p:nvPr/>
        </p:nvSpPr>
        <p:spPr>
          <a:xfrm>
            <a:off x="457200" y="1180662"/>
            <a:ext cx="4114800" cy="9144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6" name="Google Shape;686;p22"/>
          <p:cNvGrpSpPr/>
          <p:nvPr/>
        </p:nvGrpSpPr>
        <p:grpSpPr>
          <a:xfrm>
            <a:off x="667512" y="1291831"/>
            <a:ext cx="585216" cy="585216"/>
            <a:chOff x="667512" y="1481328"/>
            <a:chExt cx="585216" cy="585216"/>
          </a:xfrm>
        </p:grpSpPr>
        <p:sp>
          <p:nvSpPr>
            <p:cNvPr id="687" name="Google Shape;687;p22"/>
            <p:cNvSpPr/>
            <p:nvPr/>
          </p:nvSpPr>
          <p:spPr>
            <a:xfrm>
              <a:off x="667512" y="1481328"/>
              <a:ext cx="585216" cy="585216"/>
            </a:xfrm>
            <a:prstGeom prst="ellipse">
              <a:avLst/>
            </a:prstGeom>
            <a:solidFill>
              <a:srgbClr val="F5EEFF"/>
            </a:solidFill>
            <a:ln cap="flat" cmpd="sng" w="12700">
              <a:solidFill>
                <a:srgbClr val="F5EE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688" name="Google Shape;688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9925" y="1583741"/>
              <a:ext cx="380390" cy="3803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9" name="Google Shape;689;p22"/>
          <p:cNvSpPr/>
          <p:nvPr/>
        </p:nvSpPr>
        <p:spPr>
          <a:xfrm>
            <a:off x="1417320" y="1217957"/>
            <a:ext cx="301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B59B6"/>
                </a:solidFill>
                <a:latin typeface="Calibri"/>
                <a:ea typeface="Calibri"/>
                <a:cs typeface="Calibri"/>
                <a:sym typeface="Calibri"/>
              </a:rPr>
              <a:t>Test Strategy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2"/>
          <p:cNvSpPr/>
          <p:nvPr/>
        </p:nvSpPr>
        <p:spPr>
          <a:xfrm>
            <a:off x="1417320" y="1561759"/>
            <a:ext cx="3017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High-level document defining QA approach, standards, scope, and tools for the entire project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2"/>
          <p:cNvSpPr/>
          <p:nvPr/>
        </p:nvSpPr>
        <p:spPr>
          <a:xfrm>
            <a:off x="4892045" y="1180662"/>
            <a:ext cx="4114800" cy="9144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2" name="Google Shape;692;p22"/>
          <p:cNvGrpSpPr/>
          <p:nvPr/>
        </p:nvGrpSpPr>
        <p:grpSpPr>
          <a:xfrm>
            <a:off x="5102352" y="1291831"/>
            <a:ext cx="585216" cy="585216"/>
            <a:chOff x="5102352" y="1481328"/>
            <a:chExt cx="585216" cy="585216"/>
          </a:xfrm>
        </p:grpSpPr>
        <p:sp>
          <p:nvSpPr>
            <p:cNvPr id="693" name="Google Shape;693;p22"/>
            <p:cNvSpPr/>
            <p:nvPr/>
          </p:nvSpPr>
          <p:spPr>
            <a:xfrm>
              <a:off x="5102352" y="1481328"/>
              <a:ext cx="585216" cy="585216"/>
            </a:xfrm>
            <a:prstGeom prst="ellipse">
              <a:avLst/>
            </a:prstGeom>
            <a:solidFill>
              <a:srgbClr val="EBF4FF"/>
            </a:solidFill>
            <a:ln cap="flat" cmpd="sng" w="12700">
              <a:solidFill>
                <a:srgbClr val="EBF4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694" name="Google Shape;694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04765" y="1583741"/>
              <a:ext cx="380390" cy="3803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5" name="Google Shape;695;p22"/>
          <p:cNvSpPr/>
          <p:nvPr/>
        </p:nvSpPr>
        <p:spPr>
          <a:xfrm>
            <a:off x="5852160" y="1217957"/>
            <a:ext cx="301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Test Plan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2"/>
          <p:cNvSpPr/>
          <p:nvPr/>
        </p:nvSpPr>
        <p:spPr>
          <a:xfrm>
            <a:off x="5852160" y="1561759"/>
            <a:ext cx="3017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Phase-level document with scope, schedule, resources, entry/exit criteria, risks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2"/>
          <p:cNvSpPr/>
          <p:nvPr/>
        </p:nvSpPr>
        <p:spPr>
          <a:xfrm>
            <a:off x="457200" y="2172202"/>
            <a:ext cx="4114800" cy="9144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8" name="Google Shape;698;p22"/>
          <p:cNvGrpSpPr/>
          <p:nvPr/>
        </p:nvGrpSpPr>
        <p:grpSpPr>
          <a:xfrm>
            <a:off x="667512" y="2336412"/>
            <a:ext cx="585216" cy="585216"/>
            <a:chOff x="667512" y="2688336"/>
            <a:chExt cx="585216" cy="585216"/>
          </a:xfrm>
        </p:grpSpPr>
        <p:sp>
          <p:nvSpPr>
            <p:cNvPr id="699" name="Google Shape;699;p22"/>
            <p:cNvSpPr/>
            <p:nvPr/>
          </p:nvSpPr>
          <p:spPr>
            <a:xfrm>
              <a:off x="667512" y="2688336"/>
              <a:ext cx="585216" cy="585216"/>
            </a:xfrm>
            <a:prstGeom prst="ellipse">
              <a:avLst/>
            </a:prstGeom>
            <a:solidFill>
              <a:srgbClr val="E2F7F8"/>
            </a:solidFill>
            <a:ln cap="flat" cmpd="sng" w="12700">
              <a:solidFill>
                <a:srgbClr val="E2F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700" name="Google Shape;700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9925" y="2790749"/>
              <a:ext cx="380390" cy="3803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1" name="Google Shape;701;p22"/>
          <p:cNvSpPr/>
          <p:nvPr/>
        </p:nvSpPr>
        <p:spPr>
          <a:xfrm>
            <a:off x="1417320" y="2262538"/>
            <a:ext cx="301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99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999E"/>
                </a:solidFill>
                <a:latin typeface="Calibri"/>
                <a:ea typeface="Calibri"/>
                <a:cs typeface="Calibri"/>
                <a:sym typeface="Calibri"/>
              </a:rPr>
              <a:t>Test Scenario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2"/>
          <p:cNvSpPr/>
          <p:nvPr/>
        </p:nvSpPr>
        <p:spPr>
          <a:xfrm>
            <a:off x="1417320" y="2606341"/>
            <a:ext cx="3017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High-level 'What to test' — a user situation or feature area (e.g. Vendor Login)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2"/>
          <p:cNvSpPr/>
          <p:nvPr/>
        </p:nvSpPr>
        <p:spPr>
          <a:xfrm>
            <a:off x="4892045" y="2172202"/>
            <a:ext cx="4114800" cy="9144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4" name="Google Shape;704;p22"/>
          <p:cNvGrpSpPr/>
          <p:nvPr/>
        </p:nvGrpSpPr>
        <p:grpSpPr>
          <a:xfrm>
            <a:off x="5102352" y="2336412"/>
            <a:ext cx="585216" cy="585216"/>
            <a:chOff x="5102352" y="2688336"/>
            <a:chExt cx="585216" cy="585216"/>
          </a:xfrm>
        </p:grpSpPr>
        <p:sp>
          <p:nvSpPr>
            <p:cNvPr id="705" name="Google Shape;705;p22"/>
            <p:cNvSpPr/>
            <p:nvPr/>
          </p:nvSpPr>
          <p:spPr>
            <a:xfrm>
              <a:off x="5102352" y="2688336"/>
              <a:ext cx="585216" cy="585216"/>
            </a:xfrm>
            <a:prstGeom prst="ellipse">
              <a:avLst/>
            </a:prstGeom>
            <a:solidFill>
              <a:srgbClr val="E8F8EE"/>
            </a:solidFill>
            <a:ln cap="flat" cmpd="sng" w="12700">
              <a:solidFill>
                <a:srgbClr val="E8F8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706" name="Google Shape;706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204765" y="2790749"/>
              <a:ext cx="380390" cy="3803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7" name="Google Shape;707;p22"/>
          <p:cNvSpPr/>
          <p:nvPr/>
        </p:nvSpPr>
        <p:spPr>
          <a:xfrm>
            <a:off x="5852160" y="2262538"/>
            <a:ext cx="301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Test Case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2"/>
          <p:cNvSpPr/>
          <p:nvPr/>
        </p:nvSpPr>
        <p:spPr>
          <a:xfrm>
            <a:off x="5852160" y="2606341"/>
            <a:ext cx="3017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Detailed 'How to test' — steps, data, expected result, pass/fail criteria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2"/>
          <p:cNvSpPr/>
          <p:nvPr/>
        </p:nvSpPr>
        <p:spPr>
          <a:xfrm>
            <a:off x="457200" y="3163743"/>
            <a:ext cx="4114800" cy="9144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0" name="Google Shape;710;p22"/>
          <p:cNvGrpSpPr/>
          <p:nvPr/>
        </p:nvGrpSpPr>
        <p:grpSpPr>
          <a:xfrm>
            <a:off x="667512" y="3340387"/>
            <a:ext cx="585216" cy="585216"/>
            <a:chOff x="667512" y="3895344"/>
            <a:chExt cx="585216" cy="585216"/>
          </a:xfrm>
        </p:grpSpPr>
        <p:sp>
          <p:nvSpPr>
            <p:cNvPr id="711" name="Google Shape;711;p22"/>
            <p:cNvSpPr/>
            <p:nvPr/>
          </p:nvSpPr>
          <p:spPr>
            <a:xfrm>
              <a:off x="667512" y="3895344"/>
              <a:ext cx="585216" cy="585216"/>
            </a:xfrm>
            <a:prstGeom prst="ellipse">
              <a:avLst/>
            </a:prstGeom>
            <a:solidFill>
              <a:srgbClr val="EEF1FF"/>
            </a:solidFill>
            <a:ln cap="flat" cmpd="sng" w="12700">
              <a:solidFill>
                <a:srgbClr val="EEF1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712" name="Google Shape;712;p2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69925" y="3997757"/>
              <a:ext cx="380390" cy="3803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3" name="Google Shape;713;p22"/>
          <p:cNvSpPr/>
          <p:nvPr/>
        </p:nvSpPr>
        <p:spPr>
          <a:xfrm>
            <a:off x="1417320" y="3266513"/>
            <a:ext cx="301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51B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451B2"/>
                </a:solidFill>
                <a:latin typeface="Calibri"/>
                <a:ea typeface="Calibri"/>
                <a:cs typeface="Calibri"/>
                <a:sym typeface="Calibri"/>
              </a:rPr>
              <a:t>Test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2"/>
          <p:cNvSpPr/>
          <p:nvPr/>
        </p:nvSpPr>
        <p:spPr>
          <a:xfrm>
            <a:off x="1417320" y="3610316"/>
            <a:ext cx="3017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Prepared input data needed to execute test cases accurately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2"/>
          <p:cNvSpPr/>
          <p:nvPr/>
        </p:nvSpPr>
        <p:spPr>
          <a:xfrm>
            <a:off x="4892045" y="3177279"/>
            <a:ext cx="4114800" cy="9144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6" name="Google Shape;716;p22"/>
          <p:cNvGrpSpPr/>
          <p:nvPr/>
        </p:nvGrpSpPr>
        <p:grpSpPr>
          <a:xfrm>
            <a:off x="5102352" y="3340387"/>
            <a:ext cx="585216" cy="585216"/>
            <a:chOff x="5102352" y="3895344"/>
            <a:chExt cx="585216" cy="585216"/>
          </a:xfrm>
        </p:grpSpPr>
        <p:sp>
          <p:nvSpPr>
            <p:cNvPr id="717" name="Google Shape;717;p22"/>
            <p:cNvSpPr/>
            <p:nvPr/>
          </p:nvSpPr>
          <p:spPr>
            <a:xfrm>
              <a:off x="5102352" y="3895344"/>
              <a:ext cx="585216" cy="585216"/>
            </a:xfrm>
            <a:prstGeom prst="ellipse">
              <a:avLst/>
            </a:prstGeom>
            <a:solidFill>
              <a:srgbClr val="FFF3E0"/>
            </a:solidFill>
            <a:ln cap="flat" cmpd="sng" w="12700">
              <a:solidFill>
                <a:srgbClr val="FFF3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718" name="Google Shape;718;p2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204765" y="3997757"/>
              <a:ext cx="380390" cy="3803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9" name="Google Shape;719;p22"/>
          <p:cNvSpPr/>
          <p:nvPr/>
        </p:nvSpPr>
        <p:spPr>
          <a:xfrm>
            <a:off x="5852160" y="3266513"/>
            <a:ext cx="301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Test Execution Report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2"/>
          <p:cNvSpPr/>
          <p:nvPr/>
        </p:nvSpPr>
        <p:spPr>
          <a:xfrm>
            <a:off x="5852160" y="3610316"/>
            <a:ext cx="3017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Summary of runs: pass/fail counts, defects found, coverage percentage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2"/>
          <p:cNvSpPr/>
          <p:nvPr/>
        </p:nvSpPr>
        <p:spPr>
          <a:xfrm>
            <a:off x="457200" y="4168825"/>
            <a:ext cx="8549700" cy="9144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2" name="Google Shape;722;p22"/>
          <p:cNvGrpSpPr/>
          <p:nvPr/>
        </p:nvGrpSpPr>
        <p:grpSpPr>
          <a:xfrm>
            <a:off x="667512" y="4344362"/>
            <a:ext cx="585216" cy="585216"/>
            <a:chOff x="667512" y="5102352"/>
            <a:chExt cx="585216" cy="585216"/>
          </a:xfrm>
        </p:grpSpPr>
        <p:sp>
          <p:nvSpPr>
            <p:cNvPr id="723" name="Google Shape;723;p22"/>
            <p:cNvSpPr/>
            <p:nvPr/>
          </p:nvSpPr>
          <p:spPr>
            <a:xfrm>
              <a:off x="667512" y="5102352"/>
              <a:ext cx="585216" cy="585216"/>
            </a:xfrm>
            <a:prstGeom prst="ellipse">
              <a:avLst/>
            </a:prstGeom>
            <a:solidFill>
              <a:srgbClr val="FFEBEE"/>
            </a:solidFill>
            <a:ln cap="flat" cmpd="sng" w="12700">
              <a:solidFill>
                <a:srgbClr val="FFEB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724" name="Google Shape;724;p2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9925" y="5204765"/>
              <a:ext cx="380390" cy="3803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25" name="Google Shape;725;p22"/>
          <p:cNvSpPr/>
          <p:nvPr/>
        </p:nvSpPr>
        <p:spPr>
          <a:xfrm>
            <a:off x="1417320" y="4270489"/>
            <a:ext cx="7132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001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70015"/>
                </a:solidFill>
                <a:latin typeface="Calibri"/>
                <a:ea typeface="Calibri"/>
                <a:cs typeface="Calibri"/>
                <a:sym typeface="Calibri"/>
              </a:rPr>
              <a:t>Test Coverage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2"/>
          <p:cNvSpPr/>
          <p:nvPr/>
        </p:nvSpPr>
        <p:spPr>
          <a:xfrm>
            <a:off x="1417320" y="4614291"/>
            <a:ext cx="7132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Measure of how many requirements or code paths are covered by tests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3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Qualities of a Best Test Case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A test case is only as good as what it reveals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3"/>
          <p:cNvSpPr/>
          <p:nvPr/>
        </p:nvSpPr>
        <p:spPr>
          <a:xfrm>
            <a:off x="457200" y="1078992"/>
            <a:ext cx="8229600" cy="182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23"/>
          <p:cNvSpPr/>
          <p:nvPr/>
        </p:nvSpPr>
        <p:spPr>
          <a:xfrm>
            <a:off x="457200" y="1261872"/>
            <a:ext cx="4114800" cy="7498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23"/>
          <p:cNvSpPr/>
          <p:nvPr/>
        </p:nvSpPr>
        <p:spPr>
          <a:xfrm>
            <a:off x="457200" y="1261872"/>
            <a:ext cx="54864" cy="749808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23"/>
          <p:cNvSpPr/>
          <p:nvPr/>
        </p:nvSpPr>
        <p:spPr>
          <a:xfrm>
            <a:off x="658368" y="1335024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1.  Clear Preconditions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3"/>
          <p:cNvSpPr/>
          <p:nvPr/>
        </p:nvSpPr>
        <p:spPr>
          <a:xfrm>
            <a:off x="658368" y="1645920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State the exact setup — user logged in, data loaded, feature enabled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3"/>
          <p:cNvSpPr/>
          <p:nvPr/>
        </p:nvSpPr>
        <p:spPr>
          <a:xfrm>
            <a:off x="4800600" y="1261872"/>
            <a:ext cx="4114800" cy="7498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23"/>
          <p:cNvSpPr/>
          <p:nvPr/>
        </p:nvSpPr>
        <p:spPr>
          <a:xfrm>
            <a:off x="4800600" y="1261872"/>
            <a:ext cx="54864" cy="749808"/>
          </a:xfrm>
          <a:prstGeom prst="rect">
            <a:avLst/>
          </a:prstGeom>
          <a:solidFill>
            <a:srgbClr val="28A745"/>
          </a:solidFill>
          <a:ln cap="flat" cmpd="sng" w="127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23"/>
          <p:cNvSpPr/>
          <p:nvPr/>
        </p:nvSpPr>
        <p:spPr>
          <a:xfrm>
            <a:off x="5001768" y="1335024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2.  Single Expected Result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3"/>
          <p:cNvSpPr/>
          <p:nvPr/>
        </p:nvSpPr>
        <p:spPr>
          <a:xfrm>
            <a:off x="5001768" y="1645920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One clear pass/fail outcome — no ambiguity about what 'pass' means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3"/>
          <p:cNvSpPr/>
          <p:nvPr/>
        </p:nvSpPr>
        <p:spPr>
          <a:xfrm>
            <a:off x="457200" y="2157984"/>
            <a:ext cx="4114800" cy="7498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23"/>
          <p:cNvSpPr/>
          <p:nvPr/>
        </p:nvSpPr>
        <p:spPr>
          <a:xfrm>
            <a:off x="457200" y="2157984"/>
            <a:ext cx="54864" cy="749808"/>
          </a:xfrm>
          <a:prstGeom prst="rect">
            <a:avLst/>
          </a:prstGeom>
          <a:solidFill>
            <a:srgbClr val="00999E"/>
          </a:solidFill>
          <a:ln cap="flat" cmpd="sng" w="12700">
            <a:solidFill>
              <a:srgbClr val="00999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23"/>
          <p:cNvSpPr/>
          <p:nvPr/>
        </p:nvSpPr>
        <p:spPr>
          <a:xfrm>
            <a:off x="658368" y="2231136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3.  Atomic &amp; Independent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3"/>
          <p:cNvSpPr/>
          <p:nvPr/>
        </p:nvSpPr>
        <p:spPr>
          <a:xfrm>
            <a:off x="658368" y="254203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Tests one thing; does not depend on another test case passing first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3"/>
          <p:cNvSpPr/>
          <p:nvPr/>
        </p:nvSpPr>
        <p:spPr>
          <a:xfrm>
            <a:off x="4800600" y="2157984"/>
            <a:ext cx="4114800" cy="7498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23"/>
          <p:cNvSpPr/>
          <p:nvPr/>
        </p:nvSpPr>
        <p:spPr>
          <a:xfrm>
            <a:off x="4800600" y="2157984"/>
            <a:ext cx="54864" cy="749808"/>
          </a:xfrm>
          <a:prstGeom prst="rect">
            <a:avLst/>
          </a:prstGeom>
          <a:solidFill>
            <a:srgbClr val="9B59B6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23"/>
          <p:cNvSpPr/>
          <p:nvPr/>
        </p:nvSpPr>
        <p:spPr>
          <a:xfrm>
            <a:off x="5001768" y="2231136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4.  Reproducible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3"/>
          <p:cNvSpPr/>
          <p:nvPr/>
        </p:nvSpPr>
        <p:spPr>
          <a:xfrm>
            <a:off x="5001768" y="254203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Any tester, on any day, running the same steps gets the same result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3"/>
          <p:cNvSpPr/>
          <p:nvPr/>
        </p:nvSpPr>
        <p:spPr>
          <a:xfrm>
            <a:off x="457200" y="3054096"/>
            <a:ext cx="4114800" cy="7498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23"/>
          <p:cNvSpPr/>
          <p:nvPr/>
        </p:nvSpPr>
        <p:spPr>
          <a:xfrm>
            <a:off x="457200" y="3054096"/>
            <a:ext cx="54864" cy="749808"/>
          </a:xfrm>
          <a:prstGeom prst="rect">
            <a:avLst/>
          </a:prstGeom>
          <a:solidFill>
            <a:srgbClr val="E8820C"/>
          </a:solidFill>
          <a:ln cap="flat" cmpd="sng" w="1270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23"/>
          <p:cNvSpPr/>
          <p:nvPr/>
        </p:nvSpPr>
        <p:spPr>
          <a:xfrm>
            <a:off x="658368" y="3127248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5.  Includes Test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3"/>
          <p:cNvSpPr/>
          <p:nvPr/>
        </p:nvSpPr>
        <p:spPr>
          <a:xfrm>
            <a:off x="658368" y="3438144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Specifies exact input values — not 'enter a valid email' but 'user@test.com'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3"/>
          <p:cNvSpPr/>
          <p:nvPr/>
        </p:nvSpPr>
        <p:spPr>
          <a:xfrm>
            <a:off x="4800600" y="3054096"/>
            <a:ext cx="4114800" cy="7498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23"/>
          <p:cNvSpPr/>
          <p:nvPr/>
        </p:nvSpPr>
        <p:spPr>
          <a:xfrm>
            <a:off x="4800600" y="3054096"/>
            <a:ext cx="54864" cy="749808"/>
          </a:xfrm>
          <a:prstGeom prst="rect">
            <a:avLst/>
          </a:prstGeom>
          <a:solidFill>
            <a:srgbClr val="3451B2"/>
          </a:solidFill>
          <a:ln cap="flat" cmpd="sng" w="12700">
            <a:solidFill>
              <a:srgbClr val="3451B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23"/>
          <p:cNvSpPr/>
          <p:nvPr/>
        </p:nvSpPr>
        <p:spPr>
          <a:xfrm>
            <a:off x="5001768" y="3127248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6.  Traces to Requirement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3"/>
          <p:cNvSpPr/>
          <p:nvPr/>
        </p:nvSpPr>
        <p:spPr>
          <a:xfrm>
            <a:off x="5001768" y="3438144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Every test case links to at least one documented requirement (RTM)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3"/>
          <p:cNvSpPr/>
          <p:nvPr/>
        </p:nvSpPr>
        <p:spPr>
          <a:xfrm>
            <a:off x="457200" y="3950208"/>
            <a:ext cx="4114800" cy="7498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23"/>
          <p:cNvSpPr/>
          <p:nvPr/>
        </p:nvSpPr>
        <p:spPr>
          <a:xfrm>
            <a:off x="457200" y="3950208"/>
            <a:ext cx="54864" cy="749808"/>
          </a:xfrm>
          <a:prstGeom prst="rect">
            <a:avLst/>
          </a:prstGeom>
          <a:solidFill>
            <a:srgbClr val="D70015"/>
          </a:solidFill>
          <a:ln cap="flat" cmpd="sng" w="12700">
            <a:solidFill>
              <a:srgbClr val="D7001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23"/>
          <p:cNvSpPr/>
          <p:nvPr/>
        </p:nvSpPr>
        <p:spPr>
          <a:xfrm>
            <a:off x="658368" y="4023360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7.  Covers Negative Paths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3"/>
          <p:cNvSpPr/>
          <p:nvPr/>
        </p:nvSpPr>
        <p:spPr>
          <a:xfrm>
            <a:off x="658368" y="4334256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Explicitly tests what should NOT work — invalid inputs, error states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3"/>
          <p:cNvSpPr/>
          <p:nvPr/>
        </p:nvSpPr>
        <p:spPr>
          <a:xfrm>
            <a:off x="4800600" y="3950208"/>
            <a:ext cx="4114800" cy="7498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23"/>
          <p:cNvSpPr/>
          <p:nvPr/>
        </p:nvSpPr>
        <p:spPr>
          <a:xfrm>
            <a:off x="4800600" y="3950208"/>
            <a:ext cx="54864" cy="749808"/>
          </a:xfrm>
          <a:prstGeom prst="rect">
            <a:avLst/>
          </a:prstGeom>
          <a:solidFill>
            <a:srgbClr val="28A745"/>
          </a:solidFill>
          <a:ln cap="flat" cmpd="sng" w="127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23"/>
          <p:cNvSpPr/>
          <p:nvPr/>
        </p:nvSpPr>
        <p:spPr>
          <a:xfrm>
            <a:off x="5001768" y="4023360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8.  Maintainable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3"/>
          <p:cNvSpPr/>
          <p:nvPr/>
        </p:nvSpPr>
        <p:spPr>
          <a:xfrm>
            <a:off x="5001768" y="4334256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Written clearly enough that it can be updated when requirements change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24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Qualities of a Best Bug Report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A good bug report gets fixed. A poor one gets closed as 'Cannot Reproduce'.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4"/>
          <p:cNvSpPr/>
          <p:nvPr/>
        </p:nvSpPr>
        <p:spPr>
          <a:xfrm>
            <a:off x="457200" y="1078992"/>
            <a:ext cx="8229600" cy="182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24"/>
          <p:cNvSpPr/>
          <p:nvPr/>
        </p:nvSpPr>
        <p:spPr>
          <a:xfrm>
            <a:off x="457200" y="1261872"/>
            <a:ext cx="4114800" cy="7498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24"/>
          <p:cNvSpPr/>
          <p:nvPr/>
        </p:nvSpPr>
        <p:spPr>
          <a:xfrm>
            <a:off x="457200" y="1261872"/>
            <a:ext cx="54864" cy="749808"/>
          </a:xfrm>
          <a:prstGeom prst="rect">
            <a:avLst/>
          </a:prstGeom>
          <a:solidFill>
            <a:srgbClr val="D70015"/>
          </a:solidFill>
          <a:ln cap="flat" cmpd="sng" w="12700">
            <a:solidFill>
              <a:srgbClr val="D7001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24"/>
          <p:cNvSpPr/>
          <p:nvPr/>
        </p:nvSpPr>
        <p:spPr>
          <a:xfrm>
            <a:off x="658368" y="1335024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Descriptive Title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4"/>
          <p:cNvSpPr/>
          <p:nvPr/>
        </p:nvSpPr>
        <p:spPr>
          <a:xfrm>
            <a:off x="658368" y="1645920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Summarises the bug in one line: 'Vendor can submit invoice without PO number'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4"/>
          <p:cNvSpPr/>
          <p:nvPr/>
        </p:nvSpPr>
        <p:spPr>
          <a:xfrm>
            <a:off x="4800600" y="1261872"/>
            <a:ext cx="4114800" cy="7498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24"/>
          <p:cNvSpPr/>
          <p:nvPr/>
        </p:nvSpPr>
        <p:spPr>
          <a:xfrm>
            <a:off x="4800600" y="1261872"/>
            <a:ext cx="54864" cy="749808"/>
          </a:xfrm>
          <a:prstGeom prst="rect">
            <a:avLst/>
          </a:prstGeom>
          <a:solidFill>
            <a:srgbClr val="E8820C"/>
          </a:solidFill>
          <a:ln cap="flat" cmpd="sng" w="1270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24"/>
          <p:cNvSpPr/>
          <p:nvPr/>
        </p:nvSpPr>
        <p:spPr>
          <a:xfrm>
            <a:off x="5001768" y="1335024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Steps to Reproduce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4"/>
          <p:cNvSpPr/>
          <p:nvPr/>
        </p:nvSpPr>
        <p:spPr>
          <a:xfrm>
            <a:off x="5001768" y="1645920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Exact numbered steps any developer can follow to see the bug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4"/>
          <p:cNvSpPr/>
          <p:nvPr/>
        </p:nvSpPr>
        <p:spPr>
          <a:xfrm>
            <a:off x="457200" y="2157984"/>
            <a:ext cx="4114800" cy="7498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24"/>
          <p:cNvSpPr/>
          <p:nvPr/>
        </p:nvSpPr>
        <p:spPr>
          <a:xfrm>
            <a:off x="457200" y="2157984"/>
            <a:ext cx="54864" cy="749808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24"/>
          <p:cNvSpPr/>
          <p:nvPr/>
        </p:nvSpPr>
        <p:spPr>
          <a:xfrm>
            <a:off x="658368" y="2231136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Expected vs Actual Result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4"/>
          <p:cNvSpPr/>
          <p:nvPr/>
        </p:nvSpPr>
        <p:spPr>
          <a:xfrm>
            <a:off x="658368" y="254203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What SHOULD happen vs what DOES happen — side by side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4"/>
          <p:cNvSpPr/>
          <p:nvPr/>
        </p:nvSpPr>
        <p:spPr>
          <a:xfrm>
            <a:off x="4800600" y="2157984"/>
            <a:ext cx="4114800" cy="7498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24"/>
          <p:cNvSpPr/>
          <p:nvPr/>
        </p:nvSpPr>
        <p:spPr>
          <a:xfrm>
            <a:off x="4800600" y="2157984"/>
            <a:ext cx="54864" cy="749808"/>
          </a:xfrm>
          <a:prstGeom prst="rect">
            <a:avLst/>
          </a:prstGeom>
          <a:solidFill>
            <a:srgbClr val="9B59B6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24"/>
          <p:cNvSpPr/>
          <p:nvPr/>
        </p:nvSpPr>
        <p:spPr>
          <a:xfrm>
            <a:off x="5001768" y="2231136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Environment Details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4"/>
          <p:cNvSpPr/>
          <p:nvPr/>
        </p:nvSpPr>
        <p:spPr>
          <a:xfrm>
            <a:off x="5001768" y="254203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Browser, OS, device, app version, test environment (staging/UAT)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4"/>
          <p:cNvSpPr/>
          <p:nvPr/>
        </p:nvSpPr>
        <p:spPr>
          <a:xfrm>
            <a:off x="457200" y="3054096"/>
            <a:ext cx="4114800" cy="7498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24"/>
          <p:cNvSpPr/>
          <p:nvPr/>
        </p:nvSpPr>
        <p:spPr>
          <a:xfrm>
            <a:off x="457200" y="3054096"/>
            <a:ext cx="54864" cy="749808"/>
          </a:xfrm>
          <a:prstGeom prst="rect">
            <a:avLst/>
          </a:prstGeom>
          <a:solidFill>
            <a:srgbClr val="28A745"/>
          </a:solidFill>
          <a:ln cap="flat" cmpd="sng" w="127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24"/>
          <p:cNvSpPr/>
          <p:nvPr/>
        </p:nvSpPr>
        <p:spPr>
          <a:xfrm>
            <a:off x="658368" y="3127248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Screenshots / Logs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4"/>
          <p:cNvSpPr/>
          <p:nvPr/>
        </p:nvSpPr>
        <p:spPr>
          <a:xfrm>
            <a:off x="658368" y="3438144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Attach evidence: screenshot, API response, error log — always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4"/>
          <p:cNvSpPr/>
          <p:nvPr/>
        </p:nvSpPr>
        <p:spPr>
          <a:xfrm>
            <a:off x="4800600" y="3054096"/>
            <a:ext cx="4114800" cy="7498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24"/>
          <p:cNvSpPr/>
          <p:nvPr/>
        </p:nvSpPr>
        <p:spPr>
          <a:xfrm>
            <a:off x="4800600" y="3054096"/>
            <a:ext cx="54864" cy="749808"/>
          </a:xfrm>
          <a:prstGeom prst="rect">
            <a:avLst/>
          </a:prstGeom>
          <a:solidFill>
            <a:srgbClr val="00999E"/>
          </a:solidFill>
          <a:ln cap="flat" cmpd="sng" w="12700">
            <a:solidFill>
              <a:srgbClr val="00999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24"/>
          <p:cNvSpPr/>
          <p:nvPr/>
        </p:nvSpPr>
        <p:spPr>
          <a:xfrm>
            <a:off x="5001768" y="3127248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Severity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4"/>
          <p:cNvSpPr/>
          <p:nvPr/>
        </p:nvSpPr>
        <p:spPr>
          <a:xfrm>
            <a:off x="5001768" y="3438144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Impact of the bug: Critical / High / Medium / 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4"/>
          <p:cNvSpPr/>
          <p:nvPr/>
        </p:nvSpPr>
        <p:spPr>
          <a:xfrm>
            <a:off x="457200" y="3950208"/>
            <a:ext cx="4114800" cy="7498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24"/>
          <p:cNvSpPr/>
          <p:nvPr/>
        </p:nvSpPr>
        <p:spPr>
          <a:xfrm>
            <a:off x="457200" y="3950208"/>
            <a:ext cx="54864" cy="749808"/>
          </a:xfrm>
          <a:prstGeom prst="rect">
            <a:avLst/>
          </a:prstGeom>
          <a:solidFill>
            <a:srgbClr val="3451B2"/>
          </a:solidFill>
          <a:ln cap="flat" cmpd="sng" w="12700">
            <a:solidFill>
              <a:srgbClr val="3451B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24"/>
          <p:cNvSpPr/>
          <p:nvPr/>
        </p:nvSpPr>
        <p:spPr>
          <a:xfrm>
            <a:off x="658368" y="4023360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Priority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4"/>
          <p:cNvSpPr/>
          <p:nvPr/>
        </p:nvSpPr>
        <p:spPr>
          <a:xfrm>
            <a:off x="658368" y="4334256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Urgency of the fix: P1 (fix now) to P4 (fix eventually)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4"/>
          <p:cNvSpPr/>
          <p:nvPr/>
        </p:nvSpPr>
        <p:spPr>
          <a:xfrm>
            <a:off x="4800600" y="3950208"/>
            <a:ext cx="4114800" cy="7498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24"/>
          <p:cNvSpPr/>
          <p:nvPr/>
        </p:nvSpPr>
        <p:spPr>
          <a:xfrm>
            <a:off x="4800600" y="3950208"/>
            <a:ext cx="54864" cy="749808"/>
          </a:xfrm>
          <a:prstGeom prst="rect">
            <a:avLst/>
          </a:prstGeom>
          <a:solidFill>
            <a:srgbClr val="E8820C"/>
          </a:solidFill>
          <a:ln cap="flat" cmpd="sng" w="1270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24"/>
          <p:cNvSpPr/>
          <p:nvPr/>
        </p:nvSpPr>
        <p:spPr>
          <a:xfrm>
            <a:off x="5001768" y="4023360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Reproducibility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4"/>
          <p:cNvSpPr/>
          <p:nvPr/>
        </p:nvSpPr>
        <p:spPr>
          <a:xfrm>
            <a:off x="5001768" y="4334256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Does it happen always, sometimes, or only in certain conditions?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25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Sample Requirements Traceability Matrix (RTM)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5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Linking every requirement to its test cases — proving coverage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5"/>
          <p:cNvSpPr/>
          <p:nvPr/>
        </p:nvSpPr>
        <p:spPr>
          <a:xfrm>
            <a:off x="457200" y="1078992"/>
            <a:ext cx="8229600" cy="182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25"/>
          <p:cNvSpPr/>
          <p:nvPr/>
        </p:nvSpPr>
        <p:spPr>
          <a:xfrm>
            <a:off x="457200" y="1261872"/>
            <a:ext cx="914400" cy="475488"/>
          </a:xfrm>
          <a:prstGeom prst="rect">
            <a:avLst/>
          </a:prstGeom>
          <a:solidFill>
            <a:srgbClr val="1D1D1F"/>
          </a:solidFill>
          <a:ln cap="flat" cmpd="sng" w="12700">
            <a:solidFill>
              <a:srgbClr val="1D1D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25"/>
          <p:cNvSpPr/>
          <p:nvPr/>
        </p:nvSpPr>
        <p:spPr>
          <a:xfrm>
            <a:off x="512064" y="1261872"/>
            <a:ext cx="8046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 ID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5"/>
          <p:cNvSpPr/>
          <p:nvPr/>
        </p:nvSpPr>
        <p:spPr>
          <a:xfrm>
            <a:off x="1371600" y="1261872"/>
            <a:ext cx="2468880" cy="475488"/>
          </a:xfrm>
          <a:prstGeom prst="rect">
            <a:avLst/>
          </a:prstGeom>
          <a:solidFill>
            <a:srgbClr val="1D1D1F"/>
          </a:solidFill>
          <a:ln cap="flat" cmpd="sng" w="12700">
            <a:solidFill>
              <a:srgbClr val="1D1D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25"/>
          <p:cNvSpPr/>
          <p:nvPr/>
        </p:nvSpPr>
        <p:spPr>
          <a:xfrm>
            <a:off x="1426464" y="1261872"/>
            <a:ext cx="23591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Requirement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5"/>
          <p:cNvSpPr/>
          <p:nvPr/>
        </p:nvSpPr>
        <p:spPr>
          <a:xfrm>
            <a:off x="3840480" y="1261872"/>
            <a:ext cx="1828800" cy="475488"/>
          </a:xfrm>
          <a:prstGeom prst="rect">
            <a:avLst/>
          </a:prstGeom>
          <a:solidFill>
            <a:srgbClr val="1D1D1F"/>
          </a:solidFill>
          <a:ln cap="flat" cmpd="sng" w="12700">
            <a:solidFill>
              <a:srgbClr val="1D1D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25"/>
          <p:cNvSpPr/>
          <p:nvPr/>
        </p:nvSpPr>
        <p:spPr>
          <a:xfrm>
            <a:off x="3895344" y="1261872"/>
            <a:ext cx="17190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Scenario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5"/>
          <p:cNvSpPr/>
          <p:nvPr/>
        </p:nvSpPr>
        <p:spPr>
          <a:xfrm>
            <a:off x="5669280" y="1261872"/>
            <a:ext cx="1463040" cy="475488"/>
          </a:xfrm>
          <a:prstGeom prst="rect">
            <a:avLst/>
          </a:prstGeom>
          <a:solidFill>
            <a:srgbClr val="1D1D1F"/>
          </a:solidFill>
          <a:ln cap="flat" cmpd="sng" w="12700">
            <a:solidFill>
              <a:srgbClr val="1D1D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25"/>
          <p:cNvSpPr/>
          <p:nvPr/>
        </p:nvSpPr>
        <p:spPr>
          <a:xfrm>
            <a:off x="5724144" y="1261872"/>
            <a:ext cx="13533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Case ID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5"/>
          <p:cNvSpPr/>
          <p:nvPr/>
        </p:nvSpPr>
        <p:spPr>
          <a:xfrm>
            <a:off x="7132320" y="1261872"/>
            <a:ext cx="822960" cy="475488"/>
          </a:xfrm>
          <a:prstGeom prst="rect">
            <a:avLst/>
          </a:prstGeom>
          <a:solidFill>
            <a:srgbClr val="1D1D1F"/>
          </a:solidFill>
          <a:ln cap="flat" cmpd="sng" w="12700">
            <a:solidFill>
              <a:srgbClr val="1D1D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25"/>
          <p:cNvSpPr/>
          <p:nvPr/>
        </p:nvSpPr>
        <p:spPr>
          <a:xfrm>
            <a:off x="7187184" y="1261872"/>
            <a:ext cx="7132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5"/>
          <p:cNvSpPr/>
          <p:nvPr/>
        </p:nvSpPr>
        <p:spPr>
          <a:xfrm>
            <a:off x="7955280" y="1261872"/>
            <a:ext cx="731520" cy="475488"/>
          </a:xfrm>
          <a:prstGeom prst="rect">
            <a:avLst/>
          </a:prstGeom>
          <a:solidFill>
            <a:srgbClr val="1D1D1F"/>
          </a:solidFill>
          <a:ln cap="flat" cmpd="sng" w="12700">
            <a:solidFill>
              <a:srgbClr val="1D1D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25"/>
          <p:cNvSpPr/>
          <p:nvPr/>
        </p:nvSpPr>
        <p:spPr>
          <a:xfrm>
            <a:off x="8010144" y="1261872"/>
            <a:ext cx="6217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Pass/Fail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5"/>
          <p:cNvSpPr/>
          <p:nvPr/>
        </p:nvSpPr>
        <p:spPr>
          <a:xfrm>
            <a:off x="457200" y="1737360"/>
            <a:ext cx="91440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25"/>
          <p:cNvSpPr/>
          <p:nvPr/>
        </p:nvSpPr>
        <p:spPr>
          <a:xfrm>
            <a:off x="512064" y="1737360"/>
            <a:ext cx="8046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REQ-01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5"/>
          <p:cNvSpPr/>
          <p:nvPr/>
        </p:nvSpPr>
        <p:spPr>
          <a:xfrm>
            <a:off x="1371600" y="1737360"/>
            <a:ext cx="246888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25"/>
          <p:cNvSpPr/>
          <p:nvPr/>
        </p:nvSpPr>
        <p:spPr>
          <a:xfrm>
            <a:off x="1426464" y="1737360"/>
            <a:ext cx="23591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Vendor shall register and log 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5"/>
          <p:cNvSpPr/>
          <p:nvPr/>
        </p:nvSpPr>
        <p:spPr>
          <a:xfrm>
            <a:off x="3840480" y="1737360"/>
            <a:ext cx="182880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25"/>
          <p:cNvSpPr/>
          <p:nvPr/>
        </p:nvSpPr>
        <p:spPr>
          <a:xfrm>
            <a:off x="3895344" y="1737360"/>
            <a:ext cx="17190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Vendor Login Flow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5"/>
          <p:cNvSpPr/>
          <p:nvPr/>
        </p:nvSpPr>
        <p:spPr>
          <a:xfrm>
            <a:off x="5669280" y="1737360"/>
            <a:ext cx="146304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25"/>
          <p:cNvSpPr/>
          <p:nvPr/>
        </p:nvSpPr>
        <p:spPr>
          <a:xfrm>
            <a:off x="5724144" y="1737360"/>
            <a:ext cx="13533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TC-001, TC-002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5"/>
          <p:cNvSpPr/>
          <p:nvPr/>
        </p:nvSpPr>
        <p:spPr>
          <a:xfrm>
            <a:off x="7132320" y="1737360"/>
            <a:ext cx="82296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25"/>
          <p:cNvSpPr/>
          <p:nvPr/>
        </p:nvSpPr>
        <p:spPr>
          <a:xfrm>
            <a:off x="7187184" y="1737360"/>
            <a:ext cx="7132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Executed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25"/>
          <p:cNvSpPr/>
          <p:nvPr/>
        </p:nvSpPr>
        <p:spPr>
          <a:xfrm>
            <a:off x="7955280" y="1737360"/>
            <a:ext cx="73152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25"/>
          <p:cNvSpPr/>
          <p:nvPr/>
        </p:nvSpPr>
        <p:spPr>
          <a:xfrm>
            <a:off x="8010144" y="1737360"/>
            <a:ext cx="6217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25"/>
          <p:cNvSpPr/>
          <p:nvPr/>
        </p:nvSpPr>
        <p:spPr>
          <a:xfrm>
            <a:off x="457200" y="2212848"/>
            <a:ext cx="914400" cy="475488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25"/>
          <p:cNvSpPr/>
          <p:nvPr/>
        </p:nvSpPr>
        <p:spPr>
          <a:xfrm>
            <a:off x="512064" y="2212848"/>
            <a:ext cx="8046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REQ-02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5"/>
          <p:cNvSpPr/>
          <p:nvPr/>
        </p:nvSpPr>
        <p:spPr>
          <a:xfrm>
            <a:off x="1371600" y="2212848"/>
            <a:ext cx="2468880" cy="475488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25"/>
          <p:cNvSpPr/>
          <p:nvPr/>
        </p:nvSpPr>
        <p:spPr>
          <a:xfrm>
            <a:off x="1426464" y="2212848"/>
            <a:ext cx="23591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Vendors can submit invoices against POs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5"/>
          <p:cNvSpPr/>
          <p:nvPr/>
        </p:nvSpPr>
        <p:spPr>
          <a:xfrm>
            <a:off x="3840480" y="2212848"/>
            <a:ext cx="1828800" cy="475488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25"/>
          <p:cNvSpPr/>
          <p:nvPr/>
        </p:nvSpPr>
        <p:spPr>
          <a:xfrm>
            <a:off x="3895344" y="2212848"/>
            <a:ext cx="17190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Invoice Submission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5"/>
          <p:cNvSpPr/>
          <p:nvPr/>
        </p:nvSpPr>
        <p:spPr>
          <a:xfrm>
            <a:off x="5669280" y="2212848"/>
            <a:ext cx="1463040" cy="475488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25"/>
          <p:cNvSpPr/>
          <p:nvPr/>
        </p:nvSpPr>
        <p:spPr>
          <a:xfrm>
            <a:off x="5724144" y="2212848"/>
            <a:ext cx="13533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TC-010 to TC-018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5"/>
          <p:cNvSpPr/>
          <p:nvPr/>
        </p:nvSpPr>
        <p:spPr>
          <a:xfrm>
            <a:off x="7132320" y="2212848"/>
            <a:ext cx="822960" cy="475488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25"/>
          <p:cNvSpPr/>
          <p:nvPr/>
        </p:nvSpPr>
        <p:spPr>
          <a:xfrm>
            <a:off x="7187184" y="2212848"/>
            <a:ext cx="7132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Executed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25"/>
          <p:cNvSpPr/>
          <p:nvPr/>
        </p:nvSpPr>
        <p:spPr>
          <a:xfrm>
            <a:off x="7955280" y="2212848"/>
            <a:ext cx="731520" cy="475488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25"/>
          <p:cNvSpPr/>
          <p:nvPr/>
        </p:nvSpPr>
        <p:spPr>
          <a:xfrm>
            <a:off x="8010144" y="2212848"/>
            <a:ext cx="6217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001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70015"/>
                </a:solidFill>
                <a:latin typeface="Calibri"/>
                <a:ea typeface="Calibri"/>
                <a:cs typeface="Calibri"/>
                <a:sym typeface="Calibri"/>
              </a:rPr>
              <a:t>Fail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5"/>
          <p:cNvSpPr/>
          <p:nvPr/>
        </p:nvSpPr>
        <p:spPr>
          <a:xfrm>
            <a:off x="457200" y="2688336"/>
            <a:ext cx="91440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25"/>
          <p:cNvSpPr/>
          <p:nvPr/>
        </p:nvSpPr>
        <p:spPr>
          <a:xfrm>
            <a:off x="512064" y="2688336"/>
            <a:ext cx="8046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REQ-03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25"/>
          <p:cNvSpPr/>
          <p:nvPr/>
        </p:nvSpPr>
        <p:spPr>
          <a:xfrm>
            <a:off x="1371600" y="2688336"/>
            <a:ext cx="246888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25"/>
          <p:cNvSpPr/>
          <p:nvPr/>
        </p:nvSpPr>
        <p:spPr>
          <a:xfrm>
            <a:off x="1426464" y="2688336"/>
            <a:ext cx="23591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AP team can approve or reject invoices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25"/>
          <p:cNvSpPr/>
          <p:nvPr/>
        </p:nvSpPr>
        <p:spPr>
          <a:xfrm>
            <a:off x="3840480" y="2688336"/>
            <a:ext cx="182880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25"/>
          <p:cNvSpPr/>
          <p:nvPr/>
        </p:nvSpPr>
        <p:spPr>
          <a:xfrm>
            <a:off x="3895344" y="2688336"/>
            <a:ext cx="17190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AP Approval Workflow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25"/>
          <p:cNvSpPr/>
          <p:nvPr/>
        </p:nvSpPr>
        <p:spPr>
          <a:xfrm>
            <a:off x="5669280" y="2688336"/>
            <a:ext cx="146304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25"/>
          <p:cNvSpPr/>
          <p:nvPr/>
        </p:nvSpPr>
        <p:spPr>
          <a:xfrm>
            <a:off x="5724144" y="2688336"/>
            <a:ext cx="13533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TC-020 to TC-025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25"/>
          <p:cNvSpPr/>
          <p:nvPr/>
        </p:nvSpPr>
        <p:spPr>
          <a:xfrm>
            <a:off x="7132320" y="2688336"/>
            <a:ext cx="82296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25"/>
          <p:cNvSpPr/>
          <p:nvPr/>
        </p:nvSpPr>
        <p:spPr>
          <a:xfrm>
            <a:off x="7187184" y="2688336"/>
            <a:ext cx="7132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In Progress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25"/>
          <p:cNvSpPr/>
          <p:nvPr/>
        </p:nvSpPr>
        <p:spPr>
          <a:xfrm>
            <a:off x="7955280" y="2688336"/>
            <a:ext cx="73152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25"/>
          <p:cNvSpPr/>
          <p:nvPr/>
        </p:nvSpPr>
        <p:spPr>
          <a:xfrm>
            <a:off x="8010144" y="2688336"/>
            <a:ext cx="6217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AEB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EAEB2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25"/>
          <p:cNvSpPr/>
          <p:nvPr/>
        </p:nvSpPr>
        <p:spPr>
          <a:xfrm>
            <a:off x="457200" y="3163824"/>
            <a:ext cx="914400" cy="475488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25"/>
          <p:cNvSpPr/>
          <p:nvPr/>
        </p:nvSpPr>
        <p:spPr>
          <a:xfrm>
            <a:off x="512064" y="3163824"/>
            <a:ext cx="8046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REQ-04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25"/>
          <p:cNvSpPr/>
          <p:nvPr/>
        </p:nvSpPr>
        <p:spPr>
          <a:xfrm>
            <a:off x="1371600" y="3163824"/>
            <a:ext cx="2468880" cy="475488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25"/>
          <p:cNvSpPr/>
          <p:nvPr/>
        </p:nvSpPr>
        <p:spPr>
          <a:xfrm>
            <a:off x="1426464" y="3163824"/>
            <a:ext cx="23591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Approved invoices forwarded for payment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25"/>
          <p:cNvSpPr/>
          <p:nvPr/>
        </p:nvSpPr>
        <p:spPr>
          <a:xfrm>
            <a:off x="3840480" y="3163824"/>
            <a:ext cx="1828800" cy="475488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25"/>
          <p:cNvSpPr/>
          <p:nvPr/>
        </p:nvSpPr>
        <p:spPr>
          <a:xfrm>
            <a:off x="3895344" y="3163824"/>
            <a:ext cx="17190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Payment Processing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25"/>
          <p:cNvSpPr/>
          <p:nvPr/>
        </p:nvSpPr>
        <p:spPr>
          <a:xfrm>
            <a:off x="5669280" y="3163824"/>
            <a:ext cx="1463040" cy="475488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25"/>
          <p:cNvSpPr/>
          <p:nvPr/>
        </p:nvSpPr>
        <p:spPr>
          <a:xfrm>
            <a:off x="5724144" y="3163824"/>
            <a:ext cx="13533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TC-030, TC-031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5"/>
          <p:cNvSpPr/>
          <p:nvPr/>
        </p:nvSpPr>
        <p:spPr>
          <a:xfrm>
            <a:off x="7132320" y="3163824"/>
            <a:ext cx="822960" cy="475488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25"/>
          <p:cNvSpPr/>
          <p:nvPr/>
        </p:nvSpPr>
        <p:spPr>
          <a:xfrm>
            <a:off x="7187184" y="3163824"/>
            <a:ext cx="7132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AEB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EAEB2"/>
                </a:solidFill>
                <a:latin typeface="Calibri"/>
                <a:ea typeface="Calibri"/>
                <a:cs typeface="Calibri"/>
                <a:sym typeface="Calibri"/>
              </a:rPr>
              <a:t>Not Started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25"/>
          <p:cNvSpPr/>
          <p:nvPr/>
        </p:nvSpPr>
        <p:spPr>
          <a:xfrm>
            <a:off x="7955280" y="3163824"/>
            <a:ext cx="731520" cy="475488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25"/>
          <p:cNvSpPr/>
          <p:nvPr/>
        </p:nvSpPr>
        <p:spPr>
          <a:xfrm>
            <a:off x="8010144" y="3163824"/>
            <a:ext cx="6217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AEB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EAEB2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25"/>
          <p:cNvSpPr/>
          <p:nvPr/>
        </p:nvSpPr>
        <p:spPr>
          <a:xfrm>
            <a:off x="457200" y="3639312"/>
            <a:ext cx="91440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25"/>
          <p:cNvSpPr/>
          <p:nvPr/>
        </p:nvSpPr>
        <p:spPr>
          <a:xfrm>
            <a:off x="512064" y="3639312"/>
            <a:ext cx="8046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REQ-05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25"/>
          <p:cNvSpPr/>
          <p:nvPr/>
        </p:nvSpPr>
        <p:spPr>
          <a:xfrm>
            <a:off x="1371600" y="3639312"/>
            <a:ext cx="246888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25"/>
          <p:cNvSpPr/>
          <p:nvPr/>
        </p:nvSpPr>
        <p:spPr>
          <a:xfrm>
            <a:off x="1426464" y="3639312"/>
            <a:ext cx="23591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Email notifications on status changes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25"/>
          <p:cNvSpPr/>
          <p:nvPr/>
        </p:nvSpPr>
        <p:spPr>
          <a:xfrm>
            <a:off x="3840480" y="3639312"/>
            <a:ext cx="182880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25"/>
          <p:cNvSpPr/>
          <p:nvPr/>
        </p:nvSpPr>
        <p:spPr>
          <a:xfrm>
            <a:off x="3895344" y="3639312"/>
            <a:ext cx="17190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Notification Trigger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5"/>
          <p:cNvSpPr/>
          <p:nvPr/>
        </p:nvSpPr>
        <p:spPr>
          <a:xfrm>
            <a:off x="5669280" y="3639312"/>
            <a:ext cx="146304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25"/>
          <p:cNvSpPr/>
          <p:nvPr/>
        </p:nvSpPr>
        <p:spPr>
          <a:xfrm>
            <a:off x="5724144" y="3639312"/>
            <a:ext cx="13533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TC-040 to TC-045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25"/>
          <p:cNvSpPr/>
          <p:nvPr/>
        </p:nvSpPr>
        <p:spPr>
          <a:xfrm>
            <a:off x="7132320" y="3639312"/>
            <a:ext cx="82296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25"/>
          <p:cNvSpPr/>
          <p:nvPr/>
        </p:nvSpPr>
        <p:spPr>
          <a:xfrm>
            <a:off x="7187184" y="3639312"/>
            <a:ext cx="7132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Executed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25"/>
          <p:cNvSpPr/>
          <p:nvPr/>
        </p:nvSpPr>
        <p:spPr>
          <a:xfrm>
            <a:off x="7955280" y="3639312"/>
            <a:ext cx="73152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25"/>
          <p:cNvSpPr/>
          <p:nvPr/>
        </p:nvSpPr>
        <p:spPr>
          <a:xfrm>
            <a:off x="8010144" y="3639312"/>
            <a:ext cx="6217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25"/>
          <p:cNvSpPr/>
          <p:nvPr/>
        </p:nvSpPr>
        <p:spPr>
          <a:xfrm>
            <a:off x="457200" y="4114800"/>
            <a:ext cx="914400" cy="475488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25"/>
          <p:cNvSpPr/>
          <p:nvPr/>
        </p:nvSpPr>
        <p:spPr>
          <a:xfrm>
            <a:off x="512064" y="4114800"/>
            <a:ext cx="8046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REQ-07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25"/>
          <p:cNvSpPr/>
          <p:nvPr/>
        </p:nvSpPr>
        <p:spPr>
          <a:xfrm>
            <a:off x="1371600" y="4114800"/>
            <a:ext cx="2468880" cy="475488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25"/>
          <p:cNvSpPr/>
          <p:nvPr/>
        </p:nvSpPr>
        <p:spPr>
          <a:xfrm>
            <a:off x="1426464" y="4114800"/>
            <a:ext cx="23591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Only authorized users access the system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25"/>
          <p:cNvSpPr/>
          <p:nvPr/>
        </p:nvSpPr>
        <p:spPr>
          <a:xfrm>
            <a:off x="3840480" y="4114800"/>
            <a:ext cx="1828800" cy="475488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25"/>
          <p:cNvSpPr/>
          <p:nvPr/>
        </p:nvSpPr>
        <p:spPr>
          <a:xfrm>
            <a:off x="3895344" y="4114800"/>
            <a:ext cx="17190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Access Control / RBAC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5"/>
          <p:cNvSpPr/>
          <p:nvPr/>
        </p:nvSpPr>
        <p:spPr>
          <a:xfrm>
            <a:off x="5669280" y="4114800"/>
            <a:ext cx="1463040" cy="475488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25"/>
          <p:cNvSpPr/>
          <p:nvPr/>
        </p:nvSpPr>
        <p:spPr>
          <a:xfrm>
            <a:off x="5724144" y="4114800"/>
            <a:ext cx="13533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TC-060 to TC-068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25"/>
          <p:cNvSpPr/>
          <p:nvPr/>
        </p:nvSpPr>
        <p:spPr>
          <a:xfrm>
            <a:off x="7132320" y="4114800"/>
            <a:ext cx="822960" cy="475488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25"/>
          <p:cNvSpPr/>
          <p:nvPr/>
        </p:nvSpPr>
        <p:spPr>
          <a:xfrm>
            <a:off x="7187184" y="4114800"/>
            <a:ext cx="7132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Executed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5"/>
          <p:cNvSpPr/>
          <p:nvPr/>
        </p:nvSpPr>
        <p:spPr>
          <a:xfrm>
            <a:off x="7955280" y="4114800"/>
            <a:ext cx="731520" cy="475488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25"/>
          <p:cNvSpPr/>
          <p:nvPr/>
        </p:nvSpPr>
        <p:spPr>
          <a:xfrm>
            <a:off x="8010144" y="4114800"/>
            <a:ext cx="6217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25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The RTM ensures every requirement has at least one test case, and every test case traces back to a requirement.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1D1F"/>
        </a:solidFill>
      </p:bgPr>
    </p:bg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26"/>
          <p:cNvSpPr/>
          <p:nvPr/>
        </p:nvSpPr>
        <p:spPr>
          <a:xfrm>
            <a:off x="5943600" y="274320"/>
            <a:ext cx="29260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C2C2E"/>
              </a:buClr>
              <a:buSzPts val="18000"/>
              <a:buFont typeface="Calibri"/>
              <a:buNone/>
            </a:pPr>
            <a:r>
              <a:rPr b="1" i="0" lang="en-US" sz="18000" u="none" cap="none" strike="noStrike">
                <a:solidFill>
                  <a:srgbClr val="2C2C2E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26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8820C"/>
          </a:solidFill>
          <a:ln cap="flat" cmpd="sng" w="1270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26"/>
          <p:cNvSpPr/>
          <p:nvPr/>
        </p:nvSpPr>
        <p:spPr>
          <a:xfrm>
            <a:off x="548640" y="384048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04  /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26"/>
          <p:cNvSpPr/>
          <p:nvPr/>
        </p:nvSpPr>
        <p:spPr>
          <a:xfrm>
            <a:off x="548640" y="749808"/>
            <a:ext cx="7498080" cy="18288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1980000" dist="28575">
              <a:schemeClr val="lt1">
                <a:alpha val="73000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26"/>
          <p:cNvSpPr/>
          <p:nvPr/>
        </p:nvSpPr>
        <p:spPr>
          <a:xfrm>
            <a:off x="548640" y="2670048"/>
            <a:ext cx="4572000" cy="22860"/>
          </a:xfrm>
          <a:prstGeom prst="rect">
            <a:avLst/>
          </a:prstGeom>
          <a:solidFill>
            <a:srgbClr val="E8820C"/>
          </a:solidFill>
          <a:ln cap="flat" cmpd="sng" w="1270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26"/>
          <p:cNvSpPr/>
          <p:nvPr/>
        </p:nvSpPr>
        <p:spPr>
          <a:xfrm>
            <a:off x="548640" y="2788920"/>
            <a:ext cx="7498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AEB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EAEB2"/>
                </a:solidFill>
                <a:latin typeface="Calibri"/>
                <a:ea typeface="Calibri"/>
                <a:cs typeface="Calibri"/>
                <a:sym typeface="Calibri"/>
              </a:rPr>
              <a:t>Levels, pyramid, limitations — the theoretical foundations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27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Testing Levels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27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A structured approach — from smallest unit to full user acceptance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7"/>
          <p:cNvSpPr/>
          <p:nvPr/>
        </p:nvSpPr>
        <p:spPr>
          <a:xfrm>
            <a:off x="457200" y="1078992"/>
            <a:ext cx="8229600" cy="182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27"/>
          <p:cNvSpPr/>
          <p:nvPr/>
        </p:nvSpPr>
        <p:spPr>
          <a:xfrm>
            <a:off x="457200" y="1261872"/>
            <a:ext cx="8229600" cy="8229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27"/>
          <p:cNvSpPr/>
          <p:nvPr/>
        </p:nvSpPr>
        <p:spPr>
          <a:xfrm>
            <a:off x="457200" y="1261872"/>
            <a:ext cx="658368" cy="82296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27"/>
          <p:cNvSpPr/>
          <p:nvPr/>
        </p:nvSpPr>
        <p:spPr>
          <a:xfrm>
            <a:off x="457200" y="1316736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Level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7"/>
          <p:cNvSpPr/>
          <p:nvPr/>
        </p:nvSpPr>
        <p:spPr>
          <a:xfrm>
            <a:off x="1234440" y="1335024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Unit 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27"/>
          <p:cNvSpPr/>
          <p:nvPr/>
        </p:nvSpPr>
        <p:spPr>
          <a:xfrm>
            <a:off x="1234440" y="17190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Tests individual functions, methods, or components in isolation.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27"/>
          <p:cNvSpPr/>
          <p:nvPr/>
        </p:nvSpPr>
        <p:spPr>
          <a:xfrm>
            <a:off x="4572000" y="1353312"/>
            <a:ext cx="18288" cy="640080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27"/>
          <p:cNvSpPr/>
          <p:nvPr/>
        </p:nvSpPr>
        <p:spPr>
          <a:xfrm>
            <a:off x="4681728" y="135331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Who: Developers  |  Tools: JUnit, NUnit, Jest, PyTest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27"/>
          <p:cNvSpPr/>
          <p:nvPr/>
        </p:nvSpPr>
        <p:spPr>
          <a:xfrm>
            <a:off x="4681728" y="1700784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Example: Test that calculateTax(100, 18) returns 118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27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27"/>
          <p:cNvSpPr/>
          <p:nvPr/>
        </p:nvSpPr>
        <p:spPr>
          <a:xfrm>
            <a:off x="457200" y="2194560"/>
            <a:ext cx="658368" cy="822960"/>
          </a:xfrm>
          <a:prstGeom prst="rect">
            <a:avLst/>
          </a:prstGeom>
          <a:solidFill>
            <a:srgbClr val="00999E"/>
          </a:solidFill>
          <a:ln cap="flat" cmpd="sng" w="12700">
            <a:solidFill>
              <a:srgbClr val="00999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27"/>
          <p:cNvSpPr/>
          <p:nvPr/>
        </p:nvSpPr>
        <p:spPr>
          <a:xfrm>
            <a:off x="457200" y="2249424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Level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27"/>
          <p:cNvSpPr/>
          <p:nvPr/>
        </p:nvSpPr>
        <p:spPr>
          <a:xfrm>
            <a:off x="1234440" y="2267712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Integration 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27"/>
          <p:cNvSpPr/>
          <p:nvPr/>
        </p:nvSpPr>
        <p:spPr>
          <a:xfrm>
            <a:off x="1234440" y="265176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Tests the interaction between two or more modules or services.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27"/>
          <p:cNvSpPr/>
          <p:nvPr/>
        </p:nvSpPr>
        <p:spPr>
          <a:xfrm>
            <a:off x="4572000" y="2286000"/>
            <a:ext cx="18288" cy="640080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27"/>
          <p:cNvSpPr/>
          <p:nvPr/>
        </p:nvSpPr>
        <p:spPr>
          <a:xfrm>
            <a:off x="4681728" y="228600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9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999E"/>
                </a:solidFill>
                <a:latin typeface="Calibri"/>
                <a:ea typeface="Calibri"/>
                <a:cs typeface="Calibri"/>
                <a:sym typeface="Calibri"/>
              </a:rPr>
              <a:t>Who: Developers + QA  |  Tools: Postman, RestAssured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27"/>
          <p:cNvSpPr/>
          <p:nvPr/>
        </p:nvSpPr>
        <p:spPr>
          <a:xfrm>
            <a:off x="4681728" y="263347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Example: Test that invoice submission correctly writes to the database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27"/>
          <p:cNvSpPr/>
          <p:nvPr/>
        </p:nvSpPr>
        <p:spPr>
          <a:xfrm>
            <a:off x="457200" y="3127248"/>
            <a:ext cx="8229600" cy="8229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27"/>
          <p:cNvSpPr/>
          <p:nvPr/>
        </p:nvSpPr>
        <p:spPr>
          <a:xfrm>
            <a:off x="457200" y="3127248"/>
            <a:ext cx="658368" cy="822960"/>
          </a:xfrm>
          <a:prstGeom prst="rect">
            <a:avLst/>
          </a:prstGeom>
          <a:solidFill>
            <a:srgbClr val="E8820C"/>
          </a:solidFill>
          <a:ln cap="flat" cmpd="sng" w="1270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27"/>
          <p:cNvSpPr/>
          <p:nvPr/>
        </p:nvSpPr>
        <p:spPr>
          <a:xfrm>
            <a:off x="457200" y="3182112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Level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27"/>
          <p:cNvSpPr/>
          <p:nvPr/>
        </p:nvSpPr>
        <p:spPr>
          <a:xfrm>
            <a:off x="1234440" y="320040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System 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27"/>
          <p:cNvSpPr/>
          <p:nvPr/>
        </p:nvSpPr>
        <p:spPr>
          <a:xfrm>
            <a:off x="1234440" y="3584448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Tests the complete, integrated system against all requirements.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27"/>
          <p:cNvSpPr/>
          <p:nvPr/>
        </p:nvSpPr>
        <p:spPr>
          <a:xfrm>
            <a:off x="4572000" y="3218688"/>
            <a:ext cx="18288" cy="640080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27"/>
          <p:cNvSpPr/>
          <p:nvPr/>
        </p:nvSpPr>
        <p:spPr>
          <a:xfrm>
            <a:off x="4681728" y="321868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Who: QA Team  |  Tools: Selenium, Cypress, manual testing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27"/>
          <p:cNvSpPr/>
          <p:nvPr/>
        </p:nvSpPr>
        <p:spPr>
          <a:xfrm>
            <a:off x="4681728" y="356616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Example: End-to-end invoice portal workflow from login to payment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27"/>
          <p:cNvSpPr/>
          <p:nvPr/>
        </p:nvSpPr>
        <p:spPr>
          <a:xfrm>
            <a:off x="457200" y="4059936"/>
            <a:ext cx="8229600" cy="8229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27"/>
          <p:cNvSpPr/>
          <p:nvPr/>
        </p:nvSpPr>
        <p:spPr>
          <a:xfrm>
            <a:off x="457200" y="4059936"/>
            <a:ext cx="658368" cy="822960"/>
          </a:xfrm>
          <a:prstGeom prst="rect">
            <a:avLst/>
          </a:prstGeom>
          <a:solidFill>
            <a:srgbClr val="28A745"/>
          </a:solidFill>
          <a:ln cap="flat" cmpd="sng" w="127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27"/>
          <p:cNvSpPr/>
          <p:nvPr/>
        </p:nvSpPr>
        <p:spPr>
          <a:xfrm>
            <a:off x="457200" y="4114800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Level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27"/>
          <p:cNvSpPr/>
          <p:nvPr/>
        </p:nvSpPr>
        <p:spPr>
          <a:xfrm>
            <a:off x="1234440" y="4133088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Acceptance 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27"/>
          <p:cNvSpPr/>
          <p:nvPr/>
        </p:nvSpPr>
        <p:spPr>
          <a:xfrm>
            <a:off x="1234440" y="4517136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Validates the product against business expectations and user needs.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27"/>
          <p:cNvSpPr/>
          <p:nvPr/>
        </p:nvSpPr>
        <p:spPr>
          <a:xfrm>
            <a:off x="4572000" y="4151376"/>
            <a:ext cx="18288" cy="640080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27"/>
          <p:cNvSpPr/>
          <p:nvPr/>
        </p:nvSpPr>
        <p:spPr>
          <a:xfrm>
            <a:off x="4681728" y="4151376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Who: Business / End users (UAT)  |  Done before Go-Live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27"/>
          <p:cNvSpPr/>
          <p:nvPr/>
        </p:nvSpPr>
        <p:spPr>
          <a:xfrm>
            <a:off x="4681728" y="449884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Example: Client team verifies the invoice portal meets their process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28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The Testing Pyramid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28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Test more at lower levels — faster, cheaper, more reliable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28"/>
          <p:cNvSpPr/>
          <p:nvPr/>
        </p:nvSpPr>
        <p:spPr>
          <a:xfrm>
            <a:off x="457200" y="1078992"/>
            <a:ext cx="8229600" cy="182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28"/>
          <p:cNvSpPr/>
          <p:nvPr/>
        </p:nvSpPr>
        <p:spPr>
          <a:xfrm>
            <a:off x="3383280" y="2011680"/>
            <a:ext cx="2377440" cy="713232"/>
          </a:xfrm>
          <a:prstGeom prst="rect">
            <a:avLst/>
          </a:prstGeom>
          <a:solidFill>
            <a:srgbClr val="D70015"/>
          </a:solidFill>
          <a:ln cap="flat" cmpd="sng" w="12700">
            <a:solidFill>
              <a:srgbClr val="D7001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28"/>
          <p:cNvSpPr/>
          <p:nvPr/>
        </p:nvSpPr>
        <p:spPr>
          <a:xfrm>
            <a:off x="3383280" y="2066544"/>
            <a:ext cx="2377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E2</a:t>
            </a: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/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UI Tests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28"/>
          <p:cNvSpPr/>
          <p:nvPr/>
        </p:nvSpPr>
        <p:spPr>
          <a:xfrm>
            <a:off x="3383280" y="241401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Few · Slow · Expensive · High confidence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28"/>
          <p:cNvSpPr/>
          <p:nvPr/>
        </p:nvSpPr>
        <p:spPr>
          <a:xfrm>
            <a:off x="2514600" y="2743200"/>
            <a:ext cx="4114800" cy="713232"/>
          </a:xfrm>
          <a:prstGeom prst="rect">
            <a:avLst/>
          </a:prstGeom>
          <a:solidFill>
            <a:srgbClr val="E8820C"/>
          </a:solidFill>
          <a:ln cap="flat" cmpd="sng" w="1270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28"/>
          <p:cNvSpPr/>
          <p:nvPr/>
        </p:nvSpPr>
        <p:spPr>
          <a:xfrm>
            <a:off x="2514600" y="2798064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Integration Tests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28"/>
          <p:cNvSpPr/>
          <p:nvPr/>
        </p:nvSpPr>
        <p:spPr>
          <a:xfrm>
            <a:off x="2514600" y="314553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Some · Medium speed · Service boundaries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28"/>
          <p:cNvSpPr/>
          <p:nvPr/>
        </p:nvSpPr>
        <p:spPr>
          <a:xfrm>
            <a:off x="1600200" y="3474720"/>
            <a:ext cx="5943600" cy="713232"/>
          </a:xfrm>
          <a:prstGeom prst="rect">
            <a:avLst/>
          </a:prstGeom>
          <a:solidFill>
            <a:srgbClr val="28A745"/>
          </a:solidFill>
          <a:ln cap="flat" cmpd="sng" w="127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28"/>
          <p:cNvSpPr/>
          <p:nvPr/>
        </p:nvSpPr>
        <p:spPr>
          <a:xfrm>
            <a:off x="1600200" y="3529584"/>
            <a:ext cx="5943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Unit Tests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28"/>
          <p:cNvSpPr/>
          <p:nvPr/>
        </p:nvSpPr>
        <p:spPr>
          <a:xfrm>
            <a:off x="1600200" y="3877056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Many · Fast · Cheap · Code-level coverage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28"/>
          <p:cNvSpPr/>
          <p:nvPr/>
        </p:nvSpPr>
        <p:spPr>
          <a:xfrm>
            <a:off x="274320" y="28346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← Wider = More tests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28"/>
          <p:cNvSpPr/>
          <p:nvPr/>
        </p:nvSpPr>
        <p:spPr>
          <a:xfrm>
            <a:off x="6858000" y="28346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Narrower = Fewer 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28"/>
          <p:cNvSpPr/>
          <p:nvPr/>
        </p:nvSpPr>
        <p:spPr>
          <a:xfrm>
            <a:off x="457200" y="4434840"/>
            <a:ext cx="8229600" cy="621792"/>
          </a:xfrm>
          <a:prstGeom prst="rect">
            <a:avLst/>
          </a:prstGeom>
          <a:solidFill>
            <a:srgbClr val="FAFAFA"/>
          </a:solidFill>
          <a:ln cap="flat" cmpd="sng" w="1015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28"/>
          <p:cNvSpPr/>
          <p:nvPr/>
        </p:nvSpPr>
        <p:spPr>
          <a:xfrm>
            <a:off x="640080" y="4498848"/>
            <a:ext cx="7863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The higher you test in the pyramid, the more expensive, slower, and fragile the test becomes. Invest heavily at the bottom.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29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Limitations of QA / Testing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29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Testing can find bugs — it cannot prove their absence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29"/>
          <p:cNvSpPr/>
          <p:nvPr/>
        </p:nvSpPr>
        <p:spPr>
          <a:xfrm>
            <a:off x="457200" y="1078992"/>
            <a:ext cx="8229600" cy="182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29"/>
          <p:cNvSpPr/>
          <p:nvPr/>
        </p:nvSpPr>
        <p:spPr>
          <a:xfrm>
            <a:off x="457200" y="1234440"/>
            <a:ext cx="8229600" cy="658368"/>
          </a:xfrm>
          <a:prstGeom prst="rect">
            <a:avLst/>
          </a:prstGeom>
          <a:solidFill>
            <a:srgbClr val="FFEBEE"/>
          </a:solidFill>
          <a:ln cap="flat" cmpd="sng" w="10150">
            <a:solidFill>
              <a:srgbClr val="D7001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29"/>
          <p:cNvSpPr/>
          <p:nvPr/>
        </p:nvSpPr>
        <p:spPr>
          <a:xfrm>
            <a:off x="640080" y="1298448"/>
            <a:ext cx="7863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0015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D70015"/>
                </a:solidFill>
                <a:latin typeface="Calibri"/>
                <a:ea typeface="Calibri"/>
                <a:cs typeface="Calibri"/>
                <a:sym typeface="Calibri"/>
              </a:rPr>
              <a:t>"Testing shows the presence of defects, not the absence of them."  — Edsger W. Dijkstra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29"/>
          <p:cNvSpPr/>
          <p:nvPr/>
        </p:nvSpPr>
        <p:spPr>
          <a:xfrm>
            <a:off x="457200" y="2057400"/>
            <a:ext cx="2633472" cy="14173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29"/>
          <p:cNvSpPr/>
          <p:nvPr/>
        </p:nvSpPr>
        <p:spPr>
          <a:xfrm>
            <a:off x="457200" y="2057400"/>
            <a:ext cx="2633472" cy="54864"/>
          </a:xfrm>
          <a:prstGeom prst="rect">
            <a:avLst/>
          </a:prstGeom>
          <a:solidFill>
            <a:srgbClr val="D70015"/>
          </a:solidFill>
          <a:ln cap="flat" cmpd="sng" w="12700">
            <a:solidFill>
              <a:srgbClr val="D7001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29"/>
          <p:cNvSpPr/>
          <p:nvPr/>
        </p:nvSpPr>
        <p:spPr>
          <a:xfrm>
            <a:off x="1499616" y="2221992"/>
            <a:ext cx="548640" cy="548640"/>
          </a:xfrm>
          <a:prstGeom prst="ellipse">
            <a:avLst/>
          </a:prstGeom>
          <a:solidFill>
            <a:srgbClr val="FFEBEE"/>
          </a:solidFill>
          <a:ln cap="flat" cmpd="sng" w="12700">
            <a:solidFill>
              <a:srgbClr val="FFEB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5" name="Google Shape;98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5628" y="2318004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29"/>
          <p:cNvSpPr/>
          <p:nvPr/>
        </p:nvSpPr>
        <p:spPr>
          <a:xfrm>
            <a:off x="621792" y="2713181"/>
            <a:ext cx="2304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Exhaustive Testing is Impossible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29"/>
          <p:cNvSpPr/>
          <p:nvPr/>
        </p:nvSpPr>
        <p:spPr>
          <a:xfrm>
            <a:off x="621792" y="3078941"/>
            <a:ext cx="2304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You cannot test every combination of inputs, states, and paths. Prioritize by risk.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29"/>
          <p:cNvSpPr/>
          <p:nvPr/>
        </p:nvSpPr>
        <p:spPr>
          <a:xfrm>
            <a:off x="3291840" y="2057400"/>
            <a:ext cx="2633472" cy="14173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29"/>
          <p:cNvSpPr/>
          <p:nvPr/>
        </p:nvSpPr>
        <p:spPr>
          <a:xfrm>
            <a:off x="3291840" y="2057400"/>
            <a:ext cx="2633472" cy="54864"/>
          </a:xfrm>
          <a:prstGeom prst="rect">
            <a:avLst/>
          </a:prstGeom>
          <a:solidFill>
            <a:srgbClr val="E8820C"/>
          </a:solidFill>
          <a:ln cap="flat" cmpd="sng" w="1270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29"/>
          <p:cNvSpPr/>
          <p:nvPr/>
        </p:nvSpPr>
        <p:spPr>
          <a:xfrm>
            <a:off x="4334256" y="2221992"/>
            <a:ext cx="548640" cy="548640"/>
          </a:xfrm>
          <a:prstGeom prst="ellipse">
            <a:avLst/>
          </a:prstGeom>
          <a:solidFill>
            <a:srgbClr val="FFF3E0"/>
          </a:solidFill>
          <a:ln cap="flat" cmpd="sng" w="12700">
            <a:solidFill>
              <a:srgbClr val="FFF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1" name="Google Shape;99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0268" y="2318004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p29"/>
          <p:cNvSpPr/>
          <p:nvPr/>
        </p:nvSpPr>
        <p:spPr>
          <a:xfrm>
            <a:off x="3456432" y="2713181"/>
            <a:ext cx="2304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Not All Scenarios Can Be Tested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29"/>
          <p:cNvSpPr/>
          <p:nvPr/>
        </p:nvSpPr>
        <p:spPr>
          <a:xfrm>
            <a:off x="3456432" y="3078941"/>
            <a:ext cx="2304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Real-world user behaviour, data, and environment combinations are infinite.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29"/>
          <p:cNvSpPr/>
          <p:nvPr/>
        </p:nvSpPr>
        <p:spPr>
          <a:xfrm>
            <a:off x="6126480" y="2057400"/>
            <a:ext cx="2633472" cy="14173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29"/>
          <p:cNvSpPr/>
          <p:nvPr/>
        </p:nvSpPr>
        <p:spPr>
          <a:xfrm>
            <a:off x="6126480" y="2057400"/>
            <a:ext cx="2633472" cy="54864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29"/>
          <p:cNvSpPr/>
          <p:nvPr/>
        </p:nvSpPr>
        <p:spPr>
          <a:xfrm>
            <a:off x="7168896" y="2221992"/>
            <a:ext cx="548640" cy="548640"/>
          </a:xfrm>
          <a:prstGeom prst="ellipse">
            <a:avLst/>
          </a:prstGeom>
          <a:solidFill>
            <a:srgbClr val="EBF4FF"/>
          </a:solidFill>
          <a:ln cap="flat" cmpd="sng" w="12700">
            <a:solidFill>
              <a:srgbClr val="EB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7" name="Google Shape;997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64908" y="2318004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998" name="Google Shape;998;p29"/>
          <p:cNvSpPr/>
          <p:nvPr/>
        </p:nvSpPr>
        <p:spPr>
          <a:xfrm>
            <a:off x="6291072" y="2713181"/>
            <a:ext cx="2304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Human-Dependent Activity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29"/>
          <p:cNvSpPr/>
          <p:nvPr/>
        </p:nvSpPr>
        <p:spPr>
          <a:xfrm>
            <a:off x="6291072" y="3078941"/>
            <a:ext cx="2304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Testing quality depends on the tester's skill, knowledge, and experience. Bias exists.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29"/>
          <p:cNvSpPr/>
          <p:nvPr/>
        </p:nvSpPr>
        <p:spPr>
          <a:xfrm>
            <a:off x="457200" y="3675888"/>
            <a:ext cx="3931920" cy="14173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29"/>
          <p:cNvSpPr/>
          <p:nvPr/>
        </p:nvSpPr>
        <p:spPr>
          <a:xfrm>
            <a:off x="457200" y="3675888"/>
            <a:ext cx="3931920" cy="54864"/>
          </a:xfrm>
          <a:prstGeom prst="rect">
            <a:avLst/>
          </a:prstGeom>
          <a:solidFill>
            <a:srgbClr val="00999E"/>
          </a:solidFill>
          <a:ln cap="flat" cmpd="sng" w="12700">
            <a:solidFill>
              <a:srgbClr val="00999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29"/>
          <p:cNvSpPr/>
          <p:nvPr/>
        </p:nvSpPr>
        <p:spPr>
          <a:xfrm>
            <a:off x="2148840" y="3840480"/>
            <a:ext cx="548640" cy="548640"/>
          </a:xfrm>
          <a:prstGeom prst="ellipse">
            <a:avLst/>
          </a:prstGeom>
          <a:solidFill>
            <a:srgbClr val="E2F7F8"/>
          </a:solidFill>
          <a:ln cap="flat" cmpd="sng" w="12700">
            <a:solidFill>
              <a:srgbClr val="E2F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3" name="Google Shape;1003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44852" y="393649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29"/>
          <p:cNvSpPr/>
          <p:nvPr/>
        </p:nvSpPr>
        <p:spPr>
          <a:xfrm>
            <a:off x="621792" y="4345205"/>
            <a:ext cx="3602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Time-Constrained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29"/>
          <p:cNvSpPr/>
          <p:nvPr/>
        </p:nvSpPr>
        <p:spPr>
          <a:xfrm>
            <a:off x="621792" y="4710965"/>
            <a:ext cx="3602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Testing under deadline pressure often means coverage cuts. Risk-based testing mitigates this.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29"/>
          <p:cNvSpPr/>
          <p:nvPr/>
        </p:nvSpPr>
        <p:spPr>
          <a:xfrm>
            <a:off x="4663440" y="3675888"/>
            <a:ext cx="3931920" cy="14173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29"/>
          <p:cNvSpPr/>
          <p:nvPr/>
        </p:nvSpPr>
        <p:spPr>
          <a:xfrm>
            <a:off x="4663440" y="3675888"/>
            <a:ext cx="3931920" cy="54864"/>
          </a:xfrm>
          <a:prstGeom prst="rect">
            <a:avLst/>
          </a:prstGeom>
          <a:solidFill>
            <a:srgbClr val="9B59B6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29"/>
          <p:cNvSpPr/>
          <p:nvPr/>
        </p:nvSpPr>
        <p:spPr>
          <a:xfrm>
            <a:off x="6355080" y="3840480"/>
            <a:ext cx="548640" cy="548640"/>
          </a:xfrm>
          <a:prstGeom prst="ellipse">
            <a:avLst/>
          </a:prstGeom>
          <a:solidFill>
            <a:srgbClr val="F5EEFF"/>
          </a:solidFill>
          <a:ln cap="flat" cmpd="sng" w="12700">
            <a:solidFill>
              <a:srgbClr val="F5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9" name="Google Shape;1009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51092" y="393649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29"/>
          <p:cNvSpPr/>
          <p:nvPr/>
        </p:nvSpPr>
        <p:spPr>
          <a:xfrm>
            <a:off x="4828032" y="4345205"/>
            <a:ext cx="3602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Cannot Guarantee Zero Defects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29"/>
          <p:cNvSpPr/>
          <p:nvPr/>
        </p:nvSpPr>
        <p:spPr>
          <a:xfrm>
            <a:off x="4828032" y="4710965"/>
            <a:ext cx="3602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Some bugs only appear under specific production conditions, data, or user patterns.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1D1F"/>
        </a:solidFill>
      </p:bgPr>
    </p:bg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30"/>
          <p:cNvSpPr/>
          <p:nvPr/>
        </p:nvSpPr>
        <p:spPr>
          <a:xfrm>
            <a:off x="5943600" y="274320"/>
            <a:ext cx="29260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C2C2E"/>
              </a:buClr>
              <a:buSzPts val="18000"/>
              <a:buFont typeface="Calibri"/>
              <a:buNone/>
            </a:pPr>
            <a:r>
              <a:rPr b="1" i="0" lang="en-US" sz="18000" u="none" cap="none" strike="noStrike">
                <a:solidFill>
                  <a:srgbClr val="2C2C2E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3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8A745"/>
          </a:solidFill>
          <a:ln cap="flat" cmpd="sng" w="127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30"/>
          <p:cNvSpPr/>
          <p:nvPr/>
        </p:nvSpPr>
        <p:spPr>
          <a:xfrm>
            <a:off x="548640" y="384048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05  /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30"/>
          <p:cNvSpPr/>
          <p:nvPr/>
        </p:nvSpPr>
        <p:spPr>
          <a:xfrm>
            <a:off x="548640" y="749808"/>
            <a:ext cx="7498080" cy="18288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1980000" dist="28575">
              <a:schemeClr val="lt1">
                <a:alpha val="73000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QA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Mindset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30"/>
          <p:cNvSpPr/>
          <p:nvPr/>
        </p:nvSpPr>
        <p:spPr>
          <a:xfrm>
            <a:off x="548640" y="2670048"/>
            <a:ext cx="4572000" cy="22860"/>
          </a:xfrm>
          <a:prstGeom prst="rect">
            <a:avLst/>
          </a:prstGeom>
          <a:solidFill>
            <a:srgbClr val="28A745"/>
          </a:solidFill>
          <a:ln cap="flat" cmpd="sng" w="127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30"/>
          <p:cNvSpPr/>
          <p:nvPr/>
        </p:nvSpPr>
        <p:spPr>
          <a:xfrm>
            <a:off x="548640" y="2788920"/>
            <a:ext cx="7498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AEB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EAEB2"/>
                </a:solidFill>
                <a:latin typeface="Calibri"/>
                <a:ea typeface="Calibri"/>
                <a:cs typeface="Calibri"/>
                <a:sym typeface="Calibri"/>
              </a:rPr>
              <a:t>Critical thinking, customer empathy, and the traits of great QA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3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Critical Thinking in QA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3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Ask Why, not just Whether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31"/>
          <p:cNvSpPr/>
          <p:nvPr/>
        </p:nvSpPr>
        <p:spPr>
          <a:xfrm>
            <a:off x="457200" y="1078992"/>
            <a:ext cx="8229600" cy="182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31"/>
          <p:cNvSpPr/>
          <p:nvPr/>
        </p:nvSpPr>
        <p:spPr>
          <a:xfrm>
            <a:off x="457200" y="1234440"/>
            <a:ext cx="8229600" cy="658368"/>
          </a:xfrm>
          <a:prstGeom prst="rect">
            <a:avLst/>
          </a:prstGeom>
          <a:solidFill>
            <a:srgbClr val="EBF4FF"/>
          </a:solidFill>
          <a:ln cap="flat" cmpd="sng" w="1015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31"/>
          <p:cNvSpPr/>
          <p:nvPr/>
        </p:nvSpPr>
        <p:spPr>
          <a:xfrm>
            <a:off x="640080" y="1298448"/>
            <a:ext cx="7863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A bad QA asks: "Does it work?"   ·   A great QA asks: "Should it work this way?"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31"/>
          <p:cNvSpPr/>
          <p:nvPr/>
        </p:nvSpPr>
        <p:spPr>
          <a:xfrm>
            <a:off x="457200" y="2029968"/>
            <a:ext cx="8229600" cy="47548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31"/>
          <p:cNvSpPr/>
          <p:nvPr/>
        </p:nvSpPr>
        <p:spPr>
          <a:xfrm>
            <a:off x="457200" y="2029968"/>
            <a:ext cx="54864" cy="475488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31"/>
          <p:cNvSpPr/>
          <p:nvPr/>
        </p:nvSpPr>
        <p:spPr>
          <a:xfrm>
            <a:off x="658368" y="2103120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What if the user does the unexpected?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31"/>
          <p:cNvSpPr/>
          <p:nvPr/>
        </p:nvSpPr>
        <p:spPr>
          <a:xfrm>
            <a:off x="4315968" y="2103120"/>
            <a:ext cx="42245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Users break software by doing what they were never told not to do.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31"/>
          <p:cNvSpPr/>
          <p:nvPr/>
        </p:nvSpPr>
        <p:spPr>
          <a:xfrm>
            <a:off x="457200" y="2596896"/>
            <a:ext cx="8229600" cy="47548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31"/>
          <p:cNvSpPr/>
          <p:nvPr/>
        </p:nvSpPr>
        <p:spPr>
          <a:xfrm>
            <a:off x="457200" y="2596896"/>
            <a:ext cx="54864" cy="475488"/>
          </a:xfrm>
          <a:prstGeom prst="rect">
            <a:avLst/>
          </a:prstGeom>
          <a:solidFill>
            <a:srgbClr val="00999E"/>
          </a:solidFill>
          <a:ln cap="flat" cmpd="sng" w="12700">
            <a:solidFill>
              <a:srgbClr val="00999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31"/>
          <p:cNvSpPr/>
          <p:nvPr/>
        </p:nvSpPr>
        <p:spPr>
          <a:xfrm>
            <a:off x="658368" y="2670048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What if this works — but is still wrong?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31"/>
          <p:cNvSpPr/>
          <p:nvPr/>
        </p:nvSpPr>
        <p:spPr>
          <a:xfrm>
            <a:off x="4315968" y="2670048"/>
            <a:ext cx="42245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A feature can pass all tests and still miss the point entirely.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31"/>
          <p:cNvSpPr/>
          <p:nvPr/>
        </p:nvSpPr>
        <p:spPr>
          <a:xfrm>
            <a:off x="457200" y="3163824"/>
            <a:ext cx="8229600" cy="47548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31"/>
          <p:cNvSpPr/>
          <p:nvPr/>
        </p:nvSpPr>
        <p:spPr>
          <a:xfrm>
            <a:off x="457200" y="3163824"/>
            <a:ext cx="54864" cy="475488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31"/>
          <p:cNvSpPr/>
          <p:nvPr/>
        </p:nvSpPr>
        <p:spPr>
          <a:xfrm>
            <a:off x="658368" y="3236976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What if input data is malformed or late?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31"/>
          <p:cNvSpPr/>
          <p:nvPr/>
        </p:nvSpPr>
        <p:spPr>
          <a:xfrm>
            <a:off x="4315968" y="3236976"/>
            <a:ext cx="42245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Systems assume clean data. Real data is never clean.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31"/>
          <p:cNvSpPr/>
          <p:nvPr/>
        </p:nvSpPr>
        <p:spPr>
          <a:xfrm>
            <a:off x="457200" y="3730752"/>
            <a:ext cx="8229600" cy="47548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31"/>
          <p:cNvSpPr/>
          <p:nvPr/>
        </p:nvSpPr>
        <p:spPr>
          <a:xfrm>
            <a:off x="457200" y="3730752"/>
            <a:ext cx="54864" cy="475488"/>
          </a:xfrm>
          <a:prstGeom prst="rect">
            <a:avLst/>
          </a:prstGeom>
          <a:solidFill>
            <a:srgbClr val="00999E"/>
          </a:solidFill>
          <a:ln cap="flat" cmpd="sng" w="12700">
            <a:solidFill>
              <a:srgbClr val="00999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31"/>
          <p:cNvSpPr/>
          <p:nvPr/>
        </p:nvSpPr>
        <p:spPr>
          <a:xfrm>
            <a:off x="658368" y="3803904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What if two valid actions conflict?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31"/>
          <p:cNvSpPr/>
          <p:nvPr/>
        </p:nvSpPr>
        <p:spPr>
          <a:xfrm>
            <a:off x="4315968" y="3803904"/>
            <a:ext cx="42245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User edits a record while another user deletes it. What happens?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31"/>
          <p:cNvSpPr/>
          <p:nvPr/>
        </p:nvSpPr>
        <p:spPr>
          <a:xfrm>
            <a:off x="457200" y="4297680"/>
            <a:ext cx="8229600" cy="47548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31"/>
          <p:cNvSpPr/>
          <p:nvPr/>
        </p:nvSpPr>
        <p:spPr>
          <a:xfrm>
            <a:off x="457200" y="4297680"/>
            <a:ext cx="54864" cy="475488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31"/>
          <p:cNvSpPr/>
          <p:nvPr/>
        </p:nvSpPr>
        <p:spPr>
          <a:xfrm>
            <a:off x="658368" y="4370832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What if the fix breaks something else?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31"/>
          <p:cNvSpPr/>
          <p:nvPr/>
        </p:nvSpPr>
        <p:spPr>
          <a:xfrm>
            <a:off x="4315968" y="4370832"/>
            <a:ext cx="42245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Every change creates a ripple. Think regression, not just correction.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32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The Customer Mindset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3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Test as a user, not as a tester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32"/>
          <p:cNvSpPr/>
          <p:nvPr/>
        </p:nvSpPr>
        <p:spPr>
          <a:xfrm>
            <a:off x="457200" y="1078992"/>
            <a:ext cx="8229600" cy="182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32"/>
          <p:cNvSpPr/>
          <p:nvPr/>
        </p:nvSpPr>
        <p:spPr>
          <a:xfrm>
            <a:off x="457200" y="1234440"/>
            <a:ext cx="8229600" cy="658368"/>
          </a:xfrm>
          <a:prstGeom prst="rect">
            <a:avLst/>
          </a:prstGeom>
          <a:solidFill>
            <a:srgbClr val="1D1D1F"/>
          </a:solidFill>
          <a:ln cap="flat" cmpd="sng" w="10150">
            <a:solidFill>
              <a:srgbClr val="1D1D1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32"/>
          <p:cNvSpPr/>
          <p:nvPr/>
        </p:nvSpPr>
        <p:spPr>
          <a:xfrm>
            <a:off x="640080" y="1298448"/>
            <a:ext cx="7863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AEB2"/>
              </a:buClr>
              <a:buSzPts val="1400"/>
              <a:buFont typeface="Calibri"/>
              <a:buNone/>
            </a:pPr>
            <a:r>
              <a:rPr b="1" i="1" lang="en-US" sz="1400" u="none" cap="none" strike="noStrike">
                <a:solidFill>
                  <a:srgbClr val="AEAEB2"/>
                </a:solidFill>
                <a:latin typeface="Calibri"/>
                <a:ea typeface="Calibri"/>
                <a:cs typeface="Calibri"/>
                <a:sym typeface="Calibri"/>
              </a:rPr>
              <a:t>Your customer will never read a test case. They will just use the product — and judge it in seconds.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32"/>
          <p:cNvSpPr/>
          <p:nvPr/>
        </p:nvSpPr>
        <p:spPr>
          <a:xfrm>
            <a:off x="457200" y="2057400"/>
            <a:ext cx="2633472" cy="27432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32"/>
          <p:cNvSpPr/>
          <p:nvPr/>
        </p:nvSpPr>
        <p:spPr>
          <a:xfrm>
            <a:off x="457200" y="2057400"/>
            <a:ext cx="2633472" cy="54864"/>
          </a:xfrm>
          <a:prstGeom prst="rect">
            <a:avLst/>
          </a:prstGeom>
          <a:solidFill>
            <a:srgbClr val="28A745"/>
          </a:solidFill>
          <a:ln cap="flat" cmpd="sng" w="127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32"/>
          <p:cNvSpPr/>
          <p:nvPr/>
        </p:nvSpPr>
        <p:spPr>
          <a:xfrm>
            <a:off x="1389888" y="2340864"/>
            <a:ext cx="768096" cy="768096"/>
          </a:xfrm>
          <a:prstGeom prst="ellipse">
            <a:avLst/>
          </a:prstGeom>
          <a:solidFill>
            <a:srgbClr val="E8F8EE"/>
          </a:solidFill>
          <a:ln cap="flat" cmpd="sng" w="12700">
            <a:solidFill>
              <a:srgbClr val="E8F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6" name="Google Shape;106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305" y="2475281"/>
            <a:ext cx="499262" cy="499262"/>
          </a:xfrm>
          <a:prstGeom prst="rect">
            <a:avLst/>
          </a:prstGeom>
          <a:noFill/>
          <a:ln>
            <a:noFill/>
          </a:ln>
        </p:spPr>
      </p:pic>
      <p:sp>
        <p:nvSpPr>
          <p:cNvPr id="1067" name="Google Shape;1067;p32"/>
          <p:cNvSpPr/>
          <p:nvPr/>
        </p:nvSpPr>
        <p:spPr>
          <a:xfrm>
            <a:off x="621792" y="3200400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The First-Time User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32"/>
          <p:cNvSpPr/>
          <p:nvPr/>
        </p:nvSpPr>
        <p:spPr>
          <a:xfrm>
            <a:off x="621792" y="3621024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"I just want to get my job done."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32"/>
          <p:cNvSpPr/>
          <p:nvPr/>
        </p:nvSpPr>
        <p:spPr>
          <a:xfrm>
            <a:off x="621792" y="4041648"/>
            <a:ext cx="2331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Can they complete a core workflow without training or guidance?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32"/>
          <p:cNvSpPr/>
          <p:nvPr/>
        </p:nvSpPr>
        <p:spPr>
          <a:xfrm>
            <a:off x="3291840" y="2057400"/>
            <a:ext cx="2633472" cy="27432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32"/>
          <p:cNvSpPr/>
          <p:nvPr/>
        </p:nvSpPr>
        <p:spPr>
          <a:xfrm>
            <a:off x="3291840" y="2057400"/>
            <a:ext cx="2633472" cy="54864"/>
          </a:xfrm>
          <a:prstGeom prst="rect">
            <a:avLst/>
          </a:prstGeom>
          <a:solidFill>
            <a:srgbClr val="00999E"/>
          </a:solidFill>
          <a:ln cap="flat" cmpd="sng" w="12700">
            <a:solidFill>
              <a:srgbClr val="00999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32"/>
          <p:cNvSpPr/>
          <p:nvPr/>
        </p:nvSpPr>
        <p:spPr>
          <a:xfrm>
            <a:off x="4224528" y="2340864"/>
            <a:ext cx="768096" cy="768096"/>
          </a:xfrm>
          <a:prstGeom prst="ellipse">
            <a:avLst/>
          </a:prstGeom>
          <a:solidFill>
            <a:srgbClr val="E2F7F8"/>
          </a:solidFill>
          <a:ln cap="flat" cmpd="sng" w="12700">
            <a:solidFill>
              <a:srgbClr val="E2F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3" name="Google Shape;1073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8945" y="2475281"/>
            <a:ext cx="499262" cy="499262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32"/>
          <p:cNvSpPr/>
          <p:nvPr/>
        </p:nvSpPr>
        <p:spPr>
          <a:xfrm>
            <a:off x="3456432" y="3200400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The Frustrated User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32"/>
          <p:cNvSpPr/>
          <p:nvPr/>
        </p:nvSpPr>
        <p:spPr>
          <a:xfrm>
            <a:off x="3456432" y="3621024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99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0999E"/>
                </a:solidFill>
                <a:latin typeface="Calibri"/>
                <a:ea typeface="Calibri"/>
                <a:cs typeface="Calibri"/>
                <a:sym typeface="Calibri"/>
              </a:rPr>
              <a:t>"This error message makes no sense."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32"/>
          <p:cNvSpPr/>
          <p:nvPr/>
        </p:nvSpPr>
        <p:spPr>
          <a:xfrm>
            <a:off x="3456432" y="4041648"/>
            <a:ext cx="2331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Are error states clear, helpful, and recoverable?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32"/>
          <p:cNvSpPr/>
          <p:nvPr/>
        </p:nvSpPr>
        <p:spPr>
          <a:xfrm>
            <a:off x="6126480" y="2057400"/>
            <a:ext cx="2633472" cy="27432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32"/>
          <p:cNvSpPr/>
          <p:nvPr/>
        </p:nvSpPr>
        <p:spPr>
          <a:xfrm>
            <a:off x="6126480" y="2057400"/>
            <a:ext cx="2633472" cy="54864"/>
          </a:xfrm>
          <a:prstGeom prst="rect">
            <a:avLst/>
          </a:prstGeom>
          <a:solidFill>
            <a:srgbClr val="E8820C"/>
          </a:solidFill>
          <a:ln cap="flat" cmpd="sng" w="1270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32"/>
          <p:cNvSpPr/>
          <p:nvPr/>
        </p:nvSpPr>
        <p:spPr>
          <a:xfrm>
            <a:off x="7059168" y="2340864"/>
            <a:ext cx="768096" cy="768096"/>
          </a:xfrm>
          <a:prstGeom prst="ellipse">
            <a:avLst/>
          </a:prstGeom>
          <a:solidFill>
            <a:srgbClr val="FFF3E0"/>
          </a:solidFill>
          <a:ln cap="flat" cmpd="sng" w="12700">
            <a:solidFill>
              <a:srgbClr val="FFF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0" name="Google Shape;1080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93585" y="2475281"/>
            <a:ext cx="499262" cy="499262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32"/>
          <p:cNvSpPr/>
          <p:nvPr/>
        </p:nvSpPr>
        <p:spPr>
          <a:xfrm>
            <a:off x="6291072" y="3200400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The Business User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32"/>
          <p:cNvSpPr/>
          <p:nvPr/>
        </p:nvSpPr>
        <p:spPr>
          <a:xfrm>
            <a:off x="6291072" y="3621024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"I need this report by end of day."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32"/>
          <p:cNvSpPr/>
          <p:nvPr/>
        </p:nvSpPr>
        <p:spPr>
          <a:xfrm>
            <a:off x="6291072" y="4041648"/>
            <a:ext cx="2331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Does the product actually solve the business problem as defined?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33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The Great QA Engineer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3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Five traits that separate good from great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33"/>
          <p:cNvSpPr/>
          <p:nvPr/>
        </p:nvSpPr>
        <p:spPr>
          <a:xfrm>
            <a:off x="457200" y="1078992"/>
            <a:ext cx="8229600" cy="182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33"/>
          <p:cNvSpPr/>
          <p:nvPr/>
        </p:nvSpPr>
        <p:spPr>
          <a:xfrm>
            <a:off x="457200" y="1298448"/>
            <a:ext cx="8229600" cy="6583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33"/>
          <p:cNvSpPr/>
          <p:nvPr/>
        </p:nvSpPr>
        <p:spPr>
          <a:xfrm>
            <a:off x="457200" y="1298448"/>
            <a:ext cx="54864" cy="658368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33"/>
          <p:cNvSpPr/>
          <p:nvPr/>
        </p:nvSpPr>
        <p:spPr>
          <a:xfrm>
            <a:off x="731520" y="1371600"/>
            <a:ext cx="512064" cy="512064"/>
          </a:xfrm>
          <a:prstGeom prst="ellipse">
            <a:avLst/>
          </a:prstGeom>
          <a:solidFill>
            <a:srgbClr val="EBF4FF"/>
          </a:solidFill>
          <a:ln cap="flat" cmpd="sng" w="12700">
            <a:solidFill>
              <a:srgbClr val="EB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5" name="Google Shape;109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1131" y="1461211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33"/>
          <p:cNvSpPr/>
          <p:nvPr/>
        </p:nvSpPr>
        <p:spPr>
          <a:xfrm>
            <a:off x="1417320" y="137160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CURIOUS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33"/>
          <p:cNvSpPr/>
          <p:nvPr/>
        </p:nvSpPr>
        <p:spPr>
          <a:xfrm>
            <a:off x="2971800" y="1371600"/>
            <a:ext cx="55595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Questions everything. Never assumes. Finds the edge case no one thought of.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33"/>
          <p:cNvSpPr/>
          <p:nvPr/>
        </p:nvSpPr>
        <p:spPr>
          <a:xfrm>
            <a:off x="457200" y="2048256"/>
            <a:ext cx="8229600" cy="6583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33"/>
          <p:cNvSpPr/>
          <p:nvPr/>
        </p:nvSpPr>
        <p:spPr>
          <a:xfrm>
            <a:off x="457200" y="2048256"/>
            <a:ext cx="54864" cy="658368"/>
          </a:xfrm>
          <a:prstGeom prst="rect">
            <a:avLst/>
          </a:prstGeom>
          <a:solidFill>
            <a:srgbClr val="00999E"/>
          </a:solidFill>
          <a:ln cap="flat" cmpd="sng" w="12700">
            <a:solidFill>
              <a:srgbClr val="00999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33"/>
          <p:cNvSpPr/>
          <p:nvPr/>
        </p:nvSpPr>
        <p:spPr>
          <a:xfrm>
            <a:off x="731520" y="2121408"/>
            <a:ext cx="512064" cy="512064"/>
          </a:xfrm>
          <a:prstGeom prst="ellipse">
            <a:avLst/>
          </a:prstGeom>
          <a:solidFill>
            <a:srgbClr val="E2F7F8"/>
          </a:solidFill>
          <a:ln cap="flat" cmpd="sng" w="12700">
            <a:solidFill>
              <a:srgbClr val="E2F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01" name="Google Shape;110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1131" y="221101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Google Shape;1102;p33"/>
          <p:cNvSpPr/>
          <p:nvPr/>
        </p:nvSpPr>
        <p:spPr>
          <a:xfrm>
            <a:off x="1417320" y="2121408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99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999E"/>
                </a:solidFill>
                <a:latin typeface="Calibri"/>
                <a:ea typeface="Calibri"/>
                <a:cs typeface="Calibri"/>
                <a:sym typeface="Calibri"/>
              </a:rPr>
              <a:t>COMMUNICATIVE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33"/>
          <p:cNvSpPr/>
          <p:nvPr/>
        </p:nvSpPr>
        <p:spPr>
          <a:xfrm>
            <a:off x="2971800" y="2121408"/>
            <a:ext cx="55595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Raises issues clearly and constructively — with evidence, not opinions.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33"/>
          <p:cNvSpPr/>
          <p:nvPr/>
        </p:nvSpPr>
        <p:spPr>
          <a:xfrm>
            <a:off x="457200" y="2798064"/>
            <a:ext cx="8229600" cy="6583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33"/>
          <p:cNvSpPr/>
          <p:nvPr/>
        </p:nvSpPr>
        <p:spPr>
          <a:xfrm>
            <a:off x="457200" y="2798064"/>
            <a:ext cx="54864" cy="658368"/>
          </a:xfrm>
          <a:prstGeom prst="rect">
            <a:avLst/>
          </a:prstGeom>
          <a:solidFill>
            <a:srgbClr val="28A745"/>
          </a:solidFill>
          <a:ln cap="flat" cmpd="sng" w="127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33"/>
          <p:cNvSpPr/>
          <p:nvPr/>
        </p:nvSpPr>
        <p:spPr>
          <a:xfrm>
            <a:off x="731520" y="2871216"/>
            <a:ext cx="512064" cy="512064"/>
          </a:xfrm>
          <a:prstGeom prst="ellipse">
            <a:avLst/>
          </a:prstGeom>
          <a:solidFill>
            <a:srgbClr val="E8F8EE"/>
          </a:solidFill>
          <a:ln cap="flat" cmpd="sng" w="12700">
            <a:solidFill>
              <a:srgbClr val="E8F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07" name="Google Shape;1107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1131" y="2960827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108" name="Google Shape;1108;p33"/>
          <p:cNvSpPr/>
          <p:nvPr/>
        </p:nvSpPr>
        <p:spPr>
          <a:xfrm>
            <a:off x="1417320" y="2871216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COLLABORATIVE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33"/>
          <p:cNvSpPr/>
          <p:nvPr/>
        </p:nvSpPr>
        <p:spPr>
          <a:xfrm>
            <a:off x="2971800" y="2871216"/>
            <a:ext cx="55595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Partners with devs and designers — not against them.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33"/>
          <p:cNvSpPr/>
          <p:nvPr/>
        </p:nvSpPr>
        <p:spPr>
          <a:xfrm>
            <a:off x="457200" y="3547872"/>
            <a:ext cx="8229600" cy="6583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33"/>
          <p:cNvSpPr/>
          <p:nvPr/>
        </p:nvSpPr>
        <p:spPr>
          <a:xfrm>
            <a:off x="457200" y="3547872"/>
            <a:ext cx="54864" cy="658368"/>
          </a:xfrm>
          <a:prstGeom prst="rect">
            <a:avLst/>
          </a:prstGeom>
          <a:solidFill>
            <a:srgbClr val="9B59B6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33"/>
          <p:cNvSpPr/>
          <p:nvPr/>
        </p:nvSpPr>
        <p:spPr>
          <a:xfrm>
            <a:off x="731520" y="3621024"/>
            <a:ext cx="512064" cy="512064"/>
          </a:xfrm>
          <a:prstGeom prst="ellipse">
            <a:avLst/>
          </a:prstGeom>
          <a:solidFill>
            <a:srgbClr val="F5EEFF"/>
          </a:solidFill>
          <a:ln cap="flat" cmpd="sng" w="12700">
            <a:solidFill>
              <a:srgbClr val="F5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3" name="Google Shape;1113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1131" y="3710635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33"/>
          <p:cNvSpPr/>
          <p:nvPr/>
        </p:nvSpPr>
        <p:spPr>
          <a:xfrm>
            <a:off x="1417320" y="3621024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B59B6"/>
                </a:solidFill>
                <a:latin typeface="Calibri"/>
                <a:ea typeface="Calibri"/>
                <a:cs typeface="Calibri"/>
                <a:sym typeface="Calibri"/>
              </a:rPr>
              <a:t>ANALYTICAL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33"/>
          <p:cNvSpPr/>
          <p:nvPr/>
        </p:nvSpPr>
        <p:spPr>
          <a:xfrm>
            <a:off x="2971800" y="3621024"/>
            <a:ext cx="55595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Thinks in systems, edge cases, data flows, and failure modes.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33"/>
          <p:cNvSpPr/>
          <p:nvPr/>
        </p:nvSpPr>
        <p:spPr>
          <a:xfrm>
            <a:off x="457200" y="4297680"/>
            <a:ext cx="8229600" cy="6583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33"/>
          <p:cNvSpPr/>
          <p:nvPr/>
        </p:nvSpPr>
        <p:spPr>
          <a:xfrm>
            <a:off x="457200" y="4297680"/>
            <a:ext cx="54864" cy="658368"/>
          </a:xfrm>
          <a:prstGeom prst="rect">
            <a:avLst/>
          </a:prstGeom>
          <a:solidFill>
            <a:srgbClr val="E8820C"/>
          </a:solidFill>
          <a:ln cap="flat" cmpd="sng" w="1270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33"/>
          <p:cNvSpPr/>
          <p:nvPr/>
        </p:nvSpPr>
        <p:spPr>
          <a:xfrm>
            <a:off x="731520" y="4370832"/>
            <a:ext cx="512064" cy="512064"/>
          </a:xfrm>
          <a:prstGeom prst="ellipse">
            <a:avLst/>
          </a:prstGeom>
          <a:solidFill>
            <a:srgbClr val="FFF3E0"/>
          </a:solidFill>
          <a:ln cap="flat" cmpd="sng" w="12700">
            <a:solidFill>
              <a:srgbClr val="FFF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9" name="Google Shape;1119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1131" y="4460443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33"/>
          <p:cNvSpPr/>
          <p:nvPr/>
        </p:nvSpPr>
        <p:spPr>
          <a:xfrm>
            <a:off x="1417320" y="4370832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EMPATHETIC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33"/>
          <p:cNvSpPr/>
          <p:nvPr/>
        </p:nvSpPr>
        <p:spPr>
          <a:xfrm>
            <a:off x="2971800" y="4370832"/>
            <a:ext cx="55595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Always considers the real end-user's experience above test case coverage.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34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Quality as a Business Differentiator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3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QA is not a cost centre — it is a trust centre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34"/>
          <p:cNvSpPr/>
          <p:nvPr/>
        </p:nvSpPr>
        <p:spPr>
          <a:xfrm>
            <a:off x="457200" y="1078992"/>
            <a:ext cx="8229600" cy="182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34"/>
          <p:cNvSpPr/>
          <p:nvPr/>
        </p:nvSpPr>
        <p:spPr>
          <a:xfrm>
            <a:off x="457200" y="1261872"/>
            <a:ext cx="2633472" cy="19202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34"/>
          <p:cNvSpPr/>
          <p:nvPr/>
        </p:nvSpPr>
        <p:spPr>
          <a:xfrm>
            <a:off x="457200" y="1261872"/>
            <a:ext cx="2633472" cy="54864"/>
          </a:xfrm>
          <a:prstGeom prst="rect">
            <a:avLst/>
          </a:prstGeom>
          <a:solidFill>
            <a:srgbClr val="D70015"/>
          </a:solidFill>
          <a:ln cap="flat" cmpd="sng" w="12700">
            <a:solidFill>
              <a:srgbClr val="D7001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34"/>
          <p:cNvSpPr/>
          <p:nvPr/>
        </p:nvSpPr>
        <p:spPr>
          <a:xfrm>
            <a:off x="594360" y="1389888"/>
            <a:ext cx="2377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0015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D70015"/>
                </a:solidFill>
                <a:latin typeface="Calibri"/>
                <a:ea typeface="Calibri"/>
                <a:cs typeface="Calibri"/>
                <a:sym typeface="Calibri"/>
              </a:rPr>
              <a:t>$4.26M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34"/>
          <p:cNvSpPr/>
          <p:nvPr/>
        </p:nvSpPr>
        <p:spPr>
          <a:xfrm>
            <a:off x="594360" y="2450592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Average cost of a data breach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(IBM, 2024)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34"/>
          <p:cNvSpPr/>
          <p:nvPr/>
        </p:nvSpPr>
        <p:spPr>
          <a:xfrm>
            <a:off x="3291840" y="1261872"/>
            <a:ext cx="2633472" cy="19202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34"/>
          <p:cNvSpPr/>
          <p:nvPr/>
        </p:nvSpPr>
        <p:spPr>
          <a:xfrm>
            <a:off x="3291840" y="1261872"/>
            <a:ext cx="2633472" cy="54864"/>
          </a:xfrm>
          <a:prstGeom prst="rect">
            <a:avLst/>
          </a:prstGeom>
          <a:solidFill>
            <a:srgbClr val="E8820C"/>
          </a:solidFill>
          <a:ln cap="flat" cmpd="sng" w="1270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34"/>
          <p:cNvSpPr/>
          <p:nvPr/>
        </p:nvSpPr>
        <p:spPr>
          <a:xfrm>
            <a:off x="3429000" y="1389888"/>
            <a:ext cx="2377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100×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34"/>
          <p:cNvSpPr/>
          <p:nvPr/>
        </p:nvSpPr>
        <p:spPr>
          <a:xfrm>
            <a:off x="3429000" y="2450592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More expensive to fix a production bug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vs one caught in design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34"/>
          <p:cNvSpPr/>
          <p:nvPr/>
        </p:nvSpPr>
        <p:spPr>
          <a:xfrm>
            <a:off x="6126480" y="1261872"/>
            <a:ext cx="2633472" cy="19202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34"/>
          <p:cNvSpPr/>
          <p:nvPr/>
        </p:nvSpPr>
        <p:spPr>
          <a:xfrm>
            <a:off x="6126480" y="1261872"/>
            <a:ext cx="2633472" cy="54864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34"/>
          <p:cNvSpPr/>
          <p:nvPr/>
        </p:nvSpPr>
        <p:spPr>
          <a:xfrm>
            <a:off x="6263640" y="1389888"/>
            <a:ext cx="2377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89%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34"/>
          <p:cNvSpPr/>
          <p:nvPr/>
        </p:nvSpPr>
        <p:spPr>
          <a:xfrm>
            <a:off x="6263640" y="2450592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Of users stop using an app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after a single bad experience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34"/>
          <p:cNvSpPr/>
          <p:nvPr/>
        </p:nvSpPr>
        <p:spPr>
          <a:xfrm>
            <a:off x="457200" y="3383280"/>
            <a:ext cx="2633472" cy="14630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34"/>
          <p:cNvSpPr/>
          <p:nvPr/>
        </p:nvSpPr>
        <p:spPr>
          <a:xfrm>
            <a:off x="667512" y="3566160"/>
            <a:ext cx="585216" cy="585216"/>
          </a:xfrm>
          <a:prstGeom prst="ellipse">
            <a:avLst/>
          </a:prstGeom>
          <a:solidFill>
            <a:srgbClr val="EBF4FF"/>
          </a:solidFill>
          <a:ln cap="flat" cmpd="sng" w="12700">
            <a:solidFill>
              <a:srgbClr val="EB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4" name="Google Shape;114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925" y="3668573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34"/>
          <p:cNvSpPr/>
          <p:nvPr/>
        </p:nvSpPr>
        <p:spPr>
          <a:xfrm>
            <a:off x="1417320" y="3493008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Faster Releases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34"/>
          <p:cNvSpPr/>
          <p:nvPr/>
        </p:nvSpPr>
        <p:spPr>
          <a:xfrm>
            <a:off x="621792" y="3950208"/>
            <a:ext cx="2331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Fewer bugs = shorter feedback loops = faster delivery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34"/>
          <p:cNvSpPr/>
          <p:nvPr/>
        </p:nvSpPr>
        <p:spPr>
          <a:xfrm>
            <a:off x="3291840" y="3383280"/>
            <a:ext cx="2633472" cy="14630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34"/>
          <p:cNvSpPr/>
          <p:nvPr/>
        </p:nvSpPr>
        <p:spPr>
          <a:xfrm>
            <a:off x="3502152" y="3566160"/>
            <a:ext cx="585216" cy="585216"/>
          </a:xfrm>
          <a:prstGeom prst="ellipse">
            <a:avLst/>
          </a:prstGeom>
          <a:solidFill>
            <a:srgbClr val="FFF3E0"/>
          </a:solidFill>
          <a:ln cap="flat" cmpd="sng" w="12700">
            <a:solidFill>
              <a:srgbClr val="FFF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9" name="Google Shape;114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4565" y="3668573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1150" name="Google Shape;1150;p34"/>
          <p:cNvSpPr/>
          <p:nvPr/>
        </p:nvSpPr>
        <p:spPr>
          <a:xfrm>
            <a:off x="4251960" y="3493008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Brand Trust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34"/>
          <p:cNvSpPr/>
          <p:nvPr/>
        </p:nvSpPr>
        <p:spPr>
          <a:xfrm>
            <a:off x="3456432" y="3950208"/>
            <a:ext cx="2331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Users remember when things work beautifully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34"/>
          <p:cNvSpPr/>
          <p:nvPr/>
        </p:nvSpPr>
        <p:spPr>
          <a:xfrm>
            <a:off x="6126480" y="3383280"/>
            <a:ext cx="2633472" cy="14630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34"/>
          <p:cNvSpPr/>
          <p:nvPr/>
        </p:nvSpPr>
        <p:spPr>
          <a:xfrm>
            <a:off x="6336792" y="3566160"/>
            <a:ext cx="585216" cy="585216"/>
          </a:xfrm>
          <a:prstGeom prst="ellipse">
            <a:avLst/>
          </a:prstGeom>
          <a:solidFill>
            <a:srgbClr val="EEF1FF"/>
          </a:solidFill>
          <a:ln cap="flat" cmpd="sng" w="12700">
            <a:solidFill>
              <a:srgbClr val="EEF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4" name="Google Shape;1154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39205" y="3668573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1155" name="Google Shape;1155;p34"/>
          <p:cNvSpPr/>
          <p:nvPr/>
        </p:nvSpPr>
        <p:spPr>
          <a:xfrm>
            <a:off x="7086600" y="3493008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51B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451B2"/>
                </a:solidFill>
                <a:latin typeface="Calibri"/>
                <a:ea typeface="Calibri"/>
                <a:cs typeface="Calibri"/>
                <a:sym typeface="Calibri"/>
              </a:rPr>
              <a:t>Risk Mitigation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34"/>
          <p:cNvSpPr/>
          <p:nvPr/>
        </p:nvSpPr>
        <p:spPr>
          <a:xfrm>
            <a:off x="6291072" y="3950208"/>
            <a:ext cx="2331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QA surfaces compliance, security &amp; data risks early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35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35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What you should walk out of this room knowing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35"/>
          <p:cNvSpPr/>
          <p:nvPr/>
        </p:nvSpPr>
        <p:spPr>
          <a:xfrm>
            <a:off x="457200" y="1078992"/>
            <a:ext cx="8229600" cy="182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35"/>
          <p:cNvSpPr/>
          <p:nvPr/>
        </p:nvSpPr>
        <p:spPr>
          <a:xfrm>
            <a:off x="457200" y="1298448"/>
            <a:ext cx="8229600" cy="6217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35"/>
          <p:cNvSpPr/>
          <p:nvPr/>
        </p:nvSpPr>
        <p:spPr>
          <a:xfrm>
            <a:off x="457200" y="1298448"/>
            <a:ext cx="54864" cy="621792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35"/>
          <p:cNvSpPr/>
          <p:nvPr/>
        </p:nvSpPr>
        <p:spPr>
          <a:xfrm>
            <a:off x="749808" y="1371600"/>
            <a:ext cx="475488" cy="475488"/>
          </a:xfrm>
          <a:prstGeom prst="ellipse">
            <a:avLst/>
          </a:prstGeom>
          <a:solidFill>
            <a:srgbClr val="E8F8EE"/>
          </a:solidFill>
          <a:ln cap="flat" cmpd="sng" w="12700">
            <a:solidFill>
              <a:srgbClr val="E8F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8" name="Google Shape;116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018" y="1454810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169" name="Google Shape;1169;p35"/>
          <p:cNvSpPr/>
          <p:nvPr/>
        </p:nvSpPr>
        <p:spPr>
          <a:xfrm>
            <a:off x="1417320" y="1389888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QA starts at requirements — not after development is done.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35"/>
          <p:cNvSpPr/>
          <p:nvPr/>
        </p:nvSpPr>
        <p:spPr>
          <a:xfrm>
            <a:off x="457200" y="2048256"/>
            <a:ext cx="8229600" cy="6217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35"/>
          <p:cNvSpPr/>
          <p:nvPr/>
        </p:nvSpPr>
        <p:spPr>
          <a:xfrm>
            <a:off x="457200" y="2048256"/>
            <a:ext cx="54864" cy="621792"/>
          </a:xfrm>
          <a:prstGeom prst="rect">
            <a:avLst/>
          </a:prstGeom>
          <a:solidFill>
            <a:srgbClr val="00999E"/>
          </a:solidFill>
          <a:ln cap="flat" cmpd="sng" w="12700">
            <a:solidFill>
              <a:srgbClr val="00999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35"/>
          <p:cNvSpPr/>
          <p:nvPr/>
        </p:nvSpPr>
        <p:spPr>
          <a:xfrm>
            <a:off x="749808" y="2121408"/>
            <a:ext cx="475488" cy="475488"/>
          </a:xfrm>
          <a:prstGeom prst="ellipse">
            <a:avLst/>
          </a:prstGeom>
          <a:solidFill>
            <a:srgbClr val="E8F8EE"/>
          </a:solidFill>
          <a:ln cap="flat" cmpd="sng" w="12700">
            <a:solidFill>
              <a:srgbClr val="E8F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73" name="Google Shape;117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018" y="2204618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174" name="Google Shape;1174;p35"/>
          <p:cNvSpPr/>
          <p:nvPr/>
        </p:nvSpPr>
        <p:spPr>
          <a:xfrm>
            <a:off x="1417320" y="2139696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Every phase of the lifecycle is a QA opportunity. Own all of them.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35"/>
          <p:cNvSpPr/>
          <p:nvPr/>
        </p:nvSpPr>
        <p:spPr>
          <a:xfrm>
            <a:off x="457200" y="2798064"/>
            <a:ext cx="8229600" cy="6217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35"/>
          <p:cNvSpPr/>
          <p:nvPr/>
        </p:nvSpPr>
        <p:spPr>
          <a:xfrm>
            <a:off x="457200" y="2798064"/>
            <a:ext cx="54864" cy="621792"/>
          </a:xfrm>
          <a:prstGeom prst="rect">
            <a:avLst/>
          </a:prstGeom>
          <a:solidFill>
            <a:srgbClr val="28A745"/>
          </a:solidFill>
          <a:ln cap="flat" cmpd="sng" w="127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35"/>
          <p:cNvSpPr/>
          <p:nvPr/>
        </p:nvSpPr>
        <p:spPr>
          <a:xfrm>
            <a:off x="749808" y="2871216"/>
            <a:ext cx="475488" cy="475488"/>
          </a:xfrm>
          <a:prstGeom prst="ellipse">
            <a:avLst/>
          </a:prstGeom>
          <a:solidFill>
            <a:srgbClr val="E8F8EE"/>
          </a:solidFill>
          <a:ln cap="flat" cmpd="sng" w="12700">
            <a:solidFill>
              <a:srgbClr val="E8F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78" name="Google Shape;117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018" y="295442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179" name="Google Shape;1179;p35"/>
          <p:cNvSpPr/>
          <p:nvPr/>
        </p:nvSpPr>
        <p:spPr>
          <a:xfrm>
            <a:off x="1417320" y="2889504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Critical thinking means asking Why and What if — not just Does it pass.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35"/>
          <p:cNvSpPr/>
          <p:nvPr/>
        </p:nvSpPr>
        <p:spPr>
          <a:xfrm>
            <a:off x="457200" y="3547872"/>
            <a:ext cx="8229600" cy="6217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35"/>
          <p:cNvSpPr/>
          <p:nvPr/>
        </p:nvSpPr>
        <p:spPr>
          <a:xfrm>
            <a:off x="457200" y="3547872"/>
            <a:ext cx="54864" cy="621792"/>
          </a:xfrm>
          <a:prstGeom prst="rect">
            <a:avLst/>
          </a:prstGeom>
          <a:solidFill>
            <a:srgbClr val="E8820C"/>
          </a:solidFill>
          <a:ln cap="flat" cmpd="sng" w="1270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35"/>
          <p:cNvSpPr/>
          <p:nvPr/>
        </p:nvSpPr>
        <p:spPr>
          <a:xfrm>
            <a:off x="749808" y="3621024"/>
            <a:ext cx="475488" cy="475488"/>
          </a:xfrm>
          <a:prstGeom prst="ellipse">
            <a:avLst/>
          </a:prstGeom>
          <a:solidFill>
            <a:srgbClr val="E8F8EE"/>
          </a:solidFill>
          <a:ln cap="flat" cmpd="sng" w="12700">
            <a:solidFill>
              <a:srgbClr val="E8F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3" name="Google Shape;118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018" y="3704234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184" name="Google Shape;1184;p35"/>
          <p:cNvSpPr/>
          <p:nvPr/>
        </p:nvSpPr>
        <p:spPr>
          <a:xfrm>
            <a:off x="1417320" y="3639312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The best QA engineers are curious collaborators with a customer mindset.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35"/>
          <p:cNvSpPr/>
          <p:nvPr/>
        </p:nvSpPr>
        <p:spPr>
          <a:xfrm>
            <a:off x="457200" y="4297680"/>
            <a:ext cx="8229600" cy="6217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35"/>
          <p:cNvSpPr/>
          <p:nvPr/>
        </p:nvSpPr>
        <p:spPr>
          <a:xfrm>
            <a:off x="457200" y="4297680"/>
            <a:ext cx="54864" cy="621792"/>
          </a:xfrm>
          <a:prstGeom prst="rect">
            <a:avLst/>
          </a:prstGeom>
          <a:solidFill>
            <a:srgbClr val="9B59B6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35"/>
          <p:cNvSpPr/>
          <p:nvPr/>
        </p:nvSpPr>
        <p:spPr>
          <a:xfrm>
            <a:off x="749808" y="4370832"/>
            <a:ext cx="475488" cy="475488"/>
          </a:xfrm>
          <a:prstGeom prst="ellipse">
            <a:avLst/>
          </a:prstGeom>
          <a:solidFill>
            <a:srgbClr val="E8F8EE"/>
          </a:solidFill>
          <a:ln cap="flat" cmpd="sng" w="12700">
            <a:solidFill>
              <a:srgbClr val="E8F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8" name="Google Shape;118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018" y="4454042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189" name="Google Shape;1189;p35"/>
          <p:cNvSpPr/>
          <p:nvPr/>
        </p:nvSpPr>
        <p:spPr>
          <a:xfrm>
            <a:off x="1417320" y="4389120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Quality is a competitive differentiator. It earns trust and reduces cost.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36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Terms to Explore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36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Go deeper — these concepts will elevate your QA thinking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36"/>
          <p:cNvSpPr/>
          <p:nvPr/>
        </p:nvSpPr>
        <p:spPr>
          <a:xfrm>
            <a:off x="457200" y="1078992"/>
            <a:ext cx="8229600" cy="182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36"/>
          <p:cNvSpPr/>
          <p:nvPr/>
        </p:nvSpPr>
        <p:spPr>
          <a:xfrm>
            <a:off x="457200" y="1261872"/>
            <a:ext cx="8229600" cy="6583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36"/>
          <p:cNvSpPr/>
          <p:nvPr/>
        </p:nvSpPr>
        <p:spPr>
          <a:xfrm>
            <a:off x="457200" y="1261872"/>
            <a:ext cx="54864" cy="658368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36"/>
          <p:cNvSpPr/>
          <p:nvPr/>
        </p:nvSpPr>
        <p:spPr>
          <a:xfrm>
            <a:off x="658368" y="1335024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Defect Density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36"/>
          <p:cNvSpPr/>
          <p:nvPr/>
        </p:nvSpPr>
        <p:spPr>
          <a:xfrm>
            <a:off x="3063240" y="1353312"/>
            <a:ext cx="18288" cy="4754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36"/>
          <p:cNvSpPr/>
          <p:nvPr/>
        </p:nvSpPr>
        <p:spPr>
          <a:xfrm>
            <a:off x="3218688" y="1335024"/>
            <a:ext cx="53218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Number of defects per unit of software (e.g., per 1000 lines of code or per function point). High density = risky module.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36"/>
          <p:cNvSpPr/>
          <p:nvPr/>
        </p:nvSpPr>
        <p:spPr>
          <a:xfrm>
            <a:off x="457200" y="2011680"/>
            <a:ext cx="8229600" cy="6583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36"/>
          <p:cNvSpPr/>
          <p:nvPr/>
        </p:nvSpPr>
        <p:spPr>
          <a:xfrm>
            <a:off x="457200" y="2011680"/>
            <a:ext cx="54864" cy="658368"/>
          </a:xfrm>
          <a:prstGeom prst="rect">
            <a:avLst/>
          </a:prstGeom>
          <a:solidFill>
            <a:srgbClr val="D70015"/>
          </a:solidFill>
          <a:ln cap="flat" cmpd="sng" w="12700">
            <a:solidFill>
              <a:srgbClr val="D7001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36"/>
          <p:cNvSpPr/>
          <p:nvPr/>
        </p:nvSpPr>
        <p:spPr>
          <a:xfrm>
            <a:off x="658368" y="2084832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001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70015"/>
                </a:solidFill>
                <a:latin typeface="Calibri"/>
                <a:ea typeface="Calibri"/>
                <a:cs typeface="Calibri"/>
                <a:sym typeface="Calibri"/>
              </a:rPr>
              <a:t>Defect Escape Rate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36"/>
          <p:cNvSpPr/>
          <p:nvPr/>
        </p:nvSpPr>
        <p:spPr>
          <a:xfrm>
            <a:off x="3063240" y="2103120"/>
            <a:ext cx="18288" cy="4754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36"/>
          <p:cNvSpPr/>
          <p:nvPr/>
        </p:nvSpPr>
        <p:spPr>
          <a:xfrm>
            <a:off x="3218688" y="2084832"/>
            <a:ext cx="53218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% of defects not caught before production. Lower = better QA. Measures how effective your testing process is.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36"/>
          <p:cNvSpPr/>
          <p:nvPr/>
        </p:nvSpPr>
        <p:spPr>
          <a:xfrm>
            <a:off x="457200" y="2761488"/>
            <a:ext cx="8229600" cy="6583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36"/>
          <p:cNvSpPr/>
          <p:nvPr/>
        </p:nvSpPr>
        <p:spPr>
          <a:xfrm>
            <a:off x="457200" y="2761488"/>
            <a:ext cx="54864" cy="658368"/>
          </a:xfrm>
          <a:prstGeom prst="rect">
            <a:avLst/>
          </a:prstGeom>
          <a:solidFill>
            <a:srgbClr val="E8820C"/>
          </a:solidFill>
          <a:ln cap="flat" cmpd="sng" w="1270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36"/>
          <p:cNvSpPr/>
          <p:nvPr/>
        </p:nvSpPr>
        <p:spPr>
          <a:xfrm>
            <a:off x="658368" y="283464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Pareto Principle (80/20)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36"/>
          <p:cNvSpPr/>
          <p:nvPr/>
        </p:nvSpPr>
        <p:spPr>
          <a:xfrm>
            <a:off x="3063240" y="2852928"/>
            <a:ext cx="18288" cy="4754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36"/>
          <p:cNvSpPr/>
          <p:nvPr/>
        </p:nvSpPr>
        <p:spPr>
          <a:xfrm>
            <a:off x="3218688" y="2834640"/>
            <a:ext cx="53218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~80% of defects come from ~20% of the code. Focus testing effort on high-risk areas first.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36"/>
          <p:cNvSpPr/>
          <p:nvPr/>
        </p:nvSpPr>
        <p:spPr>
          <a:xfrm>
            <a:off x="457200" y="3511296"/>
            <a:ext cx="8229600" cy="6583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36"/>
          <p:cNvSpPr/>
          <p:nvPr/>
        </p:nvSpPr>
        <p:spPr>
          <a:xfrm>
            <a:off x="457200" y="3511296"/>
            <a:ext cx="54864" cy="658368"/>
          </a:xfrm>
          <a:prstGeom prst="rect">
            <a:avLst/>
          </a:prstGeom>
          <a:solidFill>
            <a:srgbClr val="9B59B6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36"/>
          <p:cNvSpPr/>
          <p:nvPr/>
        </p:nvSpPr>
        <p:spPr>
          <a:xfrm>
            <a:off x="658368" y="3584448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B59B6"/>
                </a:solidFill>
                <a:latin typeface="Calibri"/>
                <a:ea typeface="Calibri"/>
                <a:cs typeface="Calibri"/>
                <a:sym typeface="Calibri"/>
              </a:rPr>
              <a:t>Pesticide Paradox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36"/>
          <p:cNvSpPr/>
          <p:nvPr/>
        </p:nvSpPr>
        <p:spPr>
          <a:xfrm>
            <a:off x="3063240" y="3602736"/>
            <a:ext cx="18288" cy="4754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36"/>
          <p:cNvSpPr/>
          <p:nvPr/>
        </p:nvSpPr>
        <p:spPr>
          <a:xfrm>
            <a:off x="3218688" y="3584448"/>
            <a:ext cx="53218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Running the same tests repeatedly stops finding new bugs. Regularly review and update your test cases.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36"/>
          <p:cNvSpPr/>
          <p:nvPr/>
        </p:nvSpPr>
        <p:spPr>
          <a:xfrm>
            <a:off x="457200" y="4261104"/>
            <a:ext cx="8229600" cy="6583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36"/>
          <p:cNvSpPr/>
          <p:nvPr/>
        </p:nvSpPr>
        <p:spPr>
          <a:xfrm>
            <a:off x="457200" y="4261104"/>
            <a:ext cx="54864" cy="658368"/>
          </a:xfrm>
          <a:prstGeom prst="rect">
            <a:avLst/>
          </a:prstGeom>
          <a:solidFill>
            <a:srgbClr val="00999E"/>
          </a:solidFill>
          <a:ln cap="flat" cmpd="sng" w="12700">
            <a:solidFill>
              <a:srgbClr val="00999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36"/>
          <p:cNvSpPr/>
          <p:nvPr/>
        </p:nvSpPr>
        <p:spPr>
          <a:xfrm>
            <a:off x="658368" y="4334256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99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999E"/>
                </a:solidFill>
                <a:latin typeface="Calibri"/>
                <a:ea typeface="Calibri"/>
                <a:cs typeface="Calibri"/>
                <a:sym typeface="Calibri"/>
              </a:rPr>
              <a:t>Severity vs Priority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36"/>
          <p:cNvSpPr/>
          <p:nvPr/>
        </p:nvSpPr>
        <p:spPr>
          <a:xfrm>
            <a:off x="3063240" y="4352544"/>
            <a:ext cx="18288" cy="475488"/>
          </a:xfrm>
          <a:prstGeom prst="rect">
            <a:avLst/>
          </a:prstGeom>
          <a:solidFill>
            <a:srgbClr val="E8E8ED"/>
          </a:solidFill>
          <a:ln cap="flat" cmpd="sng" w="12700">
            <a:solidFill>
              <a:srgbClr val="E8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36"/>
          <p:cNvSpPr/>
          <p:nvPr/>
        </p:nvSpPr>
        <p:spPr>
          <a:xfrm>
            <a:off x="3218688" y="4334256"/>
            <a:ext cx="53218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Severity = impact of the bug on the system. Priority = urgency of fixing it. High severity ≠ always high priority.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1D1F"/>
        </a:solidFill>
      </p:bgPr>
    </p:bg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37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E8820C"/>
          </a:solidFill>
          <a:ln cap="flat" cmpd="sng" w="1270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37"/>
          <p:cNvSpPr/>
          <p:nvPr/>
        </p:nvSpPr>
        <p:spPr>
          <a:xfrm>
            <a:off x="548640" y="256032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Hands-On Assessment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37"/>
          <p:cNvSpPr/>
          <p:nvPr/>
        </p:nvSpPr>
        <p:spPr>
          <a:xfrm>
            <a:off x="548640" y="658368"/>
            <a:ext cx="8046720" cy="100584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1980000" dist="28575">
              <a:srgbClr val="FAFAFA">
                <a:alpha val="73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B2B Use Case: Vendor Invoice Management Portal</a:t>
            </a:r>
            <a:endParaRPr b="0" i="0" sz="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37"/>
          <p:cNvSpPr/>
          <p:nvPr/>
        </p:nvSpPr>
        <p:spPr>
          <a:xfrm>
            <a:off x="548640" y="1737360"/>
            <a:ext cx="8046720" cy="18288"/>
          </a:xfrm>
          <a:prstGeom prst="rect">
            <a:avLst/>
          </a:prstGeom>
          <a:solidFill>
            <a:srgbClr val="E8820C"/>
          </a:solidFill>
          <a:ln cap="flat" cmpd="sng" w="1270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37"/>
          <p:cNvSpPr/>
          <p:nvPr/>
        </p:nvSpPr>
        <p:spPr>
          <a:xfrm>
            <a:off x="548640" y="184708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AEB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EAEB2"/>
                </a:solidFill>
                <a:latin typeface="Calibri"/>
                <a:ea typeface="Calibri"/>
                <a:cs typeface="Calibri"/>
                <a:sym typeface="Calibri"/>
              </a:rPr>
              <a:t>Client Requirements: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37"/>
          <p:cNvSpPr/>
          <p:nvPr/>
        </p:nvSpPr>
        <p:spPr>
          <a:xfrm>
            <a:off x="548640" y="224028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AEB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AEB2"/>
                </a:solidFill>
                <a:latin typeface="Calibri"/>
                <a:ea typeface="Calibri"/>
                <a:cs typeface="Calibri"/>
                <a:sym typeface="Calibri"/>
              </a:rPr>
              <a:t>1.  Vendors can register and log in to the portal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37"/>
          <p:cNvSpPr/>
          <p:nvPr/>
        </p:nvSpPr>
        <p:spPr>
          <a:xfrm>
            <a:off x="548640" y="2551176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AEB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AEB2"/>
                </a:solidFill>
                <a:latin typeface="Calibri"/>
                <a:ea typeface="Calibri"/>
                <a:cs typeface="Calibri"/>
                <a:sym typeface="Calibri"/>
              </a:rPr>
              <a:t>2.  Vendors can submit invoices against purchase orders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37"/>
          <p:cNvSpPr/>
          <p:nvPr/>
        </p:nvSpPr>
        <p:spPr>
          <a:xfrm>
            <a:off x="548640" y="2862072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AEB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AEB2"/>
                </a:solidFill>
                <a:latin typeface="Calibri"/>
                <a:ea typeface="Calibri"/>
                <a:cs typeface="Calibri"/>
                <a:sym typeface="Calibri"/>
              </a:rPr>
              <a:t>3.  The AP team can view, approve, or reject invoices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37"/>
          <p:cNvSpPr/>
          <p:nvPr/>
        </p:nvSpPr>
        <p:spPr>
          <a:xfrm>
            <a:off x="548640" y="3172968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AEB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AEB2"/>
                </a:solidFill>
                <a:latin typeface="Calibri"/>
                <a:ea typeface="Calibri"/>
                <a:cs typeface="Calibri"/>
                <a:sym typeface="Calibri"/>
              </a:rPr>
              <a:t>4.  Approved invoices are forwarded for payment processing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37"/>
          <p:cNvSpPr/>
          <p:nvPr/>
        </p:nvSpPr>
        <p:spPr>
          <a:xfrm>
            <a:off x="548640" y="3483864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AEB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AEB2"/>
                </a:solidFill>
                <a:latin typeface="Calibri"/>
                <a:ea typeface="Calibri"/>
                <a:cs typeface="Calibri"/>
                <a:sym typeface="Calibri"/>
              </a:rPr>
              <a:t>5.  Both parties receive email notifications on status changes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37"/>
          <p:cNvSpPr/>
          <p:nvPr/>
        </p:nvSpPr>
        <p:spPr>
          <a:xfrm>
            <a:off x="548640" y="379476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AEB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AEB2"/>
                </a:solidFill>
                <a:latin typeface="Calibri"/>
                <a:ea typeface="Calibri"/>
                <a:cs typeface="Calibri"/>
                <a:sym typeface="Calibri"/>
              </a:rPr>
              <a:t>6.  The system generates monthly invoice activity reports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37"/>
          <p:cNvSpPr/>
          <p:nvPr/>
        </p:nvSpPr>
        <p:spPr>
          <a:xfrm>
            <a:off x="548640" y="4105656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AEB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AEB2"/>
                </a:solidFill>
                <a:latin typeface="Calibri"/>
                <a:ea typeface="Calibri"/>
                <a:cs typeface="Calibri"/>
                <a:sym typeface="Calibri"/>
              </a:rPr>
              <a:t>7.  Only authorized users may access the system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37"/>
          <p:cNvSpPr/>
          <p:nvPr/>
        </p:nvSpPr>
        <p:spPr>
          <a:xfrm>
            <a:off x="5532120" y="1847088"/>
            <a:ext cx="3291840" cy="2377440"/>
          </a:xfrm>
          <a:prstGeom prst="rect">
            <a:avLst/>
          </a:prstGeom>
          <a:solidFill>
            <a:srgbClr val="2C2C2E"/>
          </a:solidFill>
          <a:ln cap="flat" cmpd="sng" w="1270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37"/>
          <p:cNvSpPr/>
          <p:nvPr/>
        </p:nvSpPr>
        <p:spPr>
          <a:xfrm>
            <a:off x="5687568" y="1938528"/>
            <a:ext cx="2971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Your Mission: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37"/>
          <p:cNvSpPr/>
          <p:nvPr/>
        </p:nvSpPr>
        <p:spPr>
          <a:xfrm>
            <a:off x="5687568" y="2359152"/>
            <a:ext cx="2971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Identify ambiguous requirements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37"/>
          <p:cNvSpPr/>
          <p:nvPr/>
        </p:nvSpPr>
        <p:spPr>
          <a:xfrm>
            <a:off x="5687568" y="2734056"/>
            <a:ext cx="2971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List clarifying questions for the client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37"/>
          <p:cNvSpPr/>
          <p:nvPr/>
        </p:nvSpPr>
        <p:spPr>
          <a:xfrm>
            <a:off x="5687568" y="3108960"/>
            <a:ext cx="2971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Define edge cases to 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37"/>
          <p:cNvSpPr/>
          <p:nvPr/>
        </p:nvSpPr>
        <p:spPr>
          <a:xfrm>
            <a:off x="5687568" y="3483864"/>
            <a:ext cx="2971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Design a test approach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37"/>
          <p:cNvSpPr/>
          <p:nvPr/>
        </p:nvSpPr>
        <p:spPr>
          <a:xfrm>
            <a:off x="5687568" y="3858768"/>
            <a:ext cx="2971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Call out hidden risks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37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2000"/>
              <a:buFont typeface="Calibri"/>
              <a:buNone/>
            </a:pPr>
            <a:r>
              <a:rPr b="1" i="1" lang="en-US" sz="20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Think.  Question.  Test.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1D1F"/>
        </a:solidFill>
      </p:bgPr>
    </p:bg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3de3ce0ff42_0_24"/>
          <p:cNvSpPr/>
          <p:nvPr/>
        </p:nvSpPr>
        <p:spPr>
          <a:xfrm>
            <a:off x="0" y="0"/>
            <a:ext cx="9144000" cy="128100"/>
          </a:xfrm>
          <a:prstGeom prst="rect">
            <a:avLst/>
          </a:prstGeom>
          <a:solidFill>
            <a:srgbClr val="E8820C"/>
          </a:solidFill>
          <a:ln cap="flat" cmpd="sng" w="1270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g3de3ce0ff42_0_24"/>
          <p:cNvSpPr/>
          <p:nvPr/>
        </p:nvSpPr>
        <p:spPr>
          <a:xfrm>
            <a:off x="548640" y="256032"/>
            <a:ext cx="80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Hands-On Assessment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g3de3ce0ff42_0_24"/>
          <p:cNvSpPr/>
          <p:nvPr/>
        </p:nvSpPr>
        <p:spPr>
          <a:xfrm>
            <a:off x="548640" y="658368"/>
            <a:ext cx="8046600" cy="10059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1980000" dist="28575">
              <a:schemeClr val="lt1">
                <a:alpha val="73000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B2B Use Case: </a:t>
            </a: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Expectations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g3de3ce0ff42_0_24"/>
          <p:cNvSpPr/>
          <p:nvPr/>
        </p:nvSpPr>
        <p:spPr>
          <a:xfrm>
            <a:off x="548640" y="1737360"/>
            <a:ext cx="8046600" cy="18300"/>
          </a:xfrm>
          <a:prstGeom prst="rect">
            <a:avLst/>
          </a:prstGeom>
          <a:solidFill>
            <a:srgbClr val="E8820C"/>
          </a:solidFill>
          <a:ln cap="flat" cmpd="sng" w="1270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g3de3ce0ff42_0_24"/>
          <p:cNvSpPr/>
          <p:nvPr/>
        </p:nvSpPr>
        <p:spPr>
          <a:xfrm>
            <a:off x="548640" y="1847088"/>
            <a:ext cx="4572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AEB2"/>
              </a:buClr>
              <a:buSzPts val="1200"/>
              <a:buFont typeface="Calibri"/>
              <a:buNone/>
            </a:pPr>
            <a:r>
              <a:rPr b="1" lang="en-US">
                <a:solidFill>
                  <a:srgbClr val="AEAEB2"/>
                </a:solidFill>
                <a:latin typeface="Calibri"/>
                <a:ea typeface="Calibri"/>
                <a:cs typeface="Calibri"/>
                <a:sym typeface="Calibri"/>
              </a:rPr>
              <a:t>Your Deliverables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g3de3ce0ff42_0_24"/>
          <p:cNvSpPr/>
          <p:nvPr/>
        </p:nvSpPr>
        <p:spPr>
          <a:xfrm>
            <a:off x="548640" y="224028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AEB2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rgbClr val="AEAEB2"/>
                </a:solidFill>
                <a:latin typeface="Calibri"/>
                <a:ea typeface="Calibri"/>
                <a:cs typeface="Calibri"/>
                <a:sym typeface="Calibri"/>
              </a:rPr>
              <a:t>1.  </a:t>
            </a:r>
            <a:r>
              <a:rPr lang="en-US" sz="1350">
                <a:solidFill>
                  <a:srgbClr val="AEAEB2"/>
                </a:solidFill>
                <a:latin typeface="Calibri"/>
                <a:ea typeface="Calibri"/>
                <a:cs typeface="Calibri"/>
                <a:sym typeface="Calibri"/>
              </a:rPr>
              <a:t>Prepare a document with the set of questions for ambiguous requirements, seeking clarifications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g3de3ce0ff42_0_24"/>
          <p:cNvSpPr/>
          <p:nvPr/>
        </p:nvSpPr>
        <p:spPr>
          <a:xfrm>
            <a:off x="548640" y="2551176"/>
            <a:ext cx="6217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AEB2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rgbClr val="AEAEB2"/>
                </a:solidFill>
                <a:latin typeface="Calibri"/>
                <a:ea typeface="Calibri"/>
                <a:cs typeface="Calibri"/>
                <a:sym typeface="Calibri"/>
              </a:rPr>
              <a:t>2.  </a:t>
            </a:r>
            <a:r>
              <a:rPr lang="en-US" sz="1350">
                <a:solidFill>
                  <a:srgbClr val="AEAEB2"/>
                </a:solidFill>
                <a:latin typeface="Calibri"/>
                <a:ea typeface="Calibri"/>
                <a:cs typeface="Calibri"/>
                <a:sym typeface="Calibri"/>
              </a:rPr>
              <a:t>Prepare the various QA artifacts from start to finish of the project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g3de3ce0ff42_0_24"/>
          <p:cNvSpPr/>
          <p:nvPr/>
        </p:nvSpPr>
        <p:spPr>
          <a:xfrm>
            <a:off x="548640" y="4572000"/>
            <a:ext cx="804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2000"/>
              <a:buFont typeface="Calibri"/>
              <a:buNone/>
            </a:pPr>
            <a:r>
              <a:rPr b="1" i="1" lang="en-US" sz="20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Think.  Question.  Test.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g3de3ce0ff42_0_24"/>
          <p:cNvSpPr/>
          <p:nvPr/>
        </p:nvSpPr>
        <p:spPr>
          <a:xfrm>
            <a:off x="552149" y="2947215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AEB2"/>
              </a:buClr>
              <a:buSzPts val="1150"/>
              <a:buFont typeface="Calibri"/>
              <a:buNone/>
            </a:pPr>
            <a:r>
              <a:rPr lang="en-US" sz="1350">
                <a:solidFill>
                  <a:srgbClr val="AEAEB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1350" u="none" cap="none" strike="noStrike">
                <a:solidFill>
                  <a:srgbClr val="AEAEB2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1350">
                <a:solidFill>
                  <a:srgbClr val="AEAEB2"/>
                </a:solidFill>
                <a:latin typeface="Calibri"/>
                <a:ea typeface="Calibri"/>
                <a:cs typeface="Calibri"/>
                <a:sym typeface="Calibri"/>
              </a:rPr>
              <a:t>You can use AI assistance, however understand the discussed topics and their related topics in-depth to reflect your knowledge, understanding and learning into your deliverables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1D1F"/>
        </a:solidFill>
      </p:bgPr>
    </p:bg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38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8A745"/>
          </a:solidFill>
          <a:ln cap="flat" cmpd="sng" w="127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38"/>
          <p:cNvSpPr/>
          <p:nvPr/>
        </p:nvSpPr>
        <p:spPr>
          <a:xfrm>
            <a:off x="548640" y="237744"/>
            <a:ext cx="8229600" cy="4572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1980000" dist="28575">
              <a:schemeClr val="lt1">
                <a:alpha val="73000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Explore Further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38"/>
          <p:cNvSpPr/>
          <p:nvPr/>
        </p:nvSpPr>
        <p:spPr>
          <a:xfrm>
            <a:off x="548640" y="749808"/>
            <a:ext cx="8046720" cy="18288"/>
          </a:xfrm>
          <a:prstGeom prst="rect">
            <a:avLst/>
          </a:prstGeom>
          <a:solidFill>
            <a:srgbClr val="3A3A3C"/>
          </a:solidFill>
          <a:ln cap="flat" cmpd="sng" w="12700">
            <a:solidFill>
              <a:srgbClr val="3A3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38"/>
          <p:cNvSpPr/>
          <p:nvPr/>
        </p:nvSpPr>
        <p:spPr>
          <a:xfrm>
            <a:off x="548640" y="987552"/>
            <a:ext cx="4023360" cy="932688"/>
          </a:xfrm>
          <a:prstGeom prst="rect">
            <a:avLst/>
          </a:prstGeom>
          <a:solidFill>
            <a:srgbClr val="2C2C2E"/>
          </a:solidFill>
          <a:ln cap="flat" cmpd="sng" w="1015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38"/>
          <p:cNvSpPr/>
          <p:nvPr/>
        </p:nvSpPr>
        <p:spPr>
          <a:xfrm>
            <a:off x="548640" y="987552"/>
            <a:ext cx="54864" cy="932688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38"/>
          <p:cNvSpPr/>
          <p:nvPr/>
        </p:nvSpPr>
        <p:spPr>
          <a:xfrm>
            <a:off x="749808" y="1078992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Test Automation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38"/>
          <p:cNvSpPr/>
          <p:nvPr/>
        </p:nvSpPr>
        <p:spPr>
          <a:xfrm>
            <a:off x="749808" y="1499616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AEB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AEB2"/>
                </a:solidFill>
                <a:latin typeface="Calibri"/>
                <a:ea typeface="Calibri"/>
                <a:cs typeface="Calibri"/>
                <a:sym typeface="Calibri"/>
              </a:rPr>
              <a:t>Selenium, Cypress, Playwright — automate regression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38"/>
          <p:cNvSpPr/>
          <p:nvPr/>
        </p:nvSpPr>
        <p:spPr>
          <a:xfrm>
            <a:off x="4846320" y="987552"/>
            <a:ext cx="4023360" cy="932688"/>
          </a:xfrm>
          <a:prstGeom prst="rect">
            <a:avLst/>
          </a:prstGeom>
          <a:solidFill>
            <a:srgbClr val="2C2C2E"/>
          </a:solidFill>
          <a:ln cap="flat" cmpd="sng" w="10150">
            <a:solidFill>
              <a:srgbClr val="0099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38"/>
          <p:cNvSpPr/>
          <p:nvPr/>
        </p:nvSpPr>
        <p:spPr>
          <a:xfrm>
            <a:off x="4846320" y="987552"/>
            <a:ext cx="54864" cy="932688"/>
          </a:xfrm>
          <a:prstGeom prst="rect">
            <a:avLst/>
          </a:prstGeom>
          <a:solidFill>
            <a:srgbClr val="00999E"/>
          </a:solidFill>
          <a:ln cap="flat" cmpd="sng" w="12700">
            <a:solidFill>
              <a:srgbClr val="00999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38"/>
          <p:cNvSpPr/>
          <p:nvPr/>
        </p:nvSpPr>
        <p:spPr>
          <a:xfrm>
            <a:off x="5047488" y="1078992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99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999E"/>
                </a:solidFill>
                <a:latin typeface="Calibri"/>
                <a:ea typeface="Calibri"/>
                <a:cs typeface="Calibri"/>
                <a:sym typeface="Calibri"/>
              </a:rPr>
              <a:t>API Testing Tools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38"/>
          <p:cNvSpPr/>
          <p:nvPr/>
        </p:nvSpPr>
        <p:spPr>
          <a:xfrm>
            <a:off x="5047488" y="1499616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AEB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AEB2"/>
                </a:solidFill>
                <a:latin typeface="Calibri"/>
                <a:ea typeface="Calibri"/>
                <a:cs typeface="Calibri"/>
                <a:sym typeface="Calibri"/>
              </a:rPr>
              <a:t>Postman, RestAssured, Karate DSL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38"/>
          <p:cNvSpPr/>
          <p:nvPr/>
        </p:nvSpPr>
        <p:spPr>
          <a:xfrm>
            <a:off x="548640" y="2157984"/>
            <a:ext cx="4023360" cy="932688"/>
          </a:xfrm>
          <a:prstGeom prst="rect">
            <a:avLst/>
          </a:prstGeom>
          <a:solidFill>
            <a:srgbClr val="2C2C2E"/>
          </a:solidFill>
          <a:ln cap="flat" cmpd="sng" w="1015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38"/>
          <p:cNvSpPr/>
          <p:nvPr/>
        </p:nvSpPr>
        <p:spPr>
          <a:xfrm>
            <a:off x="548640" y="2157984"/>
            <a:ext cx="54864" cy="932688"/>
          </a:xfrm>
          <a:prstGeom prst="rect">
            <a:avLst/>
          </a:prstGeom>
          <a:solidFill>
            <a:srgbClr val="E8820C"/>
          </a:solidFill>
          <a:ln cap="flat" cmpd="sng" w="12700">
            <a:solidFill>
              <a:srgbClr val="E8820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38"/>
          <p:cNvSpPr/>
          <p:nvPr/>
        </p:nvSpPr>
        <p:spPr>
          <a:xfrm>
            <a:off x="749808" y="2249424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20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820C"/>
                </a:solidFill>
                <a:latin typeface="Calibri"/>
                <a:ea typeface="Calibri"/>
                <a:cs typeface="Calibri"/>
                <a:sym typeface="Calibri"/>
              </a:rPr>
              <a:t>Performance Testing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38"/>
          <p:cNvSpPr/>
          <p:nvPr/>
        </p:nvSpPr>
        <p:spPr>
          <a:xfrm>
            <a:off x="749808" y="2670048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AEB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AEB2"/>
                </a:solidFill>
                <a:latin typeface="Calibri"/>
                <a:ea typeface="Calibri"/>
                <a:cs typeface="Calibri"/>
                <a:sym typeface="Calibri"/>
              </a:rPr>
              <a:t>JMeter, k6, Gatling — load and stress testing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38"/>
          <p:cNvSpPr/>
          <p:nvPr/>
        </p:nvSpPr>
        <p:spPr>
          <a:xfrm>
            <a:off x="4846320" y="2157984"/>
            <a:ext cx="4023360" cy="932688"/>
          </a:xfrm>
          <a:prstGeom prst="rect">
            <a:avLst/>
          </a:prstGeom>
          <a:solidFill>
            <a:srgbClr val="2C2C2E"/>
          </a:solidFill>
          <a:ln cap="flat" cmpd="sng" w="10150">
            <a:solidFill>
              <a:srgbClr val="D700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38"/>
          <p:cNvSpPr/>
          <p:nvPr/>
        </p:nvSpPr>
        <p:spPr>
          <a:xfrm>
            <a:off x="4846320" y="2157984"/>
            <a:ext cx="54864" cy="932688"/>
          </a:xfrm>
          <a:prstGeom prst="rect">
            <a:avLst/>
          </a:prstGeom>
          <a:solidFill>
            <a:srgbClr val="D70015"/>
          </a:solidFill>
          <a:ln cap="flat" cmpd="sng" w="12700">
            <a:solidFill>
              <a:srgbClr val="D7001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38"/>
          <p:cNvSpPr/>
          <p:nvPr/>
        </p:nvSpPr>
        <p:spPr>
          <a:xfrm>
            <a:off x="5047488" y="2249424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001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70015"/>
                </a:solidFill>
                <a:latin typeface="Calibri"/>
                <a:ea typeface="Calibri"/>
                <a:cs typeface="Calibri"/>
                <a:sym typeface="Calibri"/>
              </a:rPr>
              <a:t>Security Testing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38"/>
          <p:cNvSpPr/>
          <p:nvPr/>
        </p:nvSpPr>
        <p:spPr>
          <a:xfrm>
            <a:off x="5047488" y="2670048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AEB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AEB2"/>
                </a:solidFill>
                <a:latin typeface="Calibri"/>
                <a:ea typeface="Calibri"/>
                <a:cs typeface="Calibri"/>
                <a:sym typeface="Calibri"/>
              </a:rPr>
              <a:t>OWASP Top 10, Burp Suite, pen testing basics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38"/>
          <p:cNvSpPr/>
          <p:nvPr/>
        </p:nvSpPr>
        <p:spPr>
          <a:xfrm>
            <a:off x="548640" y="3328416"/>
            <a:ext cx="4023360" cy="932688"/>
          </a:xfrm>
          <a:prstGeom prst="rect">
            <a:avLst/>
          </a:prstGeom>
          <a:solidFill>
            <a:srgbClr val="2C2C2E"/>
          </a:solidFill>
          <a:ln cap="flat" cmpd="sng" w="1015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38"/>
          <p:cNvSpPr/>
          <p:nvPr/>
        </p:nvSpPr>
        <p:spPr>
          <a:xfrm>
            <a:off x="548640" y="3328416"/>
            <a:ext cx="54864" cy="932688"/>
          </a:xfrm>
          <a:prstGeom prst="rect">
            <a:avLst/>
          </a:prstGeom>
          <a:solidFill>
            <a:srgbClr val="9B59B6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38"/>
          <p:cNvSpPr/>
          <p:nvPr/>
        </p:nvSpPr>
        <p:spPr>
          <a:xfrm>
            <a:off x="749808" y="3419856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B59B6"/>
                </a:solidFill>
                <a:latin typeface="Calibri"/>
                <a:ea typeface="Calibri"/>
                <a:cs typeface="Calibri"/>
                <a:sym typeface="Calibri"/>
              </a:rPr>
              <a:t>Agile QA Practices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38"/>
          <p:cNvSpPr/>
          <p:nvPr/>
        </p:nvSpPr>
        <p:spPr>
          <a:xfrm>
            <a:off x="749808" y="38404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AEB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AEB2"/>
                </a:solidFill>
                <a:latin typeface="Calibri"/>
                <a:ea typeface="Calibri"/>
                <a:cs typeface="Calibri"/>
                <a:sym typeface="Calibri"/>
              </a:rPr>
              <a:t>BDD, TDD, Three Amigos, Definition of Done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38"/>
          <p:cNvSpPr/>
          <p:nvPr/>
        </p:nvSpPr>
        <p:spPr>
          <a:xfrm>
            <a:off x="4846320" y="3328416"/>
            <a:ext cx="4023360" cy="932688"/>
          </a:xfrm>
          <a:prstGeom prst="rect">
            <a:avLst/>
          </a:prstGeom>
          <a:solidFill>
            <a:srgbClr val="2C2C2E"/>
          </a:solidFill>
          <a:ln cap="flat" cmpd="sng" w="1015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38"/>
          <p:cNvSpPr/>
          <p:nvPr/>
        </p:nvSpPr>
        <p:spPr>
          <a:xfrm>
            <a:off x="4846320" y="3328416"/>
            <a:ext cx="54864" cy="932688"/>
          </a:xfrm>
          <a:prstGeom prst="rect">
            <a:avLst/>
          </a:prstGeom>
          <a:solidFill>
            <a:srgbClr val="28A745"/>
          </a:solidFill>
          <a:ln cap="flat" cmpd="sng" w="127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38"/>
          <p:cNvSpPr/>
          <p:nvPr/>
        </p:nvSpPr>
        <p:spPr>
          <a:xfrm>
            <a:off x="5047488" y="3419856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ISTQB Foundation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38"/>
          <p:cNvSpPr/>
          <p:nvPr/>
        </p:nvSpPr>
        <p:spPr>
          <a:xfrm>
            <a:off x="5047488" y="38404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AEB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AEB2"/>
                </a:solidFill>
                <a:latin typeface="Calibri"/>
                <a:ea typeface="Calibri"/>
                <a:cs typeface="Calibri"/>
                <a:sym typeface="Calibri"/>
              </a:rPr>
              <a:t>Industry-standard QA certification path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38"/>
          <p:cNvSpPr/>
          <p:nvPr/>
        </p:nvSpPr>
        <p:spPr>
          <a:xfrm>
            <a:off x="548640" y="4498848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1400"/>
              <a:buFont typeface="Calibri"/>
              <a:buNone/>
            </a:pPr>
            <a:r>
              <a:rPr b="1" i="1" lang="en-US" sz="14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Quality is a journey — today is just the beginning.  Thank you!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2026-04-10T17:11:15Z</dcterms:created>
  <dc:creator>PptxGenJS</dc:creator>
</cp:coreProperties>
</file>