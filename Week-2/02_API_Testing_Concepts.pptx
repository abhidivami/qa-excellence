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jYC1A9ico+/GcO688vebOlC2n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Introduction 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1234440"/>
            <a:ext cx="7680960" cy="128016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Trebuchet MS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API Testing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2542032"/>
            <a:ext cx="1463040" cy="4572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31520" y="2697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From Manual Testing to the API Layer — Concepts, Tools &amp; Hands-On Practice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3246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REST · Postman · Newman · Swagger · Authentication · Best Practices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We'll Cover Today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274320" y="914400"/>
            <a:ext cx="4023360" cy="40233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274320" y="914400"/>
            <a:ext cx="54864" cy="40233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84048" y="914400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68096" y="950976"/>
            <a:ext cx="34564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an API?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68096" y="1152144"/>
            <a:ext cx="3456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Core concept &amp; anatomy of API communication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846320" y="914400"/>
            <a:ext cx="4023360" cy="40233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846320" y="914400"/>
            <a:ext cx="54864" cy="40233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956048" y="914400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340096" y="950976"/>
            <a:ext cx="34564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Types of APIs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340096" y="1152144"/>
            <a:ext cx="3456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REST, SOAP, GraphQL, gRPC &amp; when to use each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74320" y="1525203"/>
            <a:ext cx="4023300" cy="4023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74320" y="1525203"/>
            <a:ext cx="54900" cy="4023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84048" y="1525203"/>
            <a:ext cx="36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68096" y="1561779"/>
            <a:ext cx="345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Why &amp; When API Testing?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68096" y="1762947"/>
            <a:ext cx="3456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Shift-left, integration gates &amp; the testing pyramid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46320" y="1531119"/>
            <a:ext cx="4023300" cy="4023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846320" y="1531119"/>
            <a:ext cx="54900" cy="4023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956048" y="1531119"/>
            <a:ext cx="36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340096" y="1567695"/>
            <a:ext cx="345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HTTP Methods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340096" y="1768863"/>
            <a:ext cx="3456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GET, POST, PUT, PATCH, DELETE – what to verify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74320" y="2152951"/>
            <a:ext cx="4023360" cy="40233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74320" y="2152951"/>
            <a:ext cx="54864" cy="40233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84048" y="2152951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68096" y="2189527"/>
            <a:ext cx="34564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Swagger &amp; Endpoints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68096" y="2390695"/>
            <a:ext cx="3456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Reading API docs &amp; interpreting endpoint structures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846320" y="2137911"/>
            <a:ext cx="4023300" cy="4023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846320" y="2137911"/>
            <a:ext cx="54900" cy="4023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956048" y="2137911"/>
            <a:ext cx="36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340096" y="2174487"/>
            <a:ext cx="345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Authentication Methods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340096" y="2375655"/>
            <a:ext cx="3456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Basic, Bearer, API Key, OAuth 2.0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74320" y="2757838"/>
            <a:ext cx="4023300" cy="4023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274320" y="2757838"/>
            <a:ext cx="54900" cy="4023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84048" y="2757838"/>
            <a:ext cx="36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68096" y="2794414"/>
            <a:ext cx="345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Bugs in API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68096" y="2995582"/>
            <a:ext cx="3456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Types of defects unique to the API layer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846320" y="2767564"/>
            <a:ext cx="4023360" cy="40233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846320" y="2767564"/>
            <a:ext cx="54864" cy="40233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956048" y="2767564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340096" y="2804140"/>
            <a:ext cx="34564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Tools – Postman &amp; Newman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340096" y="3005308"/>
            <a:ext cx="3456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Demo-ready tooling for REST API testing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274320" y="3366135"/>
            <a:ext cx="4023360" cy="40233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274320" y="3366135"/>
            <a:ext cx="54864" cy="40233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384048" y="3366135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68096" y="3402711"/>
            <a:ext cx="34564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Microservices &amp; Contract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68096" y="3603879"/>
            <a:ext cx="3456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API testing in distributed architectures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846320" y="3354705"/>
            <a:ext cx="4023300" cy="4023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4846320" y="3354705"/>
            <a:ext cx="54900" cy="4023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956048" y="3354705"/>
            <a:ext cx="36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340096" y="3391281"/>
            <a:ext cx="345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Best Practices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340096" y="3592449"/>
            <a:ext cx="3456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10 habits of effective API testers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274320" y="3947762"/>
            <a:ext cx="4023360" cy="40233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274320" y="3970622"/>
            <a:ext cx="54864" cy="40233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384048" y="3970622"/>
            <a:ext cx="365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68096" y="4007198"/>
            <a:ext cx="34564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Business Use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768096" y="4208366"/>
            <a:ext cx="3456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End-to-end scenario: automate these APIs!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an API?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65760" y="822960"/>
            <a:ext cx="64008" cy="6858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48640" y="859536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API = Application Programming Interface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48640" y="1152144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 contract that allows two software systems to communicate — defining what requests can be made, how to make them, and what responses to expect.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65760" y="1627632"/>
            <a:ext cx="1920240" cy="138988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365760" y="1673352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🍽️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65760" y="2084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You (Client)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65760" y="237744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The app or 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that makes a request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286000" y="2304288"/>
            <a:ext cx="201168" cy="4572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487168" y="1627632"/>
            <a:ext cx="1920240" cy="138988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487168" y="1673352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487168" y="2084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Menu (API Docs)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487168" y="237744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Lists what you can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order &amp; how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407408" y="2304288"/>
            <a:ext cx="201168" cy="4572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4608576" y="1627632"/>
            <a:ext cx="1920240" cy="138988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4608576" y="1673352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👨‍🍳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608576" y="2084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Kitchen (Server)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608576" y="237744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Processes the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request, prepares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528816" y="2304288"/>
            <a:ext cx="201168" cy="4572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729984" y="1627632"/>
            <a:ext cx="1920240" cy="138988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6729984" y="1673352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729984" y="2084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Food (Response)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729984" y="237744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The data returned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to the client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65760" y="3163824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Key Components of an API Call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65760" y="3511296"/>
            <a:ext cx="1600200" cy="10058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365760" y="3511296"/>
            <a:ext cx="1600200" cy="5486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365760" y="36027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71E3"/>
                </a:solidFill>
                <a:latin typeface="Trebuchet MS"/>
                <a:ea typeface="Trebuchet MS"/>
                <a:cs typeface="Trebuchet MS"/>
                <a:sym typeface="Trebuchet MS"/>
              </a:rPr>
              <a:t>Endpoint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65760" y="387705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The URL address — where to send the request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2057400" y="3511296"/>
            <a:ext cx="1600200" cy="10058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2057400" y="3511296"/>
            <a:ext cx="1600200" cy="54864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2057400" y="36027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34C759"/>
                </a:solidFill>
                <a:latin typeface="Trebuchet MS"/>
                <a:ea typeface="Trebuchet MS"/>
                <a:cs typeface="Trebuchet MS"/>
                <a:sym typeface="Trebuchet MS"/>
              </a:rPr>
              <a:t>Method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2057400" y="387705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HTTP verb: GET, POST, PUT, PATCH, DELETE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3749040" y="3511296"/>
            <a:ext cx="1600200" cy="10058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3749040" y="3511296"/>
            <a:ext cx="1600200" cy="54864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3749040" y="36027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9500"/>
                </a:solidFill>
                <a:latin typeface="Trebuchet MS"/>
                <a:ea typeface="Trebuchet MS"/>
                <a:cs typeface="Trebuchet MS"/>
                <a:sym typeface="Trebuchet MS"/>
              </a:rPr>
              <a:t>Headers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749040" y="387705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Metadata — auth tokens, content type, etc.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440680" y="3511296"/>
            <a:ext cx="1600200" cy="10058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5440680" y="3511296"/>
            <a:ext cx="1600200" cy="54864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5440680" y="36027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AF52DE"/>
                </a:solidFill>
                <a:latin typeface="Trebuchet MS"/>
                <a:ea typeface="Trebuchet MS"/>
                <a:cs typeface="Trebuchet MS"/>
                <a:sym typeface="Trebuchet MS"/>
              </a:rPr>
              <a:t>Body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5440680" y="387705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Data payload (POST/PUT/PATCH requests)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132320" y="3511296"/>
            <a:ext cx="1600200" cy="10058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7132320" y="3511296"/>
            <a:ext cx="1600200" cy="54864"/>
          </a:xfrm>
          <a:prstGeom prst="rect">
            <a:avLst/>
          </a:prstGeom>
          <a:solidFill>
            <a:srgbClr val="32ADE6"/>
          </a:solidFill>
          <a:ln cap="flat" cmpd="sng" w="12700">
            <a:solidFill>
              <a:srgbClr val="32ADE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7132320" y="360273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ADE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32ADE6"/>
                </a:solidFill>
                <a:latin typeface="Trebuchet MS"/>
                <a:ea typeface="Trebuchet MS"/>
                <a:cs typeface="Trebuchet MS"/>
                <a:sym typeface="Trebuchet MS"/>
              </a:rPr>
              <a:t>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7132320" y="3877056"/>
            <a:ext cx="1600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Status code + returned data (JSON/XML)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Types of APIs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228600" y="822960"/>
            <a:ext cx="2011680" cy="39776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228600" y="822960"/>
            <a:ext cx="2011680" cy="347472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228600" y="822960"/>
            <a:ext cx="201168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01752" y="120700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Representational State Transfer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20040" y="16276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Uses HTTP methods (GET, POST…)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20040" y="19385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Stateless – each request independent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20040" y="224942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Returns JSON or XML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20040" y="25603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Most widely used today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20040" y="2907792"/>
            <a:ext cx="182880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301752" y="294436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📌 Use when: Web &amp; mobile apps, microservices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320040" y="3364992"/>
            <a:ext cx="1828800" cy="256032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320040" y="33649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⭐ Focus of this session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2423160" y="822960"/>
            <a:ext cx="2011680" cy="39776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2423160" y="822960"/>
            <a:ext cx="2011680" cy="347472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2423160" y="822960"/>
            <a:ext cx="201168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2496312" y="120700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Simple Object Access Protocol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2514600" y="16276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XML-based messaging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2514600" y="19385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Strict standards &amp; contracts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2514600" y="224942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WS-Security built-in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2514600" y="25603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Common in enterprise/banking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2514600" y="2907792"/>
            <a:ext cx="182880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2496312" y="294436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📌 Use when: Legacy enterprise systems, banking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2514600" y="3364992"/>
            <a:ext cx="1828800" cy="256032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2514600" y="33649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Not in scope today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4617720" y="822960"/>
            <a:ext cx="2011680" cy="39776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4617720" y="822960"/>
            <a:ext cx="2011680" cy="347472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4617720" y="822960"/>
            <a:ext cx="201168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690872" y="120700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Query Language for APIs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709160" y="16276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Client specifies exact data needed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4709160" y="19385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Single endpoint for all queries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4709160" y="224942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Reduces over/under-fetching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4709160" y="25603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Used by Facebook, GitHub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709160" y="2907792"/>
            <a:ext cx="182880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4690872" y="294436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📌 Use when: Complex UIs with flexible data needs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4709160" y="3364992"/>
            <a:ext cx="1828800" cy="256032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4709160" y="33649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Advanced topic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6812280" y="822960"/>
            <a:ext cx="2011680" cy="39776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6812280" y="822960"/>
            <a:ext cx="2011680" cy="347472"/>
          </a:xfrm>
          <a:prstGeom prst="rect">
            <a:avLst/>
          </a:prstGeom>
          <a:solidFill>
            <a:srgbClr val="32ADE6"/>
          </a:solidFill>
          <a:ln cap="flat" cmpd="sng" w="12700">
            <a:solidFill>
              <a:srgbClr val="32ADE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812280" y="822960"/>
            <a:ext cx="201168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gRPC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6885432" y="120700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ADE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2ADE6"/>
                </a:solidFill>
                <a:latin typeface="Calibri"/>
                <a:ea typeface="Calibri"/>
                <a:cs typeface="Calibri"/>
                <a:sym typeface="Calibri"/>
              </a:rPr>
              <a:t>Google Remote Procedure Call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903720" y="16276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Uses Protocol Buffers (binary)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903720" y="19385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Very high 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6903720" y="224942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Strongly typed contracts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6903720" y="25603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› Used in microservices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903720" y="2907792"/>
            <a:ext cx="182880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6885432" y="294436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📌 Use when: Internal microservice-to-service comms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6903720" y="3364992"/>
            <a:ext cx="1828800" cy="256032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6903720" y="33649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Advanced topic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Why &amp; When Do We Do API Testing?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 rot="256">
            <a:off x="466659" y="3566427"/>
            <a:ext cx="4023900" cy="5670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476250" y="3566160"/>
            <a:ext cx="4023300" cy="56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910590" y="2926080"/>
            <a:ext cx="3291900" cy="567000"/>
          </a:xfrm>
          <a:prstGeom prst="rect">
            <a:avLst/>
          </a:prstGeom>
          <a:solidFill>
            <a:srgbClr val="32ADE6"/>
          </a:solidFill>
          <a:ln cap="flat" cmpd="sng" w="12700">
            <a:solidFill>
              <a:srgbClr val="32ADE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891540" y="2926080"/>
            <a:ext cx="3291900" cy="56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API /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211580" y="2286000"/>
            <a:ext cx="2560200" cy="56700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1240155" y="2286000"/>
            <a:ext cx="2560200" cy="56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UI / E2E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588770" y="1645920"/>
            <a:ext cx="1828800" cy="56700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1569720" y="1645920"/>
            <a:ext cx="1828800" cy="56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Manual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64820" y="4224528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Testing Pyramid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Why Test APIs?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663440" y="1097280"/>
            <a:ext cx="4206240" cy="694944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4709160" y="1097280"/>
            <a:ext cx="502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230368" y="115214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Faster 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230368" y="142646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APIs tested before UI is built — bugs found early are 10× cheaper to fix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4663440" y="1865376"/>
            <a:ext cx="4206240" cy="694944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4709160" y="1865376"/>
            <a:ext cx="502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5230368" y="192024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 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5230368" y="219456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Validates two systems (your app + 3rd party) communicate correctly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4663440" y="2633472"/>
            <a:ext cx="4206240" cy="694944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4709160" y="2633472"/>
            <a:ext cx="502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230368" y="268833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Cost-Efficient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5230368" y="296265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No browser needed; runs in seconds vs minutes for UI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663440" y="3401568"/>
            <a:ext cx="4206240" cy="694944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4709160" y="3401568"/>
            <a:ext cx="502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5230368" y="345643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Security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5230368" y="373075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Catch exposed endpoints, auth bypass, and data leaks early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4663440" y="4169664"/>
            <a:ext cx="4206240" cy="694944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4709160" y="4169664"/>
            <a:ext cx="502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5230368" y="422452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Shift-Left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5230368" y="449884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Run in CI/CD pipelines — every code commit is validated automatically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Reading Swagger / OpenAPI Documentation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365760" y="822960"/>
            <a:ext cx="3931920" cy="658368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365760" y="822960"/>
            <a:ext cx="64008" cy="65836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48640" y="877824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Swagger is a visual, interactive API documentation tool based on the OpenAPI Specification. It lets you read, understand, and try out API calls directly in the browser.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65760" y="1572768"/>
            <a:ext cx="3931920" cy="3328416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1C1E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365760" y="1572768"/>
            <a:ext cx="3931920" cy="347472"/>
          </a:xfrm>
          <a:prstGeom prst="rect">
            <a:avLst/>
          </a:prstGeom>
          <a:solidFill>
            <a:srgbClr val="2E3147"/>
          </a:solidFill>
          <a:ln cap="flat" cmpd="sng" w="12700">
            <a:solidFill>
              <a:srgbClr val="2E31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502920" y="16093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8C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0A8C0"/>
                </a:solidFill>
                <a:latin typeface="Consolas"/>
                <a:ea typeface="Consolas"/>
                <a:cs typeface="Consolas"/>
                <a:sym typeface="Consolas"/>
              </a:rPr>
              <a:t>🟢  ShopEasy API  v1.0  |  /swagger-ui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57200" y="1993392"/>
            <a:ext cx="3749040" cy="411480"/>
          </a:xfrm>
          <a:prstGeom prst="rect">
            <a:avLst/>
          </a:prstGeom>
          <a:solidFill>
            <a:srgbClr val="1A1C28"/>
          </a:solidFill>
          <a:ln cap="flat" cmpd="sng" w="9525">
            <a:solidFill>
              <a:srgbClr val="3A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457200" y="1993392"/>
            <a:ext cx="621792" cy="41148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457200" y="1993392"/>
            <a:ext cx="621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115568" y="206654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/orders/{id}  — Get order by 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57200" y="2496312"/>
            <a:ext cx="3749040" cy="411480"/>
          </a:xfrm>
          <a:prstGeom prst="rect">
            <a:avLst/>
          </a:prstGeom>
          <a:solidFill>
            <a:srgbClr val="1A1C28"/>
          </a:solidFill>
          <a:ln cap="flat" cmpd="sng" w="9525">
            <a:solidFill>
              <a:srgbClr val="3A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57200" y="2496312"/>
            <a:ext cx="621792" cy="41148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57200" y="2496312"/>
            <a:ext cx="621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1115568" y="256946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FB8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9FB8C"/>
                </a:solidFill>
                <a:latin typeface="Consolas"/>
                <a:ea typeface="Consolas"/>
                <a:cs typeface="Consolas"/>
                <a:sym typeface="Consolas"/>
              </a:rPr>
              <a:t>/orders  — Create new order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57200" y="2999232"/>
            <a:ext cx="3749040" cy="411480"/>
          </a:xfrm>
          <a:prstGeom prst="rect">
            <a:avLst/>
          </a:prstGeom>
          <a:solidFill>
            <a:srgbClr val="1A1C28"/>
          </a:solidFill>
          <a:ln cap="flat" cmpd="sng" w="9525">
            <a:solidFill>
              <a:srgbClr val="3A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457200" y="2999232"/>
            <a:ext cx="621792" cy="411480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57200" y="2999232"/>
            <a:ext cx="621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1"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1115568" y="3072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9F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F9FFF"/>
                </a:solidFill>
                <a:latin typeface="Consolas"/>
                <a:ea typeface="Consolas"/>
                <a:cs typeface="Consolas"/>
                <a:sym typeface="Consolas"/>
              </a:rPr>
              <a:t>/orders/{id}/cancel  — Cancel order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57200" y="3502152"/>
            <a:ext cx="3749040" cy="411480"/>
          </a:xfrm>
          <a:prstGeom prst="rect">
            <a:avLst/>
          </a:prstGeom>
          <a:solidFill>
            <a:srgbClr val="1A1C28"/>
          </a:solidFill>
          <a:ln cap="flat" cmpd="sng" w="9525">
            <a:solidFill>
              <a:srgbClr val="3A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457200" y="3502152"/>
            <a:ext cx="621792" cy="41148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457200" y="3502152"/>
            <a:ext cx="621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1115568" y="357530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97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FB7979"/>
                </a:solidFill>
                <a:latin typeface="Consolas"/>
                <a:ea typeface="Consolas"/>
                <a:cs typeface="Consolas"/>
                <a:sym typeface="Consolas"/>
              </a:rPr>
              <a:t>/cart/items/{itemId}  — Remove from cart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57200" y="4041648"/>
            <a:ext cx="3749040" cy="640080"/>
          </a:xfrm>
          <a:prstGeom prst="rect">
            <a:avLst/>
          </a:prstGeom>
          <a:solidFill>
            <a:srgbClr val="252838"/>
          </a:solidFill>
          <a:ln cap="flat" cmpd="sng" w="12700">
            <a:solidFill>
              <a:srgbClr val="3A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548640" y="4096512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8C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A0A8C0"/>
                </a:solidFill>
                <a:latin typeface="Consolas"/>
                <a:ea typeface="Consolas"/>
                <a:cs typeface="Consolas"/>
                <a:sym typeface="Consolas"/>
              </a:rPr>
              <a:t>Responses: 200 ✓  201 ✓  400 ✗  401 ✗  404 ✗  500 ✗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48640" y="4352544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EC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8EC8"/>
                </a:solidFill>
                <a:latin typeface="Consolas"/>
                <a:ea typeface="Consolas"/>
                <a:cs typeface="Consolas"/>
                <a:sym typeface="Consolas"/>
              </a:rPr>
              <a:t>Schema: { "orderId": string, "status": string, "total": number 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572000" y="80467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Key Things to Look For in Swagger: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572000" y="1170432"/>
            <a:ext cx="429768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4572000" y="1170432"/>
            <a:ext cx="347472" cy="58521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4572000" y="1170432"/>
            <a:ext cx="347472" cy="58521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983480" y="122529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Endpoint URL &amp; HTTP Method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983480" y="148132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Note the exact path, method verb, and path parameters like {id}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572000" y="1828800"/>
            <a:ext cx="429768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4572000" y="1828800"/>
            <a:ext cx="347472" cy="585216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572000" y="1828800"/>
            <a:ext cx="347472" cy="58521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983480" y="188366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Request Parameters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983480" y="213969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Path params, query params (?key=val), and request body schema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572000" y="2487168"/>
            <a:ext cx="429768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4572000" y="2487168"/>
            <a:ext cx="347472" cy="585216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4572000" y="2487168"/>
            <a:ext cx="347472" cy="58521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983480" y="254203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Authentication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983480" y="279806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Look for 🔒 lock icon — Bearer/OAuth needed for protected endpoints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572000" y="3145536"/>
            <a:ext cx="429768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4572000" y="3145536"/>
            <a:ext cx="347472" cy="585216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4572000" y="3145536"/>
            <a:ext cx="347472" cy="58521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983480" y="320040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Response Schema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983480" y="345643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Understand the JSON structure for your test assertions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572000" y="3803904"/>
            <a:ext cx="429768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4572000" y="3803904"/>
            <a:ext cx="347472" cy="585216"/>
          </a:xfrm>
          <a:prstGeom prst="rect">
            <a:avLst/>
          </a:prstGeom>
          <a:solidFill>
            <a:srgbClr val="32ADE6"/>
          </a:solidFill>
          <a:ln cap="flat" cmpd="sng" w="12700">
            <a:solidFill>
              <a:srgbClr val="32ADE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4572000" y="3803904"/>
            <a:ext cx="347472" cy="58521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983480" y="385876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Response Status Codes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983480" y="411480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Document all: 200, 201, 400, 401, 404, 409, 500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572000" y="4462272"/>
            <a:ext cx="429768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4572000" y="4462272"/>
            <a:ext cx="347472" cy="585216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4572000" y="4462272"/>
            <a:ext cx="347472" cy="58521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983480" y="451713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Try It Out!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983480" y="477316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Execute calls live — great for initial exploration before scripting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Interpreting API Endpoints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365760" y="822960"/>
            <a:ext cx="8412480" cy="1207008"/>
          </a:xfrm>
          <a:prstGeom prst="rect">
            <a:avLst/>
          </a:prstGeom>
          <a:solidFill>
            <a:srgbClr val="1C1E26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9"/>
          <p:cNvGrpSpPr/>
          <p:nvPr/>
        </p:nvGrpSpPr>
        <p:grpSpPr>
          <a:xfrm>
            <a:off x="548640" y="896112"/>
            <a:ext cx="905400" cy="603636"/>
            <a:chOff x="548640" y="896112"/>
            <a:chExt cx="905400" cy="603636"/>
          </a:xfrm>
        </p:grpSpPr>
        <p:sp>
          <p:nvSpPr>
            <p:cNvPr id="299" name="Google Shape;299;p9"/>
            <p:cNvSpPr/>
            <p:nvPr/>
          </p:nvSpPr>
          <p:spPr>
            <a:xfrm>
              <a:off x="599383" y="896112"/>
              <a:ext cx="8037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400"/>
                <a:buFont typeface="Consolas"/>
                <a:buNone/>
              </a:pPr>
              <a:r>
                <a:rPr b="1" i="0" lang="en-US" sz="1400" u="none" cap="none" strike="noStrike">
                  <a:solidFill>
                    <a:srgbClr val="8A8A8A"/>
                  </a:solidFill>
                  <a:latin typeface="Consolas"/>
                  <a:ea typeface="Consolas"/>
                  <a:cs typeface="Consolas"/>
                  <a:sym typeface="Consolas"/>
                </a:rPr>
                <a:t>https://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599383" y="1243584"/>
              <a:ext cx="803700" cy="18300"/>
            </a:xfrm>
            <a:prstGeom prst="rect">
              <a:avLst/>
            </a:prstGeom>
            <a:solidFill>
              <a:srgbClr val="8A8A8A"/>
            </a:solidFill>
            <a:ln cap="flat" cmpd="sng" w="12700">
              <a:solidFill>
                <a:srgbClr val="8A8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548640" y="1298448"/>
              <a:ext cx="9054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700"/>
                <a:buFont typeface="Calibri"/>
                <a:buNone/>
              </a:pPr>
              <a:r>
                <a:rPr b="0" i="0" lang="en-US" sz="700" u="none" cap="none" strike="noStrike">
                  <a:solidFill>
                    <a:srgbClr val="8A8A8A"/>
                  </a:solidFill>
                  <a:latin typeface="Calibri"/>
                  <a:ea typeface="Calibri"/>
                  <a:cs typeface="Calibri"/>
                  <a:sym typeface="Calibri"/>
                </a:rPr>
                <a:t>Protocol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9"/>
          <p:cNvGrpSpPr/>
          <p:nvPr/>
        </p:nvGrpSpPr>
        <p:grpSpPr>
          <a:xfrm>
            <a:off x="1385621" y="896112"/>
            <a:ext cx="1682400" cy="603636"/>
            <a:chOff x="1309421" y="896112"/>
            <a:chExt cx="1682400" cy="603636"/>
          </a:xfrm>
        </p:grpSpPr>
        <p:sp>
          <p:nvSpPr>
            <p:cNvPr id="303" name="Google Shape;303;p9"/>
            <p:cNvSpPr/>
            <p:nvPr/>
          </p:nvSpPr>
          <p:spPr>
            <a:xfrm>
              <a:off x="1360587" y="896112"/>
              <a:ext cx="15801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71E3"/>
                </a:buClr>
                <a:buSzPts val="1400"/>
                <a:buFont typeface="Consolas"/>
                <a:buNone/>
              </a:pPr>
              <a:r>
                <a:rPr b="1" i="0" lang="en-US" sz="1400" u="none" cap="none" strike="noStrike">
                  <a:solidFill>
                    <a:srgbClr val="0071E3"/>
                  </a:solidFill>
                  <a:latin typeface="Consolas"/>
                  <a:ea typeface="Consolas"/>
                  <a:cs typeface="Consolas"/>
                  <a:sym typeface="Consolas"/>
                </a:rPr>
                <a:t>api.shopeasy.com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1360587" y="1243584"/>
              <a:ext cx="1580100" cy="18300"/>
            </a:xfrm>
            <a:prstGeom prst="rect">
              <a:avLst/>
            </a:prstGeom>
            <a:solidFill>
              <a:srgbClr val="0071E3"/>
            </a:solidFill>
            <a:ln cap="flat" cmpd="sng" w="12700">
              <a:solidFill>
                <a:srgbClr val="0071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1309421" y="1298448"/>
              <a:ext cx="16824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71E3"/>
                </a:buClr>
                <a:buSzPts val="700"/>
                <a:buFont typeface="Calibri"/>
                <a:buNone/>
              </a:pPr>
              <a:r>
                <a:rPr b="0" i="0" lang="en-US" sz="700" u="none" cap="none" strike="noStrike">
                  <a:solidFill>
                    <a:srgbClr val="0071E3"/>
                  </a:solidFill>
                  <a:latin typeface="Calibri"/>
                  <a:ea typeface="Calibri"/>
                  <a:cs typeface="Calibri"/>
                  <a:sym typeface="Calibri"/>
                </a:rPr>
                <a:t>Host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" name="Google Shape;306;p9"/>
          <p:cNvGrpSpPr/>
          <p:nvPr/>
        </p:nvGrpSpPr>
        <p:grpSpPr>
          <a:xfrm>
            <a:off x="3001670" y="896112"/>
            <a:ext cx="385877" cy="603504"/>
            <a:chOff x="2757830" y="896112"/>
            <a:chExt cx="385877" cy="603504"/>
          </a:xfrm>
        </p:grpSpPr>
        <p:sp>
          <p:nvSpPr>
            <p:cNvPr id="307" name="Google Shape;307;p9"/>
            <p:cNvSpPr/>
            <p:nvPr/>
          </p:nvSpPr>
          <p:spPr>
            <a:xfrm>
              <a:off x="2803550" y="896112"/>
              <a:ext cx="294437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9500"/>
                </a:buClr>
                <a:buSzPts val="1400"/>
                <a:buFont typeface="Consolas"/>
                <a:buNone/>
              </a:pPr>
              <a:r>
                <a:rPr b="1" i="0" lang="en-US" sz="1400" u="none" cap="none" strike="noStrike">
                  <a:solidFill>
                    <a:srgbClr val="FF9500"/>
                  </a:solidFill>
                  <a:latin typeface="Consolas"/>
                  <a:ea typeface="Consolas"/>
                  <a:cs typeface="Consolas"/>
                  <a:sym typeface="Consolas"/>
                </a:rPr>
                <a:t>/v1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2803550" y="1243584"/>
              <a:ext cx="294437" cy="18288"/>
            </a:xfrm>
            <a:prstGeom prst="rect">
              <a:avLst/>
            </a:prstGeom>
            <a:solidFill>
              <a:srgbClr val="FF9500"/>
            </a:solidFill>
            <a:ln cap="flat" cmpd="sng" w="12700">
              <a:solidFill>
                <a:srgbClr val="FF95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2757830" y="1298448"/>
              <a:ext cx="385877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9500"/>
                </a:buClr>
                <a:buSzPts val="700"/>
                <a:buFont typeface="Calibri"/>
                <a:buNone/>
              </a:pPr>
              <a:r>
                <a:rPr b="0" i="0" lang="en-US" sz="700" u="none" cap="none" strike="noStrike">
                  <a:solidFill>
                    <a:srgbClr val="FF9500"/>
                  </a:solidFill>
                  <a:latin typeface="Calibri"/>
                  <a:ea typeface="Calibri"/>
                  <a:cs typeface="Calibri"/>
                  <a:sym typeface="Calibri"/>
                </a:rPr>
                <a:t>Version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9"/>
          <p:cNvGrpSpPr/>
          <p:nvPr/>
        </p:nvGrpSpPr>
        <p:grpSpPr>
          <a:xfrm>
            <a:off x="3332683" y="896112"/>
            <a:ext cx="822900" cy="603636"/>
            <a:chOff x="3088843" y="896112"/>
            <a:chExt cx="822900" cy="603636"/>
          </a:xfrm>
        </p:grpSpPr>
        <p:sp>
          <p:nvSpPr>
            <p:cNvPr id="311" name="Google Shape;311;p9"/>
            <p:cNvSpPr/>
            <p:nvPr/>
          </p:nvSpPr>
          <p:spPr>
            <a:xfrm>
              <a:off x="3140407" y="896112"/>
              <a:ext cx="7197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C759"/>
                </a:buClr>
                <a:buSzPts val="1400"/>
                <a:buFont typeface="Consolas"/>
                <a:buNone/>
              </a:pPr>
              <a:r>
                <a:rPr b="1" i="0" lang="en-US" sz="1400" u="none" cap="none" strike="noStrike">
                  <a:solidFill>
                    <a:srgbClr val="34C759"/>
                  </a:solidFill>
                  <a:latin typeface="Consolas"/>
                  <a:ea typeface="Consolas"/>
                  <a:cs typeface="Consolas"/>
                  <a:sym typeface="Consolas"/>
                </a:rPr>
                <a:t>/orders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3140407" y="1243584"/>
              <a:ext cx="719700" cy="18300"/>
            </a:xfrm>
            <a:prstGeom prst="rect">
              <a:avLst/>
            </a:prstGeom>
            <a:solidFill>
              <a:srgbClr val="34C759"/>
            </a:solidFill>
            <a:ln cap="flat" cmpd="sng" w="12700">
              <a:solidFill>
                <a:srgbClr val="34C7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3088843" y="1298448"/>
              <a:ext cx="8229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C759"/>
                </a:buClr>
                <a:buSzPts val="700"/>
                <a:buFont typeface="Calibri"/>
                <a:buNone/>
              </a:pPr>
              <a:r>
                <a:rPr b="0" i="0" lang="en-US" sz="700" u="none" cap="none" strike="noStrike">
                  <a:solidFill>
                    <a:srgbClr val="34C759"/>
                  </a:solidFill>
                  <a:latin typeface="Calibri"/>
                  <a:ea typeface="Calibri"/>
                  <a:cs typeface="Calibri"/>
                  <a:sym typeface="Calibri"/>
                </a:rPr>
                <a:t>Resource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9"/>
          <p:cNvGrpSpPr/>
          <p:nvPr/>
        </p:nvGrpSpPr>
        <p:grpSpPr>
          <a:xfrm>
            <a:off x="4091330" y="896112"/>
            <a:ext cx="649200" cy="603636"/>
            <a:chOff x="3763670" y="896112"/>
            <a:chExt cx="649200" cy="603636"/>
          </a:xfrm>
        </p:grpSpPr>
        <p:sp>
          <p:nvSpPr>
            <p:cNvPr id="315" name="Google Shape;315;p9"/>
            <p:cNvSpPr/>
            <p:nvPr/>
          </p:nvSpPr>
          <p:spPr>
            <a:xfrm>
              <a:off x="3816885" y="896112"/>
              <a:ext cx="5427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F52DE"/>
                </a:buClr>
                <a:buSzPts val="1400"/>
                <a:buFont typeface="Consolas"/>
                <a:buNone/>
              </a:pPr>
              <a:r>
                <a:rPr b="1" i="0" lang="en-US" sz="1400" u="none" cap="none" strike="noStrike">
                  <a:solidFill>
                    <a:srgbClr val="AF52DE"/>
                  </a:solidFill>
                  <a:latin typeface="Consolas"/>
                  <a:ea typeface="Consolas"/>
                  <a:cs typeface="Consolas"/>
                  <a:sym typeface="Consolas"/>
                </a:rPr>
                <a:t>/1042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3816885" y="1243584"/>
              <a:ext cx="542700" cy="18300"/>
            </a:xfrm>
            <a:prstGeom prst="rect">
              <a:avLst/>
            </a:prstGeom>
            <a:solidFill>
              <a:srgbClr val="AF52DE"/>
            </a:solidFill>
            <a:ln cap="flat" cmpd="sng" w="12700">
              <a:solidFill>
                <a:srgbClr val="AF52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3763670" y="1298448"/>
              <a:ext cx="6492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F52DE"/>
                </a:buClr>
                <a:buSzPts val="700"/>
                <a:buFont typeface="Calibri"/>
                <a:buNone/>
              </a:pPr>
              <a:r>
                <a:rPr b="0" i="0" lang="en-US" sz="700" u="none" cap="none" strike="noStrike">
                  <a:solidFill>
                    <a:srgbClr val="AF52DE"/>
                  </a:solidFill>
                  <a:latin typeface="Calibri"/>
                  <a:ea typeface="Calibri"/>
                  <a:cs typeface="Calibri"/>
                  <a:sym typeface="Calibri"/>
                </a:rPr>
                <a:t>Path Param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9"/>
          <p:cNvGrpSpPr/>
          <p:nvPr/>
        </p:nvGrpSpPr>
        <p:grpSpPr>
          <a:xfrm>
            <a:off x="4678070" y="896112"/>
            <a:ext cx="1344300" cy="603636"/>
            <a:chOff x="4266590" y="896112"/>
            <a:chExt cx="1344300" cy="603636"/>
          </a:xfrm>
        </p:grpSpPr>
        <p:sp>
          <p:nvSpPr>
            <p:cNvPr id="319" name="Google Shape;319;p9"/>
            <p:cNvSpPr/>
            <p:nvPr/>
          </p:nvSpPr>
          <p:spPr>
            <a:xfrm>
              <a:off x="4319590" y="896112"/>
              <a:ext cx="12378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2ADE6"/>
                </a:buClr>
                <a:buSzPts val="1400"/>
                <a:buFont typeface="Consolas"/>
                <a:buNone/>
              </a:pPr>
              <a:r>
                <a:rPr b="1" i="0" lang="en-US" sz="1400" u="none" cap="none" strike="noStrike">
                  <a:solidFill>
                    <a:srgbClr val="32ADE6"/>
                  </a:solidFill>
                  <a:latin typeface="Consolas"/>
                  <a:ea typeface="Consolas"/>
                  <a:cs typeface="Consolas"/>
                  <a:sym typeface="Consolas"/>
                </a:rPr>
                <a:t>?status=open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4319590" y="1243584"/>
              <a:ext cx="1237800" cy="18300"/>
            </a:xfrm>
            <a:prstGeom prst="rect">
              <a:avLst/>
            </a:prstGeom>
            <a:solidFill>
              <a:srgbClr val="32ADE6"/>
            </a:solidFill>
            <a:ln cap="flat" cmpd="sng" w="12700">
              <a:solidFill>
                <a:srgbClr val="32AD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4266590" y="1298448"/>
              <a:ext cx="13443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2ADE6"/>
                </a:buClr>
                <a:buSzPts val="700"/>
                <a:buFont typeface="Calibri"/>
                <a:buNone/>
              </a:pPr>
              <a:r>
                <a:rPr b="0" i="0" lang="en-US" sz="700" u="none" cap="none" strike="noStrike">
                  <a:solidFill>
                    <a:srgbClr val="32ADE6"/>
                  </a:solidFill>
                  <a:latin typeface="Calibri"/>
                  <a:ea typeface="Calibri"/>
                  <a:cs typeface="Calibri"/>
                  <a:sym typeface="Calibri"/>
                </a:rPr>
                <a:t>Query Param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9"/>
          <p:cNvSpPr/>
          <p:nvPr/>
        </p:nvSpPr>
        <p:spPr>
          <a:xfrm>
            <a:off x="365760" y="221284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Common Endpoint Patterns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65760" y="2578608"/>
            <a:ext cx="4114800" cy="4572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365760" y="2578608"/>
            <a:ext cx="658368" cy="4572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365760" y="2578608"/>
            <a:ext cx="65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1078992" y="261518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/api/users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1078992" y="2825496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List all users (collection endpoint)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663440" y="2578608"/>
            <a:ext cx="4114800" cy="4572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4663440" y="2578608"/>
            <a:ext cx="658368" cy="45720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4663440" y="2578608"/>
            <a:ext cx="65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376672" y="261518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/api/users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376672" y="2825496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Create a new user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65760" y="3108960"/>
            <a:ext cx="4114800" cy="4572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365760" y="3108960"/>
            <a:ext cx="658368" cy="4572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365760" y="3108960"/>
            <a:ext cx="65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1078992" y="3145536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/api/users/{id}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1078992" y="335584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Get specific user by 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663440" y="3108960"/>
            <a:ext cx="4114800" cy="4572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4663440" y="3108960"/>
            <a:ext cx="658368" cy="45720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4663440" y="3108960"/>
            <a:ext cx="65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5376672" y="3145536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/api/users/{id}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5376672" y="335584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Replace user entirely (all fields)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365760" y="3639312"/>
            <a:ext cx="4114800" cy="4572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365760" y="3639312"/>
            <a:ext cx="658368" cy="457200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365760" y="3639312"/>
            <a:ext cx="65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1"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1078992" y="367588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/api/users/{id}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1078992" y="388620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Update specific fields 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4663440" y="3639312"/>
            <a:ext cx="4114800" cy="4572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4663440" y="3639312"/>
            <a:ext cx="658368" cy="45720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4663440" y="3639312"/>
            <a:ext cx="65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5376672" y="367588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/api/users/{id}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376672" y="388620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Delete the user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65760" y="4169664"/>
            <a:ext cx="4114800" cy="4572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365760" y="4169664"/>
            <a:ext cx="658368" cy="4572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365760" y="4169664"/>
            <a:ext cx="65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1078992" y="42062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/api/users/{id}/orders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1078992" y="4416552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Nested resource: user's orders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4663440" y="4169664"/>
            <a:ext cx="4114800" cy="4572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4663440" y="4169664"/>
            <a:ext cx="658368" cy="4572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4663440" y="4169664"/>
            <a:ext cx="65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376672" y="42062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/api/products?category=shoes&amp;sort=price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376672" y="4416552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Filter + sort via query params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HTTP Methods — What to Verify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7"/>
          <p:cNvSpPr/>
          <p:nvPr/>
        </p:nvSpPr>
        <p:spPr>
          <a:xfrm>
            <a:off x="182880" y="822960"/>
            <a:ext cx="1664208" cy="41148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7"/>
          <p:cNvSpPr/>
          <p:nvPr/>
        </p:nvSpPr>
        <p:spPr>
          <a:xfrm>
            <a:off x="182880" y="822960"/>
            <a:ext cx="1664208" cy="41148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"/>
          <p:cNvSpPr/>
          <p:nvPr/>
        </p:nvSpPr>
        <p:spPr>
          <a:xfrm>
            <a:off x="182880" y="822960"/>
            <a:ext cx="1664208" cy="4114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256032" y="1280160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0071E3"/>
                </a:solidFill>
                <a:latin typeface="Trebuchet MS"/>
                <a:ea typeface="Trebuchet MS"/>
                <a:cs typeface="Trebuchet MS"/>
                <a:sym typeface="Trebuchet MS"/>
              </a:rPr>
              <a:t>Retrieve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274320" y="1664208"/>
            <a:ext cx="146304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274320" y="171907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Verify: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274320" y="1975104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Status 200 with expected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274320" y="2459736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Response schema matches contract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274320" y="2944368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Pagination parameters work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274320" y="342900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Empty/null handled gracefully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274320" y="391363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Unauthorized returns 401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1956816" y="822960"/>
            <a:ext cx="1664208" cy="41148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7"/>
          <p:cNvSpPr/>
          <p:nvPr/>
        </p:nvSpPr>
        <p:spPr>
          <a:xfrm>
            <a:off x="1956816" y="822960"/>
            <a:ext cx="1664208" cy="41148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7"/>
          <p:cNvSpPr/>
          <p:nvPr/>
        </p:nvSpPr>
        <p:spPr>
          <a:xfrm>
            <a:off x="1956816" y="822960"/>
            <a:ext cx="1664208" cy="4114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2029968" y="1280160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34C759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a new resource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2048256" y="1664208"/>
            <a:ext cx="146304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7"/>
          <p:cNvSpPr/>
          <p:nvPr/>
        </p:nvSpPr>
        <p:spPr>
          <a:xfrm>
            <a:off x="2048256" y="171907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Verify: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2048256" y="1975104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Status 201 + Location header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2048256" y="2459736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Resource created in 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2048256" y="2944368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Duplicate entry returns 409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2048256" y="342900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Missing required fields → 400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2048256" y="391363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Response body has generated 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3730752" y="822960"/>
            <a:ext cx="1664208" cy="41148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3730752" y="822960"/>
            <a:ext cx="1664208" cy="41148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7"/>
          <p:cNvSpPr/>
          <p:nvPr/>
        </p:nvSpPr>
        <p:spPr>
          <a:xfrm>
            <a:off x="3730752" y="822960"/>
            <a:ext cx="1664208" cy="4114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3803904" y="1280160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9500"/>
                </a:solidFill>
                <a:latin typeface="Trebuchet MS"/>
                <a:ea typeface="Trebuchet MS"/>
                <a:cs typeface="Trebuchet MS"/>
                <a:sym typeface="Trebuchet MS"/>
              </a:rPr>
              <a:t>Replace entire resource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3822192" y="1664208"/>
            <a:ext cx="146304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7"/>
          <p:cNvSpPr/>
          <p:nvPr/>
        </p:nvSpPr>
        <p:spPr>
          <a:xfrm>
            <a:off x="3822192" y="171907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Verify: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3822192" y="1975104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Status 200 or 204 on success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3822192" y="2459736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All fields updated (not partial)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3822192" y="2944368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Non-existent resource → 404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3822192" y="342900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Idempotent: same call = same result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3822192" y="391363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Validation on required fields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5504688" y="822960"/>
            <a:ext cx="1664208" cy="41148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7"/>
          <p:cNvSpPr/>
          <p:nvPr/>
        </p:nvSpPr>
        <p:spPr>
          <a:xfrm>
            <a:off x="5504688" y="822960"/>
            <a:ext cx="1664208" cy="411480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"/>
          <p:cNvSpPr/>
          <p:nvPr/>
        </p:nvSpPr>
        <p:spPr>
          <a:xfrm>
            <a:off x="5504688" y="822960"/>
            <a:ext cx="1664208" cy="4114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5577840" y="1280160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AF52DE"/>
                </a:solidFill>
                <a:latin typeface="Trebuchet MS"/>
                <a:ea typeface="Trebuchet MS"/>
                <a:cs typeface="Trebuchet MS"/>
                <a:sym typeface="Trebuchet MS"/>
              </a:rPr>
              <a:t>Partial update of resource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5596128" y="1664208"/>
            <a:ext cx="146304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7"/>
          <p:cNvSpPr/>
          <p:nvPr/>
        </p:nvSpPr>
        <p:spPr>
          <a:xfrm>
            <a:off x="5596128" y="171907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Verify: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5596128" y="1975104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Only sent fields are updated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5596128" y="2459736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Other fields remain unchanged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5596128" y="2944368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Status 200 with updated body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5596128" y="342900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Invalid field → 400 Bad Request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5596128" y="391363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Concurrent patch conflicts → 409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7278624" y="822960"/>
            <a:ext cx="1664208" cy="41148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7"/>
          <p:cNvSpPr/>
          <p:nvPr/>
        </p:nvSpPr>
        <p:spPr>
          <a:xfrm>
            <a:off x="7278624" y="822960"/>
            <a:ext cx="1664208" cy="41148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7"/>
          <p:cNvSpPr/>
          <p:nvPr/>
        </p:nvSpPr>
        <p:spPr>
          <a:xfrm>
            <a:off x="7278624" y="822960"/>
            <a:ext cx="1664208" cy="4114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DELETE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7351776" y="1280160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3B30"/>
                </a:solidFill>
                <a:latin typeface="Trebuchet MS"/>
                <a:ea typeface="Trebuchet MS"/>
                <a:cs typeface="Trebuchet MS"/>
                <a:sym typeface="Trebuchet MS"/>
              </a:rPr>
              <a:t>Remove a resource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7370064" y="1664208"/>
            <a:ext cx="146304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7"/>
          <p:cNvSpPr/>
          <p:nvPr/>
        </p:nvSpPr>
        <p:spPr>
          <a:xfrm>
            <a:off x="7370064" y="171907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Verify: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7370064" y="1975104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Status 204 (No Content)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7370064" y="2459736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Resource is gone (GET → 404)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7"/>
          <p:cNvSpPr/>
          <p:nvPr/>
        </p:nvSpPr>
        <p:spPr>
          <a:xfrm>
            <a:off x="7370064" y="2944368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Already deleted → 404 or 204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"/>
          <p:cNvSpPr/>
          <p:nvPr/>
        </p:nvSpPr>
        <p:spPr>
          <a:xfrm>
            <a:off x="7370064" y="342900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Cascade deletes if applicable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7370064" y="391363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Only authorized user can delete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API Authentication Methods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228600" y="822960"/>
            <a:ext cx="2011680" cy="422452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228600" y="822960"/>
            <a:ext cx="2011680" cy="36576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228600" y="822960"/>
            <a:ext cx="201168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🔑  API Key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320040" y="124358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works: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320040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 static token passed in the header or query string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301752" y="1847088"/>
            <a:ext cx="1874520" cy="56692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320040" y="1883664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Header: x-api-key: abc123xyz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Query:  ?api_key=abc123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320040" y="2468880"/>
            <a:ext cx="182880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301752" y="2523744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✅ Simple to implement, no expiry by default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301752" y="2871216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⚠️ Risky if leaked, no user context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301752" y="3273552"/>
            <a:ext cx="187452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320040" y="33101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📌 Used for: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320040" y="35295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Internal tools, public APIs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301752" y="3931920"/>
            <a:ext cx="1874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In Postman: Authorization tab → select type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2423160" y="822960"/>
            <a:ext cx="2011680" cy="422452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2423160" y="822960"/>
            <a:ext cx="2011680" cy="365760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2423160" y="822960"/>
            <a:ext cx="201168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👤  Basic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2514600" y="124358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works: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2514600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Base64-encoded username:password in Authorization header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2496312" y="1847088"/>
            <a:ext cx="1874520" cy="56692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2514600" y="1883664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Authorization: Basic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dXNlcjpwYXNz (base64)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2514600" y="2468880"/>
            <a:ext cx="182880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2496312" y="2523744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✅ Universal support, easy to use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2496312" y="2871216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⚠️ Sends credentials in every request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2496312" y="3273552"/>
            <a:ext cx="187452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2514600" y="33101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📌 Used for: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2514600" y="35295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Legacy systems, dev/test envs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2496312" y="3931920"/>
            <a:ext cx="1874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In Postman: Authorization tab → select type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4617720" y="822960"/>
            <a:ext cx="2011680" cy="422452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4617720" y="822960"/>
            <a:ext cx="2011680" cy="36576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4617720" y="822960"/>
            <a:ext cx="201168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🎫  Bearer / 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4709160" y="124358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works: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4709160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 signed token obtained after login, sent in every request header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4690872" y="1847088"/>
            <a:ext cx="1874520" cy="56692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4709160" y="1883664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Authorization: Bearer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eyJhbGciOiJIUzI1...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4709160" y="2468880"/>
            <a:ext cx="182880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0"/>
          <p:cNvSpPr/>
          <p:nvPr/>
        </p:nvSpPr>
        <p:spPr>
          <a:xfrm>
            <a:off x="4690872" y="2523744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✅ Stateless, carries user info, expirable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4690872" y="2871216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⚠️ Token must be refreshed; handle expiry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4690872" y="3273552"/>
            <a:ext cx="187452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0"/>
          <p:cNvSpPr/>
          <p:nvPr/>
        </p:nvSpPr>
        <p:spPr>
          <a:xfrm>
            <a:off x="4709160" y="33101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📌 Used for: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4709160" y="35295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Most modern REST APIs, SPAs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4690872" y="3931920"/>
            <a:ext cx="1874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In Postman: Authorization tab → select type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6812280" y="822960"/>
            <a:ext cx="2011680" cy="422452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6812280" y="822960"/>
            <a:ext cx="2011680" cy="365760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0"/>
          <p:cNvSpPr/>
          <p:nvPr/>
        </p:nvSpPr>
        <p:spPr>
          <a:xfrm>
            <a:off x="6812280" y="822960"/>
            <a:ext cx="201168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🛡️  OAuth 2.0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6903720" y="124358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works: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6903720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Delegated access — user authorizes app to act on their behalf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6885432" y="1847088"/>
            <a:ext cx="1874520" cy="56692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0"/>
          <p:cNvSpPr/>
          <p:nvPr/>
        </p:nvSpPr>
        <p:spPr>
          <a:xfrm>
            <a:off x="6903720" y="1883664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Step 1: Get auth code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Step 2: Exchange for token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6903720" y="2468880"/>
            <a:ext cx="182880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0"/>
          <p:cNvSpPr/>
          <p:nvPr/>
        </p:nvSpPr>
        <p:spPr>
          <a:xfrm>
            <a:off x="6885432" y="2523744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✅ Granular scopes, no password sharing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6885432" y="2871216"/>
            <a:ext cx="1874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⚠️ Complex flow, multiple redirect steps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6885432" y="3273552"/>
            <a:ext cx="187452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0"/>
          <p:cNvSpPr/>
          <p:nvPr/>
        </p:nvSpPr>
        <p:spPr>
          <a:xfrm>
            <a:off x="6903720" y="33101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📌 Used for: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6903720" y="35295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Social login, 3rd-party integrations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6885432" y="3931920"/>
            <a:ext cx="1874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In Postman: Authorization tab → select type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Types of Bugs Detected by API Testing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274320" y="822960"/>
            <a:ext cx="2834640" cy="212140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274320" y="822960"/>
            <a:ext cx="2834640" cy="347472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274320" y="822960"/>
            <a:ext cx="283464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🐛  Functional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384048" y="1225296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Wrong response data / calculations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384048" y="1645920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Resource not created after 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384048" y="206654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Deleted resource still returned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384048" y="2487168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Incorrect business logic in response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3264408" y="822960"/>
            <a:ext cx="2834640" cy="212140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1"/>
          <p:cNvSpPr/>
          <p:nvPr/>
        </p:nvSpPr>
        <p:spPr>
          <a:xfrm>
            <a:off x="3264408" y="822960"/>
            <a:ext cx="2834640" cy="347472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1"/>
          <p:cNvSpPr/>
          <p:nvPr/>
        </p:nvSpPr>
        <p:spPr>
          <a:xfrm>
            <a:off x="3264408" y="822960"/>
            <a:ext cx="283464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📋  Data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3374136" y="1225296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Missing required field 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3374136" y="1645920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Wrong data type accepted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3374136" y="206654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Boundary values not enforced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3374136" y="2487168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SQL/script injection not sanitized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6254496" y="822960"/>
            <a:ext cx="2834640" cy="212140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1"/>
          <p:cNvSpPr/>
          <p:nvPr/>
        </p:nvSpPr>
        <p:spPr>
          <a:xfrm>
            <a:off x="6254496" y="822960"/>
            <a:ext cx="2834640" cy="347472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1"/>
          <p:cNvSpPr/>
          <p:nvPr/>
        </p:nvSpPr>
        <p:spPr>
          <a:xfrm>
            <a:off x="6254496" y="822960"/>
            <a:ext cx="283464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🔒 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1"/>
          <p:cNvSpPr/>
          <p:nvPr/>
        </p:nvSpPr>
        <p:spPr>
          <a:xfrm>
            <a:off x="6364224" y="1225296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Unauthenticated access allowed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6364224" y="1645920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User A can access User B's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1"/>
          <p:cNvSpPr/>
          <p:nvPr/>
        </p:nvSpPr>
        <p:spPr>
          <a:xfrm>
            <a:off x="6364224" y="206654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Expired JWT token accepted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1"/>
          <p:cNvSpPr/>
          <p:nvPr/>
        </p:nvSpPr>
        <p:spPr>
          <a:xfrm>
            <a:off x="6364224" y="2487168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Sensitive data in response body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274320" y="3054096"/>
            <a:ext cx="2834640" cy="212140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1"/>
          <p:cNvSpPr/>
          <p:nvPr/>
        </p:nvSpPr>
        <p:spPr>
          <a:xfrm>
            <a:off x="274320" y="3054096"/>
            <a:ext cx="2834640" cy="347472"/>
          </a:xfrm>
          <a:prstGeom prst="rect">
            <a:avLst/>
          </a:prstGeom>
          <a:solidFill>
            <a:srgbClr val="32ADE6"/>
          </a:solidFill>
          <a:ln cap="flat" cmpd="sng" w="12700">
            <a:solidFill>
              <a:srgbClr val="32ADE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274320" y="3054096"/>
            <a:ext cx="283464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⚡ 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1"/>
          <p:cNvSpPr/>
          <p:nvPr/>
        </p:nvSpPr>
        <p:spPr>
          <a:xfrm>
            <a:off x="384048" y="3456432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ADE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2ADE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Response time &gt; SLA threshold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1"/>
          <p:cNvSpPr/>
          <p:nvPr/>
        </p:nvSpPr>
        <p:spPr>
          <a:xfrm>
            <a:off x="384048" y="3877056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ADE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2ADE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API crashes under load 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384048" y="4297680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ADE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2ADE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N+1 queries causing slow response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1"/>
          <p:cNvSpPr/>
          <p:nvPr/>
        </p:nvSpPr>
        <p:spPr>
          <a:xfrm>
            <a:off x="384048" y="471830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ADE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2ADE6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Memory leak over repeated calls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3264408" y="3054096"/>
            <a:ext cx="2834640" cy="212140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"/>
          <p:cNvSpPr/>
          <p:nvPr/>
        </p:nvSpPr>
        <p:spPr>
          <a:xfrm>
            <a:off x="3264408" y="3054096"/>
            <a:ext cx="2834640" cy="347472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3264408" y="3054096"/>
            <a:ext cx="283464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⚠️  Error Handling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1"/>
          <p:cNvSpPr/>
          <p:nvPr/>
        </p:nvSpPr>
        <p:spPr>
          <a:xfrm>
            <a:off x="3374136" y="3456432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500 error on invalid 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3374136" y="3877056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Wrong error code (200 vs 404)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1"/>
          <p:cNvSpPr/>
          <p:nvPr/>
        </p:nvSpPr>
        <p:spPr>
          <a:xfrm>
            <a:off x="3374136" y="4297680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No error message in response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1"/>
          <p:cNvSpPr/>
          <p:nvPr/>
        </p:nvSpPr>
        <p:spPr>
          <a:xfrm>
            <a:off x="3374136" y="471830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Stack trace exposed to client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1"/>
          <p:cNvSpPr/>
          <p:nvPr/>
        </p:nvSpPr>
        <p:spPr>
          <a:xfrm>
            <a:off x="6254496" y="3054096"/>
            <a:ext cx="2834640" cy="212140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1"/>
          <p:cNvSpPr/>
          <p:nvPr/>
        </p:nvSpPr>
        <p:spPr>
          <a:xfrm>
            <a:off x="6254496" y="3054096"/>
            <a:ext cx="2834640" cy="347472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1"/>
          <p:cNvSpPr/>
          <p:nvPr/>
        </p:nvSpPr>
        <p:spPr>
          <a:xfrm>
            <a:off x="6254496" y="3054096"/>
            <a:ext cx="283464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🔌 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1"/>
          <p:cNvSpPr/>
          <p:nvPr/>
        </p:nvSpPr>
        <p:spPr>
          <a:xfrm>
            <a:off x="6364224" y="3456432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3rd-party timeout not handled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1"/>
          <p:cNvSpPr/>
          <p:nvPr/>
        </p:nvSpPr>
        <p:spPr>
          <a:xfrm>
            <a:off x="6364224" y="3877056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Wrong format sent to external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6364224" y="4297680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Webhook/callback not triggered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6364224" y="4718304"/>
            <a:ext cx="2615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9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Rate limit errors not retried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API Testing Tools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228600" y="822960"/>
            <a:ext cx="2011680" cy="41605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228600" y="822960"/>
            <a:ext cx="2011680" cy="36576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228600" y="822960"/>
            <a:ext cx="201168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Postman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301752" y="1234440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Primary GUI Tool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301752" y="1499616"/>
            <a:ext cx="187452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2"/>
          <p:cNvSpPr/>
          <p:nvPr/>
        </p:nvSpPr>
        <p:spPr>
          <a:xfrm>
            <a:off x="320040" y="15544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Industry-leading API client. Send requests, write JS test scripts, create collections, set environments, and run automation with Newman.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320040" y="234086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Collections &amp; Environments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320040" y="2633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JavaScript test assertions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320040" y="2926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Pre-request scripts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2"/>
          <p:cNvSpPr/>
          <p:nvPr/>
        </p:nvSpPr>
        <p:spPr>
          <a:xfrm>
            <a:off x="320040" y="32186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Mock Servers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320040" y="351129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Newman CLI runner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2"/>
          <p:cNvSpPr/>
          <p:nvPr/>
        </p:nvSpPr>
        <p:spPr>
          <a:xfrm>
            <a:off x="301752" y="3794760"/>
            <a:ext cx="1874520" cy="20116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2"/>
          <p:cNvSpPr/>
          <p:nvPr/>
        </p:nvSpPr>
        <p:spPr>
          <a:xfrm>
            <a:off x="320040" y="38221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Best for: Day-to-day exploration &amp; test authoring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2423160" y="822960"/>
            <a:ext cx="2011680" cy="41605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2"/>
          <p:cNvSpPr/>
          <p:nvPr/>
        </p:nvSpPr>
        <p:spPr>
          <a:xfrm>
            <a:off x="2423160" y="822960"/>
            <a:ext cx="2011680" cy="36576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2423160" y="822960"/>
            <a:ext cx="201168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Newman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2496312" y="1234440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CLI Runner for Postman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2496312" y="1499616"/>
            <a:ext cx="187452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2"/>
          <p:cNvSpPr/>
          <p:nvPr/>
        </p:nvSpPr>
        <p:spPr>
          <a:xfrm>
            <a:off x="2514600" y="15544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Command-line companion to Postman. Runs Postman collections in terminal, CI/CD pipelines, and generates HTML/JSON reports.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2514600" y="234086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Runs Postman collections via CLI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2"/>
          <p:cNvSpPr/>
          <p:nvPr/>
        </p:nvSpPr>
        <p:spPr>
          <a:xfrm>
            <a:off x="2514600" y="2633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CI/CD integration (Jenkins, GitHub Actions)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/>
          <p:nvPr/>
        </p:nvSpPr>
        <p:spPr>
          <a:xfrm>
            <a:off x="2514600" y="2926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HTML &amp; JUnit report generation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2"/>
          <p:cNvSpPr/>
          <p:nvPr/>
        </p:nvSpPr>
        <p:spPr>
          <a:xfrm>
            <a:off x="2514600" y="32186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Data-driven testing with CSV/JSON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2514600" y="351129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Environment variable injection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2496312" y="3794760"/>
            <a:ext cx="1874520" cy="20116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2514600" y="38221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Best for: Automated regression runs &amp; CI pipelines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4617720" y="822960"/>
            <a:ext cx="2011680" cy="41605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2"/>
          <p:cNvSpPr/>
          <p:nvPr/>
        </p:nvSpPr>
        <p:spPr>
          <a:xfrm>
            <a:off x="4617720" y="822960"/>
            <a:ext cx="2011680" cy="365760"/>
          </a:xfrm>
          <a:prstGeom prst="rect">
            <a:avLst/>
          </a:prstGeom>
          <a:solidFill>
            <a:srgbClr val="32ADE6"/>
          </a:solidFill>
          <a:ln cap="flat" cmpd="sng" w="12700">
            <a:solidFill>
              <a:srgbClr val="32ADE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2"/>
          <p:cNvSpPr/>
          <p:nvPr/>
        </p:nvSpPr>
        <p:spPr>
          <a:xfrm>
            <a:off x="4617720" y="822960"/>
            <a:ext cx="201168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REST Client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(VS Code)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4690872" y="1234440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ADE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2ADE6"/>
                </a:solidFill>
                <a:latin typeface="Calibri"/>
                <a:ea typeface="Calibri"/>
                <a:cs typeface="Calibri"/>
                <a:sym typeface="Calibri"/>
              </a:rPr>
              <a:t>Lightweight HTTP Client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4690872" y="1499616"/>
            <a:ext cx="187452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2"/>
          <p:cNvSpPr/>
          <p:nvPr/>
        </p:nvSpPr>
        <p:spPr>
          <a:xfrm>
            <a:off x="4709160" y="15544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VS Code extension for sending HTTP requests from .http files. Great for keeping requests in version control alongside your code.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4709160" y="234086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Requests as plain .http files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4709160" y="2633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Version controlled with source code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/>
          <p:nvPr/>
        </p:nvSpPr>
        <p:spPr>
          <a:xfrm>
            <a:off x="4709160" y="2926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Environment variables in settings.json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2"/>
          <p:cNvSpPr/>
          <p:nvPr/>
        </p:nvSpPr>
        <p:spPr>
          <a:xfrm>
            <a:off x="4709160" y="32186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Response viewer inline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2"/>
          <p:cNvSpPr/>
          <p:nvPr/>
        </p:nvSpPr>
        <p:spPr>
          <a:xfrm>
            <a:off x="4709160" y="351129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No heavy UI overhead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/>
          <p:nvPr/>
        </p:nvSpPr>
        <p:spPr>
          <a:xfrm>
            <a:off x="4690872" y="3794760"/>
            <a:ext cx="1874520" cy="20116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4709160" y="38221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Best for: Quick API calls alongside dev code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2"/>
          <p:cNvSpPr/>
          <p:nvPr/>
        </p:nvSpPr>
        <p:spPr>
          <a:xfrm>
            <a:off x="6812280" y="822960"/>
            <a:ext cx="2011680" cy="416052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6812280" y="822960"/>
            <a:ext cx="2011680" cy="365760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2"/>
          <p:cNvSpPr/>
          <p:nvPr/>
        </p:nvSpPr>
        <p:spPr>
          <a:xfrm>
            <a:off x="6812280" y="822960"/>
            <a:ext cx="2011680" cy="3657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cURL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2"/>
          <p:cNvSpPr/>
          <p:nvPr/>
        </p:nvSpPr>
        <p:spPr>
          <a:xfrm>
            <a:off x="6885432" y="1234440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CLI HTTP Tool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2"/>
          <p:cNvSpPr/>
          <p:nvPr/>
        </p:nvSpPr>
        <p:spPr>
          <a:xfrm>
            <a:off x="6885432" y="1499616"/>
            <a:ext cx="1874520" cy="9144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6903720" y="15544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Universal command-line HTTP tool available on every OS. Ideal for scripting, debugging, and quick one-off API calls from terminal.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/>
          <p:nvPr/>
        </p:nvSpPr>
        <p:spPr>
          <a:xfrm>
            <a:off x="6903720" y="234086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Available everywhere by default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2"/>
          <p:cNvSpPr/>
          <p:nvPr/>
        </p:nvSpPr>
        <p:spPr>
          <a:xfrm>
            <a:off x="6903720" y="2633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Easy to embed in bash scripts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2"/>
          <p:cNvSpPr/>
          <p:nvPr/>
        </p:nvSpPr>
        <p:spPr>
          <a:xfrm>
            <a:off x="6903720" y="2926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Full header &amp; body control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2"/>
          <p:cNvSpPr/>
          <p:nvPr/>
        </p:nvSpPr>
        <p:spPr>
          <a:xfrm>
            <a:off x="6903720" y="32186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Supports all auth types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2"/>
          <p:cNvSpPr/>
          <p:nvPr/>
        </p:nvSpPr>
        <p:spPr>
          <a:xfrm>
            <a:off x="6903720" y="351129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✓  Verbose mode: full request/response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2"/>
          <p:cNvSpPr/>
          <p:nvPr/>
        </p:nvSpPr>
        <p:spPr>
          <a:xfrm>
            <a:off x="6885432" y="3794760"/>
            <a:ext cx="1874520" cy="20116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2"/>
          <p:cNvSpPr/>
          <p:nvPr/>
        </p:nvSpPr>
        <p:spPr>
          <a:xfrm>
            <a:off x="6903720" y="38221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Best for: Debugging &amp; shell scripting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3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Postman — Your API Testing Workbench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"/>
          <p:cNvSpPr/>
          <p:nvPr/>
        </p:nvSpPr>
        <p:spPr>
          <a:xfrm>
            <a:off x="274320" y="822960"/>
            <a:ext cx="4663440" cy="4114800"/>
          </a:xfrm>
          <a:prstGeom prst="rect">
            <a:avLst/>
          </a:prstGeom>
          <a:solidFill>
            <a:srgbClr val="1C1E26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3"/>
          <p:cNvSpPr/>
          <p:nvPr/>
        </p:nvSpPr>
        <p:spPr>
          <a:xfrm>
            <a:off x="274320" y="822960"/>
            <a:ext cx="4663440" cy="365760"/>
          </a:xfrm>
          <a:prstGeom prst="rect">
            <a:avLst/>
          </a:prstGeom>
          <a:solidFill>
            <a:srgbClr val="FF6C37"/>
          </a:solidFill>
          <a:ln cap="flat" cmpd="sng" w="12700">
            <a:solidFill>
              <a:srgbClr val="FF6C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3"/>
          <p:cNvSpPr/>
          <p:nvPr/>
        </p:nvSpPr>
        <p:spPr>
          <a:xfrm>
            <a:off x="365760" y="85953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Postman  |  ShopEasy  |  Order API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3"/>
          <p:cNvSpPr/>
          <p:nvPr/>
        </p:nvSpPr>
        <p:spPr>
          <a:xfrm>
            <a:off x="274320" y="1188720"/>
            <a:ext cx="4663440" cy="347472"/>
          </a:xfrm>
          <a:prstGeom prst="rect">
            <a:avLst/>
          </a:prstGeom>
          <a:solidFill>
            <a:srgbClr val="252838"/>
          </a:solidFill>
          <a:ln cap="flat" cmpd="sng" w="12700">
            <a:solidFill>
              <a:srgbClr val="3A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3"/>
          <p:cNvSpPr/>
          <p:nvPr/>
        </p:nvSpPr>
        <p:spPr>
          <a:xfrm>
            <a:off x="292608" y="1207008"/>
            <a:ext cx="594360" cy="310896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3"/>
          <p:cNvSpPr/>
          <p:nvPr/>
        </p:nvSpPr>
        <p:spPr>
          <a:xfrm>
            <a:off x="292608" y="1207008"/>
            <a:ext cx="594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3"/>
          <p:cNvSpPr/>
          <p:nvPr/>
        </p:nvSpPr>
        <p:spPr>
          <a:xfrm>
            <a:off x="932688" y="1261872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https://api.shopeasy-test.com/v1/orders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3"/>
          <p:cNvSpPr/>
          <p:nvPr/>
        </p:nvSpPr>
        <p:spPr>
          <a:xfrm>
            <a:off x="4315968" y="1207008"/>
            <a:ext cx="548640" cy="310896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3"/>
          <p:cNvSpPr/>
          <p:nvPr/>
        </p:nvSpPr>
        <p:spPr>
          <a:xfrm>
            <a:off x="4315968" y="1207008"/>
            <a:ext cx="548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3"/>
          <p:cNvSpPr/>
          <p:nvPr/>
        </p:nvSpPr>
        <p:spPr>
          <a:xfrm>
            <a:off x="292608" y="1536192"/>
            <a:ext cx="822960" cy="237744"/>
          </a:xfrm>
          <a:prstGeom prst="rect">
            <a:avLst/>
          </a:prstGeom>
          <a:solidFill>
            <a:srgbClr val="252838"/>
          </a:solidFill>
          <a:ln cap="flat" cmpd="sng" w="12700">
            <a:solidFill>
              <a:srgbClr val="3A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3"/>
          <p:cNvSpPr/>
          <p:nvPr/>
        </p:nvSpPr>
        <p:spPr>
          <a:xfrm>
            <a:off x="292608" y="153619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8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8C0"/>
                </a:solidFill>
                <a:latin typeface="Calibri"/>
                <a:ea typeface="Calibri"/>
                <a:cs typeface="Calibri"/>
                <a:sym typeface="Calibri"/>
              </a:rPr>
              <a:t>Params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3"/>
          <p:cNvSpPr/>
          <p:nvPr/>
        </p:nvSpPr>
        <p:spPr>
          <a:xfrm>
            <a:off x="1161288" y="1536192"/>
            <a:ext cx="822960" cy="237744"/>
          </a:xfrm>
          <a:prstGeom prst="rect">
            <a:avLst/>
          </a:prstGeom>
          <a:solidFill>
            <a:srgbClr val="252838"/>
          </a:solidFill>
          <a:ln cap="flat" cmpd="sng" w="12700">
            <a:solidFill>
              <a:srgbClr val="3A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3"/>
          <p:cNvSpPr/>
          <p:nvPr/>
        </p:nvSpPr>
        <p:spPr>
          <a:xfrm>
            <a:off x="1161288" y="153619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8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8C0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3"/>
          <p:cNvSpPr/>
          <p:nvPr/>
        </p:nvSpPr>
        <p:spPr>
          <a:xfrm>
            <a:off x="2029968" y="1536192"/>
            <a:ext cx="822960" cy="237744"/>
          </a:xfrm>
          <a:prstGeom prst="rect">
            <a:avLst/>
          </a:prstGeom>
          <a:solidFill>
            <a:srgbClr val="252838"/>
          </a:solidFill>
          <a:ln cap="flat" cmpd="sng" w="12700">
            <a:solidFill>
              <a:srgbClr val="3A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3"/>
          <p:cNvSpPr/>
          <p:nvPr/>
        </p:nvSpPr>
        <p:spPr>
          <a:xfrm>
            <a:off x="2029968" y="153619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8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8C0"/>
                </a:solidFill>
                <a:latin typeface="Calibri"/>
                <a:ea typeface="Calibri"/>
                <a:cs typeface="Calibri"/>
                <a:sym typeface="Calibri"/>
              </a:rPr>
              <a:t>Headers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3"/>
          <p:cNvSpPr/>
          <p:nvPr/>
        </p:nvSpPr>
        <p:spPr>
          <a:xfrm>
            <a:off x="2898648" y="1536192"/>
            <a:ext cx="822960" cy="237744"/>
          </a:xfrm>
          <a:prstGeom prst="rect">
            <a:avLst/>
          </a:prstGeom>
          <a:solidFill>
            <a:srgbClr val="252838"/>
          </a:solidFill>
          <a:ln cap="flat" cmpd="sng" w="12700">
            <a:solidFill>
              <a:srgbClr val="3A3F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3"/>
          <p:cNvSpPr/>
          <p:nvPr/>
        </p:nvSpPr>
        <p:spPr>
          <a:xfrm>
            <a:off x="2898648" y="153619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8C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0A8C0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3"/>
          <p:cNvSpPr/>
          <p:nvPr/>
        </p:nvSpPr>
        <p:spPr>
          <a:xfrm>
            <a:off x="3767328" y="1536192"/>
            <a:ext cx="822960" cy="237744"/>
          </a:xfrm>
          <a:prstGeom prst="rect">
            <a:avLst/>
          </a:prstGeom>
          <a:solidFill>
            <a:srgbClr val="FF6C37"/>
          </a:solidFill>
          <a:ln cap="flat" cmpd="sng" w="12700">
            <a:solidFill>
              <a:srgbClr val="FF6C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3"/>
          <p:cNvSpPr/>
          <p:nvPr/>
        </p:nvSpPr>
        <p:spPr>
          <a:xfrm>
            <a:off x="3767328" y="153619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3"/>
          <p:cNvSpPr/>
          <p:nvPr/>
        </p:nvSpPr>
        <p:spPr>
          <a:xfrm>
            <a:off x="274320" y="1783080"/>
            <a:ext cx="4663440" cy="1481328"/>
          </a:xfrm>
          <a:prstGeom prst="rect">
            <a:avLst/>
          </a:prstGeom>
          <a:solidFill>
            <a:srgbClr val="161820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3"/>
          <p:cNvSpPr/>
          <p:nvPr/>
        </p:nvSpPr>
        <p:spPr>
          <a:xfrm>
            <a:off x="347472" y="1828800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pm</a:t>
            </a:r>
            <a:r>
              <a:rPr b="0" i="0" lang="en-US" sz="75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.test(</a:t>
            </a:r>
            <a:r>
              <a:rPr b="0" i="0" lang="en-US" sz="750" u="none" cap="none" strike="noStrike">
                <a:solidFill>
                  <a:srgbClr val="FFCC66"/>
                </a:solidFill>
                <a:latin typeface="Consolas"/>
                <a:ea typeface="Consolas"/>
                <a:cs typeface="Consolas"/>
                <a:sym typeface="Consolas"/>
              </a:rPr>
              <a:t>"Status is 201"</a:t>
            </a:r>
            <a:r>
              <a:rPr b="0" i="0" lang="en-US" sz="75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, function()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3"/>
          <p:cNvSpPr/>
          <p:nvPr/>
        </p:nvSpPr>
        <p:spPr>
          <a:xfrm>
            <a:off x="347472" y="2029968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  pm</a:t>
            </a:r>
            <a:r>
              <a:rPr b="0" i="0" lang="en-US" sz="75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.response.to.have.status(</a:t>
            </a:r>
            <a:r>
              <a:rPr b="0" i="0" lang="en-US" sz="750" u="none" cap="none" strike="noStrike">
                <a:solidFill>
                  <a:srgbClr val="98FB98"/>
                </a:solidFill>
                <a:latin typeface="Consolas"/>
                <a:ea typeface="Consolas"/>
                <a:cs typeface="Consolas"/>
                <a:sym typeface="Consolas"/>
              </a:rPr>
              <a:t>201</a:t>
            </a:r>
            <a:r>
              <a:rPr b="0" i="0" lang="en-US" sz="75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3"/>
          <p:cNvSpPr/>
          <p:nvPr/>
        </p:nvSpPr>
        <p:spPr>
          <a:xfrm>
            <a:off x="347472" y="2231136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3"/>
          <p:cNvSpPr/>
          <p:nvPr/>
        </p:nvSpPr>
        <p:spPr>
          <a:xfrm>
            <a:off x="347472" y="2432304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pm</a:t>
            </a:r>
            <a:r>
              <a:rPr b="0" i="0" lang="en-US" sz="75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.test(</a:t>
            </a:r>
            <a:r>
              <a:rPr b="0" i="0" lang="en-US" sz="750" u="none" cap="none" strike="noStrike">
                <a:solidFill>
                  <a:srgbClr val="FFCC66"/>
                </a:solidFill>
                <a:latin typeface="Consolas"/>
                <a:ea typeface="Consolas"/>
                <a:cs typeface="Consolas"/>
                <a:sym typeface="Consolas"/>
              </a:rPr>
              <a:t>"orderId present"</a:t>
            </a:r>
            <a:r>
              <a:rPr b="0" i="0" lang="en-US" sz="75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, function()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3"/>
          <p:cNvSpPr/>
          <p:nvPr/>
        </p:nvSpPr>
        <p:spPr>
          <a:xfrm>
            <a:off x="347472" y="2633472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const json = pm.response.json();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3"/>
          <p:cNvSpPr/>
          <p:nvPr/>
        </p:nvSpPr>
        <p:spPr>
          <a:xfrm>
            <a:off x="347472" y="2834640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  pm</a:t>
            </a:r>
            <a:r>
              <a:rPr b="0" i="0" lang="en-US" sz="75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.expect(json.orderId).to.be.a(</a:t>
            </a:r>
            <a:r>
              <a:rPr b="0" i="0" lang="en-US" sz="750" u="none" cap="none" strike="noStrike">
                <a:solidFill>
                  <a:srgbClr val="FFCC66"/>
                </a:solidFill>
                <a:latin typeface="Consolas"/>
                <a:ea typeface="Consolas"/>
                <a:cs typeface="Consolas"/>
                <a:sym typeface="Consolas"/>
              </a:rPr>
              <a:t>"string"</a:t>
            </a:r>
            <a:r>
              <a:rPr b="0" i="0" lang="en-US" sz="75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3"/>
          <p:cNvSpPr/>
          <p:nvPr/>
        </p:nvSpPr>
        <p:spPr>
          <a:xfrm>
            <a:off x="347472" y="3035808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3"/>
          <p:cNvSpPr/>
          <p:nvPr/>
        </p:nvSpPr>
        <p:spPr>
          <a:xfrm>
            <a:off x="274320" y="3264408"/>
            <a:ext cx="4663440" cy="310896"/>
          </a:xfrm>
          <a:prstGeom prst="rect">
            <a:avLst/>
          </a:prstGeom>
          <a:solidFill>
            <a:srgbClr val="1A2A1A"/>
          </a:solidFill>
          <a:ln cap="flat" cmpd="sng" w="12700">
            <a:solidFill>
              <a:srgbClr val="2A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3"/>
          <p:cNvSpPr/>
          <p:nvPr/>
        </p:nvSpPr>
        <p:spPr>
          <a:xfrm>
            <a:off x="365760" y="331012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4C759"/>
                </a:solidFill>
                <a:latin typeface="Consolas"/>
                <a:ea typeface="Consolas"/>
                <a:cs typeface="Consolas"/>
                <a:sym typeface="Consolas"/>
              </a:rPr>
              <a:t>✅  Status is 201    ✅  orderId present    2 passing · 0 failing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3"/>
          <p:cNvSpPr/>
          <p:nvPr/>
        </p:nvSpPr>
        <p:spPr>
          <a:xfrm>
            <a:off x="274320" y="3584448"/>
            <a:ext cx="4663440" cy="126187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3"/>
          <p:cNvSpPr/>
          <p:nvPr/>
        </p:nvSpPr>
        <p:spPr>
          <a:xfrm>
            <a:off x="365760" y="3630168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8C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0A8C0"/>
                </a:solidFill>
                <a:latin typeface="Calibri"/>
                <a:ea typeface="Calibri"/>
                <a:cs typeface="Calibri"/>
                <a:sym typeface="Calibri"/>
              </a:rPr>
              <a:t>Response  |  201 Created  |  287ms  |  JSON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3"/>
          <p:cNvSpPr/>
          <p:nvPr/>
        </p:nvSpPr>
        <p:spPr>
          <a:xfrm>
            <a:off x="365760" y="3867912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  "orderId": "ORD-20240412-9872",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  "status": "created",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  "total": 1299.00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C3FB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79C3F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3"/>
          <p:cNvSpPr/>
          <p:nvPr/>
        </p:nvSpPr>
        <p:spPr>
          <a:xfrm>
            <a:off x="5120640" y="8046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What to Master in Postman: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3"/>
          <p:cNvSpPr/>
          <p:nvPr/>
        </p:nvSpPr>
        <p:spPr>
          <a:xfrm>
            <a:off x="5120640" y="1152144"/>
            <a:ext cx="374904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3"/>
          <p:cNvSpPr/>
          <p:nvPr/>
        </p:nvSpPr>
        <p:spPr>
          <a:xfrm>
            <a:off x="5120640" y="1152144"/>
            <a:ext cx="54864" cy="585216"/>
          </a:xfrm>
          <a:prstGeom prst="rect">
            <a:avLst/>
          </a:prstGeom>
          <a:solidFill>
            <a:srgbClr val="FF6C37"/>
          </a:solidFill>
          <a:ln cap="flat" cmpd="sng" w="12700">
            <a:solidFill>
              <a:srgbClr val="FF6C3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3"/>
          <p:cNvSpPr/>
          <p:nvPr/>
        </p:nvSpPr>
        <p:spPr>
          <a:xfrm>
            <a:off x="5239512" y="1207008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Collections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3"/>
          <p:cNvSpPr/>
          <p:nvPr/>
        </p:nvSpPr>
        <p:spPr>
          <a:xfrm>
            <a:off x="5239512" y="144475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Group related requests by feature or module — run all at once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3"/>
          <p:cNvSpPr/>
          <p:nvPr/>
        </p:nvSpPr>
        <p:spPr>
          <a:xfrm>
            <a:off x="5120640" y="1810512"/>
            <a:ext cx="374904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3"/>
          <p:cNvSpPr/>
          <p:nvPr/>
        </p:nvSpPr>
        <p:spPr>
          <a:xfrm>
            <a:off x="5120640" y="1810512"/>
            <a:ext cx="54864" cy="585216"/>
          </a:xfrm>
          <a:prstGeom prst="rect">
            <a:avLst/>
          </a:prstGeom>
          <a:solidFill>
            <a:srgbClr val="FF6C37"/>
          </a:solidFill>
          <a:ln cap="flat" cmpd="sng" w="12700">
            <a:solidFill>
              <a:srgbClr val="FF6C3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3"/>
          <p:cNvSpPr/>
          <p:nvPr/>
        </p:nvSpPr>
        <p:spPr>
          <a:xfrm>
            <a:off x="5239512" y="186537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Environments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3"/>
          <p:cNvSpPr/>
          <p:nvPr/>
        </p:nvSpPr>
        <p:spPr>
          <a:xfrm>
            <a:off x="5239512" y="210312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Variables for base URL, tokens, IDs. Switch Dev/QA/Prod instantly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3"/>
          <p:cNvSpPr/>
          <p:nvPr/>
        </p:nvSpPr>
        <p:spPr>
          <a:xfrm>
            <a:off x="5120640" y="2468880"/>
            <a:ext cx="374904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3"/>
          <p:cNvSpPr/>
          <p:nvPr/>
        </p:nvSpPr>
        <p:spPr>
          <a:xfrm>
            <a:off x="5120640" y="2468880"/>
            <a:ext cx="54864" cy="585216"/>
          </a:xfrm>
          <a:prstGeom prst="rect">
            <a:avLst/>
          </a:prstGeom>
          <a:solidFill>
            <a:srgbClr val="FF6C37"/>
          </a:solidFill>
          <a:ln cap="flat" cmpd="sng" w="12700">
            <a:solidFill>
              <a:srgbClr val="FF6C3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3"/>
          <p:cNvSpPr/>
          <p:nvPr/>
        </p:nvSpPr>
        <p:spPr>
          <a:xfrm>
            <a:off x="5239512" y="2523744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Pre-request Scripts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3"/>
          <p:cNvSpPr/>
          <p:nvPr/>
        </p:nvSpPr>
        <p:spPr>
          <a:xfrm>
            <a:off x="5239512" y="27614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JS that runs before sending: auto-generate tokens, timestamps, dynamic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3"/>
          <p:cNvSpPr/>
          <p:nvPr/>
        </p:nvSpPr>
        <p:spPr>
          <a:xfrm>
            <a:off x="5120640" y="3127248"/>
            <a:ext cx="374904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3"/>
          <p:cNvSpPr/>
          <p:nvPr/>
        </p:nvSpPr>
        <p:spPr>
          <a:xfrm>
            <a:off x="5120640" y="3127248"/>
            <a:ext cx="54864" cy="585216"/>
          </a:xfrm>
          <a:prstGeom prst="rect">
            <a:avLst/>
          </a:prstGeom>
          <a:solidFill>
            <a:srgbClr val="FF6C37"/>
          </a:solidFill>
          <a:ln cap="flat" cmpd="sng" w="12700">
            <a:solidFill>
              <a:srgbClr val="FF6C3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3"/>
          <p:cNvSpPr/>
          <p:nvPr/>
        </p:nvSpPr>
        <p:spPr>
          <a:xfrm>
            <a:off x="5239512" y="318211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Test Scripts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3"/>
          <p:cNvSpPr/>
          <p:nvPr/>
        </p:nvSpPr>
        <p:spPr>
          <a:xfrm>
            <a:off x="5239512" y="341985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pm.test() assertions: status codes, JSON fields, response time, schema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3"/>
          <p:cNvSpPr/>
          <p:nvPr/>
        </p:nvSpPr>
        <p:spPr>
          <a:xfrm>
            <a:off x="5120640" y="3785616"/>
            <a:ext cx="374904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3"/>
          <p:cNvSpPr/>
          <p:nvPr/>
        </p:nvSpPr>
        <p:spPr>
          <a:xfrm>
            <a:off x="5120640" y="3785616"/>
            <a:ext cx="54864" cy="585216"/>
          </a:xfrm>
          <a:prstGeom prst="rect">
            <a:avLst/>
          </a:prstGeom>
          <a:solidFill>
            <a:srgbClr val="FF6C37"/>
          </a:solidFill>
          <a:ln cap="flat" cmpd="sng" w="12700">
            <a:solidFill>
              <a:srgbClr val="FF6C3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3"/>
          <p:cNvSpPr/>
          <p:nvPr/>
        </p:nvSpPr>
        <p:spPr>
          <a:xfrm>
            <a:off x="5239512" y="384048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Collection Runner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3"/>
          <p:cNvSpPr/>
          <p:nvPr/>
        </p:nvSpPr>
        <p:spPr>
          <a:xfrm>
            <a:off x="5239512" y="407822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Run all requests in sequence. See pass/fail summary. Export results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3"/>
          <p:cNvSpPr/>
          <p:nvPr/>
        </p:nvSpPr>
        <p:spPr>
          <a:xfrm>
            <a:off x="5120640" y="4443984"/>
            <a:ext cx="3749040" cy="58521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3"/>
          <p:cNvSpPr/>
          <p:nvPr/>
        </p:nvSpPr>
        <p:spPr>
          <a:xfrm>
            <a:off x="5120640" y="4443984"/>
            <a:ext cx="54864" cy="585216"/>
          </a:xfrm>
          <a:prstGeom prst="rect">
            <a:avLst/>
          </a:prstGeom>
          <a:solidFill>
            <a:srgbClr val="FF6C37"/>
          </a:solidFill>
          <a:ln cap="flat" cmpd="sng" w="12700">
            <a:solidFill>
              <a:srgbClr val="FF6C3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3"/>
          <p:cNvSpPr/>
          <p:nvPr/>
        </p:nvSpPr>
        <p:spPr>
          <a:xfrm>
            <a:off x="5239512" y="4498848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Newman CLI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3"/>
          <p:cNvSpPr/>
          <p:nvPr/>
        </p:nvSpPr>
        <p:spPr>
          <a:xfrm>
            <a:off x="5239512" y="473659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newman run collection.json -e env.json  — runs in CI/CD pipelines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API Testing Best Practices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4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4"/>
          <p:cNvSpPr/>
          <p:nvPr/>
        </p:nvSpPr>
        <p:spPr>
          <a:xfrm>
            <a:off x="274320" y="822960"/>
            <a:ext cx="4251960" cy="76809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4"/>
          <p:cNvSpPr/>
          <p:nvPr/>
        </p:nvSpPr>
        <p:spPr>
          <a:xfrm>
            <a:off x="274320" y="822960"/>
            <a:ext cx="502920" cy="76809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4"/>
          <p:cNvSpPr/>
          <p:nvPr/>
        </p:nvSpPr>
        <p:spPr>
          <a:xfrm>
            <a:off x="274320" y="822960"/>
            <a:ext cx="5029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4"/>
          <p:cNvSpPr/>
          <p:nvPr/>
        </p:nvSpPr>
        <p:spPr>
          <a:xfrm>
            <a:off x="841248" y="89611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Test Positive &amp; Negative Paths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4"/>
          <p:cNvSpPr/>
          <p:nvPr/>
        </p:nvSpPr>
        <p:spPr>
          <a:xfrm>
            <a:off x="841248" y="1170432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Always test the happy path AND invalid inputs, missing fields, wrong types, and boundary values.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4"/>
          <p:cNvSpPr/>
          <p:nvPr/>
        </p:nvSpPr>
        <p:spPr>
          <a:xfrm>
            <a:off x="4709160" y="822960"/>
            <a:ext cx="4251960" cy="76809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4"/>
          <p:cNvSpPr/>
          <p:nvPr/>
        </p:nvSpPr>
        <p:spPr>
          <a:xfrm>
            <a:off x="4709160" y="822960"/>
            <a:ext cx="502920" cy="768096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4"/>
          <p:cNvSpPr/>
          <p:nvPr/>
        </p:nvSpPr>
        <p:spPr>
          <a:xfrm>
            <a:off x="4709160" y="822960"/>
            <a:ext cx="5029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4"/>
          <p:cNvSpPr/>
          <p:nvPr/>
        </p:nvSpPr>
        <p:spPr>
          <a:xfrm>
            <a:off x="5276088" y="89611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 the Full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4"/>
          <p:cNvSpPr/>
          <p:nvPr/>
        </p:nvSpPr>
        <p:spPr>
          <a:xfrm>
            <a:off x="5276088" y="1170432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Check status code, response body schema, data types, required fields, AND response headers.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4"/>
          <p:cNvSpPr/>
          <p:nvPr/>
        </p:nvSpPr>
        <p:spPr>
          <a:xfrm>
            <a:off x="274320" y="1664208"/>
            <a:ext cx="4251960" cy="76809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4"/>
          <p:cNvSpPr/>
          <p:nvPr/>
        </p:nvSpPr>
        <p:spPr>
          <a:xfrm>
            <a:off x="274320" y="1664208"/>
            <a:ext cx="502920" cy="768096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4"/>
          <p:cNvSpPr/>
          <p:nvPr/>
        </p:nvSpPr>
        <p:spPr>
          <a:xfrm>
            <a:off x="274320" y="1664208"/>
            <a:ext cx="5029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4"/>
          <p:cNvSpPr/>
          <p:nvPr/>
        </p:nvSpPr>
        <p:spPr>
          <a:xfrm>
            <a:off x="841248" y="173736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Use Environment Variables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4"/>
          <p:cNvSpPr/>
          <p:nvPr/>
        </p:nvSpPr>
        <p:spPr>
          <a:xfrm>
            <a:off x="841248" y="201168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Never hardcode URLs, tokens, or IDs. Use Postman environments to switch Dev/QA/Prod instantly.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4"/>
          <p:cNvSpPr/>
          <p:nvPr/>
        </p:nvSpPr>
        <p:spPr>
          <a:xfrm>
            <a:off x="4709160" y="1664208"/>
            <a:ext cx="4251960" cy="76809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4"/>
          <p:cNvSpPr/>
          <p:nvPr/>
        </p:nvSpPr>
        <p:spPr>
          <a:xfrm>
            <a:off x="4709160" y="1664208"/>
            <a:ext cx="502920" cy="768096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4"/>
          <p:cNvSpPr/>
          <p:nvPr/>
        </p:nvSpPr>
        <p:spPr>
          <a:xfrm>
            <a:off x="4709160" y="1664208"/>
            <a:ext cx="5029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4"/>
          <p:cNvSpPr/>
          <p:nvPr/>
        </p:nvSpPr>
        <p:spPr>
          <a:xfrm>
            <a:off x="5276088" y="173736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Keep Tests Independent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4"/>
          <p:cNvSpPr/>
          <p:nvPr/>
        </p:nvSpPr>
        <p:spPr>
          <a:xfrm>
            <a:off x="5276088" y="201168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Each test should set up its own data and clean up after. Don't rely on execution order.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4"/>
          <p:cNvSpPr/>
          <p:nvPr/>
        </p:nvSpPr>
        <p:spPr>
          <a:xfrm>
            <a:off x="274320" y="2505456"/>
            <a:ext cx="4251960" cy="76809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4"/>
          <p:cNvSpPr/>
          <p:nvPr/>
        </p:nvSpPr>
        <p:spPr>
          <a:xfrm>
            <a:off x="274320" y="2505456"/>
            <a:ext cx="502920" cy="768096"/>
          </a:xfrm>
          <a:prstGeom prst="rect">
            <a:avLst/>
          </a:prstGeom>
          <a:solidFill>
            <a:srgbClr val="32ADE6"/>
          </a:solidFill>
          <a:ln cap="flat" cmpd="sng" w="12700">
            <a:solidFill>
              <a:srgbClr val="32ADE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4"/>
          <p:cNvSpPr/>
          <p:nvPr/>
        </p:nvSpPr>
        <p:spPr>
          <a:xfrm>
            <a:off x="274320" y="2505456"/>
            <a:ext cx="5029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4"/>
          <p:cNvSpPr/>
          <p:nvPr/>
        </p:nvSpPr>
        <p:spPr>
          <a:xfrm>
            <a:off x="841248" y="257860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Test All Status Codes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4"/>
          <p:cNvSpPr/>
          <p:nvPr/>
        </p:nvSpPr>
        <p:spPr>
          <a:xfrm>
            <a:off x="841248" y="2852928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Cover 200, 201, 400, 401, 403, 404, 409, 422, 500. Negative tests are as important as positive.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4"/>
          <p:cNvSpPr/>
          <p:nvPr/>
        </p:nvSpPr>
        <p:spPr>
          <a:xfrm>
            <a:off x="4709160" y="2505456"/>
            <a:ext cx="4251960" cy="76809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4"/>
          <p:cNvSpPr/>
          <p:nvPr/>
        </p:nvSpPr>
        <p:spPr>
          <a:xfrm>
            <a:off x="4709160" y="2505456"/>
            <a:ext cx="502920" cy="768096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4"/>
          <p:cNvSpPr/>
          <p:nvPr/>
        </p:nvSpPr>
        <p:spPr>
          <a:xfrm>
            <a:off x="4709160" y="2505456"/>
            <a:ext cx="5029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4"/>
          <p:cNvSpPr/>
          <p:nvPr/>
        </p:nvSpPr>
        <p:spPr>
          <a:xfrm>
            <a:off x="5276088" y="257860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Verify Response Headers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4"/>
          <p:cNvSpPr/>
          <p:nvPr/>
        </p:nvSpPr>
        <p:spPr>
          <a:xfrm>
            <a:off x="5276088" y="2852928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Check Content-Type, CORS, Cache-Control, and security headers like X-Frame-Options.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4"/>
          <p:cNvSpPr/>
          <p:nvPr/>
        </p:nvSpPr>
        <p:spPr>
          <a:xfrm>
            <a:off x="274320" y="3346704"/>
            <a:ext cx="4251960" cy="76809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4"/>
          <p:cNvSpPr/>
          <p:nvPr/>
        </p:nvSpPr>
        <p:spPr>
          <a:xfrm>
            <a:off x="274320" y="3346704"/>
            <a:ext cx="502920" cy="768096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4"/>
          <p:cNvSpPr/>
          <p:nvPr/>
        </p:nvSpPr>
        <p:spPr>
          <a:xfrm>
            <a:off x="274320" y="3346704"/>
            <a:ext cx="5029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4"/>
          <p:cNvSpPr/>
          <p:nvPr/>
        </p:nvSpPr>
        <p:spPr>
          <a:xfrm>
            <a:off x="841248" y="341985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Chain Requests Intelligently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4"/>
          <p:cNvSpPr/>
          <p:nvPr/>
        </p:nvSpPr>
        <p:spPr>
          <a:xfrm>
            <a:off x="841248" y="3694176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Extract values from response (e.g. created ID) and pass to next request using pm.variables.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4"/>
          <p:cNvSpPr/>
          <p:nvPr/>
        </p:nvSpPr>
        <p:spPr>
          <a:xfrm>
            <a:off x="4709160" y="3346704"/>
            <a:ext cx="4251960" cy="76809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4"/>
          <p:cNvSpPr/>
          <p:nvPr/>
        </p:nvSpPr>
        <p:spPr>
          <a:xfrm>
            <a:off x="4709160" y="3346704"/>
            <a:ext cx="502920" cy="768096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4"/>
          <p:cNvSpPr/>
          <p:nvPr/>
        </p:nvSpPr>
        <p:spPr>
          <a:xfrm>
            <a:off x="4709160" y="3346704"/>
            <a:ext cx="5029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4"/>
          <p:cNvSpPr/>
          <p:nvPr/>
        </p:nvSpPr>
        <p:spPr>
          <a:xfrm>
            <a:off x="5276088" y="341985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Automate in CI/CD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4"/>
          <p:cNvSpPr/>
          <p:nvPr/>
        </p:nvSpPr>
        <p:spPr>
          <a:xfrm>
            <a:off x="5276088" y="3694176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Run Newman in your pipeline so every commit auto-validates the API layer before UI tests.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4"/>
          <p:cNvSpPr/>
          <p:nvPr/>
        </p:nvSpPr>
        <p:spPr>
          <a:xfrm>
            <a:off x="274320" y="4187952"/>
            <a:ext cx="4251960" cy="76809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4"/>
          <p:cNvSpPr/>
          <p:nvPr/>
        </p:nvSpPr>
        <p:spPr>
          <a:xfrm>
            <a:off x="274320" y="4187952"/>
            <a:ext cx="502920" cy="768096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4"/>
          <p:cNvSpPr/>
          <p:nvPr/>
        </p:nvSpPr>
        <p:spPr>
          <a:xfrm>
            <a:off x="274320" y="4187952"/>
            <a:ext cx="5029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4"/>
          <p:cNvSpPr/>
          <p:nvPr/>
        </p:nvSpPr>
        <p:spPr>
          <a:xfrm>
            <a:off x="841248" y="4261104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 Your Bug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4"/>
          <p:cNvSpPr/>
          <p:nvPr/>
        </p:nvSpPr>
        <p:spPr>
          <a:xfrm>
            <a:off x="841248" y="4535424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Log bugs with: method, endpoint, payload, expected response, actual response, and status code.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4"/>
          <p:cNvSpPr/>
          <p:nvPr/>
        </p:nvSpPr>
        <p:spPr>
          <a:xfrm>
            <a:off x="4709160" y="4187952"/>
            <a:ext cx="4251960" cy="768096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4"/>
          <p:cNvSpPr/>
          <p:nvPr/>
        </p:nvSpPr>
        <p:spPr>
          <a:xfrm>
            <a:off x="4709160" y="4187952"/>
            <a:ext cx="502920" cy="768096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4"/>
          <p:cNvSpPr/>
          <p:nvPr/>
        </p:nvSpPr>
        <p:spPr>
          <a:xfrm>
            <a:off x="4709160" y="4187952"/>
            <a:ext cx="5029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4"/>
          <p:cNvSpPr/>
          <p:nvPr/>
        </p:nvSpPr>
        <p:spPr>
          <a:xfrm>
            <a:off x="5276088" y="4261104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Version Control Your Collections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4"/>
          <p:cNvSpPr/>
          <p:nvPr/>
        </p:nvSpPr>
        <p:spPr>
          <a:xfrm>
            <a:off x="5276088" y="4535424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Export Postman collections as JSON and commit them to the repository alongside the source code.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5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Microservices &amp; API Testing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5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5"/>
          <p:cNvSpPr/>
          <p:nvPr/>
        </p:nvSpPr>
        <p:spPr>
          <a:xfrm>
            <a:off x="365760" y="736994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6E6E73"/>
                </a:solidFill>
                <a:latin typeface="Trebuchet MS"/>
                <a:ea typeface="Trebuchet MS"/>
                <a:cs typeface="Trebuchet MS"/>
                <a:sym typeface="Trebuchet MS"/>
              </a:rPr>
              <a:t>Monolithic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5"/>
          <p:cNvSpPr/>
          <p:nvPr/>
        </p:nvSpPr>
        <p:spPr>
          <a:xfrm>
            <a:off x="365760" y="1011314"/>
            <a:ext cx="2926200" cy="23958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5"/>
          <p:cNvSpPr/>
          <p:nvPr/>
        </p:nvSpPr>
        <p:spPr>
          <a:xfrm>
            <a:off x="502920" y="1084466"/>
            <a:ext cx="2651700" cy="292500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5"/>
          <p:cNvSpPr/>
          <p:nvPr/>
        </p:nvSpPr>
        <p:spPr>
          <a:xfrm>
            <a:off x="502920" y="1084466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UI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5"/>
          <p:cNvSpPr/>
          <p:nvPr/>
        </p:nvSpPr>
        <p:spPr>
          <a:xfrm>
            <a:off x="502920" y="1431938"/>
            <a:ext cx="2651700" cy="292500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5"/>
          <p:cNvSpPr/>
          <p:nvPr/>
        </p:nvSpPr>
        <p:spPr>
          <a:xfrm>
            <a:off x="502920" y="1431938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Order Module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5"/>
          <p:cNvSpPr/>
          <p:nvPr/>
        </p:nvSpPr>
        <p:spPr>
          <a:xfrm>
            <a:off x="502920" y="1779410"/>
            <a:ext cx="2651700" cy="292500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5"/>
          <p:cNvSpPr/>
          <p:nvPr/>
        </p:nvSpPr>
        <p:spPr>
          <a:xfrm>
            <a:off x="502920" y="1779410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Payment Module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5"/>
          <p:cNvSpPr/>
          <p:nvPr/>
        </p:nvSpPr>
        <p:spPr>
          <a:xfrm>
            <a:off x="502920" y="2126882"/>
            <a:ext cx="2651700" cy="292500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5"/>
          <p:cNvSpPr/>
          <p:nvPr/>
        </p:nvSpPr>
        <p:spPr>
          <a:xfrm>
            <a:off x="502920" y="2126882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User Module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5"/>
          <p:cNvSpPr/>
          <p:nvPr/>
        </p:nvSpPr>
        <p:spPr>
          <a:xfrm>
            <a:off x="502920" y="2474354"/>
            <a:ext cx="2651700" cy="292500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5"/>
          <p:cNvSpPr/>
          <p:nvPr/>
        </p:nvSpPr>
        <p:spPr>
          <a:xfrm>
            <a:off x="502920" y="2474354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5"/>
          <p:cNvSpPr/>
          <p:nvPr/>
        </p:nvSpPr>
        <p:spPr>
          <a:xfrm>
            <a:off x="502920" y="2821826"/>
            <a:ext cx="2651700" cy="2925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5"/>
          <p:cNvSpPr/>
          <p:nvPr/>
        </p:nvSpPr>
        <p:spPr>
          <a:xfrm>
            <a:off x="502920" y="2821826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5"/>
          <p:cNvSpPr/>
          <p:nvPr/>
        </p:nvSpPr>
        <p:spPr>
          <a:xfrm>
            <a:off x="365760" y="3412517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1 deployment. Simple but tightly coupled.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5"/>
          <p:cNvSpPr/>
          <p:nvPr/>
        </p:nvSpPr>
        <p:spPr>
          <a:xfrm>
            <a:off x="3401568" y="198972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71E3"/>
                </a:solidFill>
                <a:latin typeface="Trebuchet MS"/>
                <a:ea typeface="Trebuchet MS"/>
                <a:cs typeface="Trebuchet MS"/>
                <a:sym typeface="Trebuchet MS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5"/>
          <p:cNvSpPr/>
          <p:nvPr/>
        </p:nvSpPr>
        <p:spPr>
          <a:xfrm>
            <a:off x="3401568" y="2190890"/>
            <a:ext cx="457200" cy="45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5"/>
          <p:cNvSpPr/>
          <p:nvPr/>
        </p:nvSpPr>
        <p:spPr>
          <a:xfrm>
            <a:off x="3977640" y="736994"/>
            <a:ext cx="489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71E3"/>
                </a:solidFill>
                <a:latin typeface="Trebuchet MS"/>
                <a:ea typeface="Trebuchet MS"/>
                <a:cs typeface="Trebuchet MS"/>
                <a:sym typeface="Trebuchet MS"/>
              </a:rPr>
              <a:t>Microservices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5"/>
          <p:cNvSpPr/>
          <p:nvPr/>
        </p:nvSpPr>
        <p:spPr>
          <a:xfrm>
            <a:off x="3977640" y="1011314"/>
            <a:ext cx="4892100" cy="2395800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5"/>
          <p:cNvSpPr/>
          <p:nvPr/>
        </p:nvSpPr>
        <p:spPr>
          <a:xfrm>
            <a:off x="4895349" y="1287499"/>
            <a:ext cx="1554600" cy="59430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5"/>
          <p:cNvSpPr/>
          <p:nvPr/>
        </p:nvSpPr>
        <p:spPr>
          <a:xfrm>
            <a:off x="4923924" y="1337611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Order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5"/>
          <p:cNvSpPr/>
          <p:nvPr/>
        </p:nvSpPr>
        <p:spPr>
          <a:xfrm>
            <a:off x="4896853" y="1621436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:3001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5"/>
          <p:cNvSpPr/>
          <p:nvPr/>
        </p:nvSpPr>
        <p:spPr>
          <a:xfrm>
            <a:off x="6586989" y="1287499"/>
            <a:ext cx="1554600" cy="59430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5"/>
          <p:cNvSpPr/>
          <p:nvPr/>
        </p:nvSpPr>
        <p:spPr>
          <a:xfrm>
            <a:off x="6588493" y="1310540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Payment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5"/>
          <p:cNvSpPr/>
          <p:nvPr/>
        </p:nvSpPr>
        <p:spPr>
          <a:xfrm>
            <a:off x="6615564" y="1648507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:3002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5"/>
          <p:cNvSpPr/>
          <p:nvPr/>
        </p:nvSpPr>
        <p:spPr>
          <a:xfrm>
            <a:off x="4895349" y="2019019"/>
            <a:ext cx="1554600" cy="594300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5"/>
          <p:cNvSpPr/>
          <p:nvPr/>
        </p:nvSpPr>
        <p:spPr>
          <a:xfrm>
            <a:off x="4923924" y="2069131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User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5"/>
          <p:cNvSpPr/>
          <p:nvPr/>
        </p:nvSpPr>
        <p:spPr>
          <a:xfrm>
            <a:off x="4896853" y="2352956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:3003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5"/>
          <p:cNvSpPr/>
          <p:nvPr/>
        </p:nvSpPr>
        <p:spPr>
          <a:xfrm>
            <a:off x="6586989" y="2019019"/>
            <a:ext cx="1554600" cy="594300"/>
          </a:xfrm>
          <a:prstGeom prst="rect">
            <a:avLst/>
          </a:prstGeom>
          <a:solidFill>
            <a:srgbClr val="32ADE6"/>
          </a:solidFill>
          <a:ln cap="flat" cmpd="sng" w="12700">
            <a:solidFill>
              <a:srgbClr val="32A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5"/>
          <p:cNvSpPr/>
          <p:nvPr/>
        </p:nvSpPr>
        <p:spPr>
          <a:xfrm>
            <a:off x="6588493" y="2042060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Notify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5"/>
          <p:cNvSpPr/>
          <p:nvPr/>
        </p:nvSpPr>
        <p:spPr>
          <a:xfrm>
            <a:off x="6615564" y="2380027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:3004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5"/>
          <p:cNvSpPr/>
          <p:nvPr/>
        </p:nvSpPr>
        <p:spPr>
          <a:xfrm>
            <a:off x="5015364" y="2860267"/>
            <a:ext cx="2926200" cy="3201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5"/>
          <p:cNvSpPr/>
          <p:nvPr/>
        </p:nvSpPr>
        <p:spPr>
          <a:xfrm>
            <a:off x="5026393" y="2846732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API Gateway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5"/>
          <p:cNvSpPr/>
          <p:nvPr/>
        </p:nvSpPr>
        <p:spPr>
          <a:xfrm>
            <a:off x="3977640" y="3412517"/>
            <a:ext cx="4892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Each service has its own API — test in isolation AND across boundaries.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5"/>
          <p:cNvSpPr/>
          <p:nvPr/>
        </p:nvSpPr>
        <p:spPr>
          <a:xfrm>
            <a:off x="365760" y="3620603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Microservices vs Monolith — Impact on API Testing: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5"/>
          <p:cNvSpPr/>
          <p:nvPr/>
        </p:nvSpPr>
        <p:spPr>
          <a:xfrm>
            <a:off x="365760" y="3913211"/>
            <a:ext cx="2286000" cy="255900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5"/>
          <p:cNvSpPr/>
          <p:nvPr/>
        </p:nvSpPr>
        <p:spPr>
          <a:xfrm>
            <a:off x="365760" y="3913211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5"/>
          <p:cNvSpPr/>
          <p:nvPr/>
        </p:nvSpPr>
        <p:spPr>
          <a:xfrm>
            <a:off x="2724912" y="3913211"/>
            <a:ext cx="3017400" cy="255900"/>
          </a:xfrm>
          <a:prstGeom prst="rect">
            <a:avLst/>
          </a:prstGeom>
          <a:solidFill>
            <a:srgbClr val="6E6E73"/>
          </a:solidFill>
          <a:ln cap="flat" cmpd="sng" w="12700">
            <a:solidFill>
              <a:srgbClr val="6E6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5"/>
          <p:cNvSpPr/>
          <p:nvPr/>
        </p:nvSpPr>
        <p:spPr>
          <a:xfrm>
            <a:off x="2724912" y="3913211"/>
            <a:ext cx="301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Monolith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5"/>
          <p:cNvSpPr/>
          <p:nvPr/>
        </p:nvSpPr>
        <p:spPr>
          <a:xfrm>
            <a:off x="5815584" y="3913211"/>
            <a:ext cx="3017400" cy="2559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5"/>
          <p:cNvSpPr/>
          <p:nvPr/>
        </p:nvSpPr>
        <p:spPr>
          <a:xfrm>
            <a:off x="5815584" y="3913211"/>
            <a:ext cx="301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Microservices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5"/>
          <p:cNvSpPr/>
          <p:nvPr/>
        </p:nvSpPr>
        <p:spPr>
          <a:xfrm>
            <a:off x="365760" y="4187531"/>
            <a:ext cx="2286000" cy="237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5"/>
          <p:cNvSpPr/>
          <p:nvPr/>
        </p:nvSpPr>
        <p:spPr>
          <a:xfrm>
            <a:off x="411480" y="4187531"/>
            <a:ext cx="2194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5"/>
          <p:cNvSpPr/>
          <p:nvPr/>
        </p:nvSpPr>
        <p:spPr>
          <a:xfrm>
            <a:off x="2724912" y="4187531"/>
            <a:ext cx="3017400" cy="237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5"/>
          <p:cNvSpPr/>
          <p:nvPr/>
        </p:nvSpPr>
        <p:spPr>
          <a:xfrm>
            <a:off x="2770632" y="4187531"/>
            <a:ext cx="292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Whole application tested together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5815584" y="4187531"/>
            <a:ext cx="3017400" cy="237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5"/>
          <p:cNvSpPr/>
          <p:nvPr/>
        </p:nvSpPr>
        <p:spPr>
          <a:xfrm>
            <a:off x="5861304" y="4187531"/>
            <a:ext cx="292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Each service tested in isolation + integrated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5"/>
          <p:cNvSpPr/>
          <p:nvPr/>
        </p:nvSpPr>
        <p:spPr>
          <a:xfrm>
            <a:off x="365760" y="4443563"/>
            <a:ext cx="2286000" cy="2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5"/>
          <p:cNvSpPr/>
          <p:nvPr/>
        </p:nvSpPr>
        <p:spPr>
          <a:xfrm>
            <a:off x="411480" y="4443563"/>
            <a:ext cx="2194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Test Focus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5"/>
          <p:cNvSpPr/>
          <p:nvPr/>
        </p:nvSpPr>
        <p:spPr>
          <a:xfrm>
            <a:off x="2724912" y="4443563"/>
            <a:ext cx="3017400" cy="2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5"/>
          <p:cNvSpPr/>
          <p:nvPr/>
        </p:nvSpPr>
        <p:spPr>
          <a:xfrm>
            <a:off x="2770632" y="4443563"/>
            <a:ext cx="292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One endpoint calls DB directly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5"/>
          <p:cNvSpPr/>
          <p:nvPr/>
        </p:nvSpPr>
        <p:spPr>
          <a:xfrm>
            <a:off x="5815584" y="4443563"/>
            <a:ext cx="3017400" cy="2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5"/>
          <p:cNvSpPr/>
          <p:nvPr/>
        </p:nvSpPr>
        <p:spPr>
          <a:xfrm>
            <a:off x="5861304" y="4443563"/>
            <a:ext cx="292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Service-to-service API contracts critical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5"/>
          <p:cNvSpPr/>
          <p:nvPr/>
        </p:nvSpPr>
        <p:spPr>
          <a:xfrm>
            <a:off x="365760" y="4699595"/>
            <a:ext cx="2286000" cy="237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5"/>
          <p:cNvSpPr/>
          <p:nvPr/>
        </p:nvSpPr>
        <p:spPr>
          <a:xfrm>
            <a:off x="411480" y="4699595"/>
            <a:ext cx="2194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Collections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5"/>
          <p:cNvSpPr/>
          <p:nvPr/>
        </p:nvSpPr>
        <p:spPr>
          <a:xfrm>
            <a:off x="2724912" y="4699595"/>
            <a:ext cx="3017400" cy="237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5"/>
          <p:cNvSpPr/>
          <p:nvPr/>
        </p:nvSpPr>
        <p:spPr>
          <a:xfrm>
            <a:off x="2770632" y="4699595"/>
            <a:ext cx="292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Single Postman collection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5"/>
          <p:cNvSpPr/>
          <p:nvPr/>
        </p:nvSpPr>
        <p:spPr>
          <a:xfrm>
            <a:off x="5815584" y="4699595"/>
            <a:ext cx="3017400" cy="23760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5"/>
          <p:cNvSpPr/>
          <p:nvPr/>
        </p:nvSpPr>
        <p:spPr>
          <a:xfrm>
            <a:off x="5861304" y="4699595"/>
            <a:ext cx="292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Collection per service; run via Newman in CI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5"/>
          <p:cNvSpPr/>
          <p:nvPr/>
        </p:nvSpPr>
        <p:spPr>
          <a:xfrm>
            <a:off x="365760" y="4955627"/>
            <a:ext cx="2286000" cy="2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5"/>
          <p:cNvSpPr/>
          <p:nvPr/>
        </p:nvSpPr>
        <p:spPr>
          <a:xfrm>
            <a:off x="411480" y="4955627"/>
            <a:ext cx="2194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Mocking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5"/>
          <p:cNvSpPr/>
          <p:nvPr/>
        </p:nvSpPr>
        <p:spPr>
          <a:xfrm>
            <a:off x="2724912" y="4955627"/>
            <a:ext cx="3017400" cy="2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5"/>
          <p:cNvSpPr/>
          <p:nvPr/>
        </p:nvSpPr>
        <p:spPr>
          <a:xfrm>
            <a:off x="2770632" y="4955627"/>
            <a:ext cx="292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Rarely needed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5"/>
          <p:cNvSpPr/>
          <p:nvPr/>
        </p:nvSpPr>
        <p:spPr>
          <a:xfrm>
            <a:off x="5815584" y="4955627"/>
            <a:ext cx="3017400" cy="23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5"/>
          <p:cNvSpPr/>
          <p:nvPr/>
        </p:nvSpPr>
        <p:spPr>
          <a:xfrm>
            <a:off x="5861304" y="4955627"/>
            <a:ext cx="2926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Mock downstream services with Postman Mocks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6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Contract Testing vs API Testing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6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6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6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API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6"/>
          <p:cNvSpPr/>
          <p:nvPr/>
        </p:nvSpPr>
        <p:spPr>
          <a:xfrm>
            <a:off x="274320" y="1170432"/>
            <a:ext cx="4114800" cy="138988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6"/>
          <p:cNvSpPr/>
          <p:nvPr/>
        </p:nvSpPr>
        <p:spPr>
          <a:xfrm>
            <a:off x="365760" y="122529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is: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6"/>
          <p:cNvSpPr/>
          <p:nvPr/>
        </p:nvSpPr>
        <p:spPr>
          <a:xfrm>
            <a:off x="365760" y="148132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Testing an API's behavior end-to-end — verifying correct data, status codes, response times, and error handling. You define the expected behavior in test scripts.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6"/>
          <p:cNvSpPr/>
          <p:nvPr/>
        </p:nvSpPr>
        <p:spPr>
          <a:xfrm>
            <a:off x="365760" y="26151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POST /orders → 201 with orderId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6"/>
          <p:cNvSpPr/>
          <p:nvPr/>
        </p:nvSpPr>
        <p:spPr>
          <a:xfrm>
            <a:off x="365760" y="29077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GET /orders/999 → 404 Not Found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6"/>
          <p:cNvSpPr/>
          <p:nvPr/>
        </p:nvSpPr>
        <p:spPr>
          <a:xfrm>
            <a:off x="365760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POST /orders (no body) → 400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6"/>
          <p:cNvSpPr/>
          <p:nvPr/>
        </p:nvSpPr>
        <p:spPr>
          <a:xfrm>
            <a:off x="365760" y="34930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✓  Response time &lt; 500ms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6"/>
          <p:cNvSpPr/>
          <p:nvPr/>
        </p:nvSpPr>
        <p:spPr>
          <a:xfrm>
            <a:off x="365760" y="3840480"/>
            <a:ext cx="3840480" cy="713232"/>
          </a:xfrm>
          <a:prstGeom prst="rect">
            <a:avLst/>
          </a:prstGeom>
          <a:solidFill>
            <a:srgbClr val="EBF5FF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6"/>
          <p:cNvSpPr/>
          <p:nvPr/>
        </p:nvSpPr>
        <p:spPr>
          <a:xfrm>
            <a:off x="457200" y="39136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0071E3"/>
                </a:solidFill>
                <a:latin typeface="Trebuchet MS"/>
                <a:ea typeface="Trebuchet MS"/>
                <a:cs typeface="Trebuchet MS"/>
                <a:sym typeface="Trebuchet MS"/>
              </a:rPr>
              <a:t>🎯  Goal: Verify the API works as specified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6"/>
          <p:cNvSpPr/>
          <p:nvPr/>
        </p:nvSpPr>
        <p:spPr>
          <a:xfrm>
            <a:off x="457200" y="4169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Tools: Postman, Newman, REST Assured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6"/>
          <p:cNvSpPr/>
          <p:nvPr/>
        </p:nvSpPr>
        <p:spPr>
          <a:xfrm>
            <a:off x="4434840" y="804672"/>
            <a:ext cx="274320" cy="374904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6"/>
          <p:cNvSpPr/>
          <p:nvPr/>
        </p:nvSpPr>
        <p:spPr>
          <a:xfrm>
            <a:off x="4370832" y="2468880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6E6E73"/>
                </a:solidFill>
                <a:latin typeface="Trebuchet MS"/>
                <a:ea typeface="Trebuchet MS"/>
                <a:cs typeface="Trebuchet MS"/>
                <a:sym typeface="Trebuchet MS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6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6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Contract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6"/>
          <p:cNvSpPr/>
          <p:nvPr/>
        </p:nvSpPr>
        <p:spPr>
          <a:xfrm>
            <a:off x="4754880" y="1170432"/>
            <a:ext cx="4114800" cy="1389888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6"/>
          <p:cNvSpPr/>
          <p:nvPr/>
        </p:nvSpPr>
        <p:spPr>
          <a:xfrm>
            <a:off x="4846320" y="122529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is: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6"/>
          <p:cNvSpPr/>
          <p:nvPr/>
        </p:nvSpPr>
        <p:spPr>
          <a:xfrm>
            <a:off x="4846320" y="148132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 formal agreement (contract) between a consumer (client app) and a provider (API service) defining exactly what request/response structure is expected. Both sides tested against this contract independently.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6"/>
          <p:cNvSpPr/>
          <p:nvPr/>
        </p:nvSpPr>
        <p:spPr>
          <a:xfrm>
            <a:off x="4846320" y="26151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✓  Order Svc expects User Svc → {id, name, email}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6"/>
          <p:cNvSpPr/>
          <p:nvPr/>
        </p:nvSpPr>
        <p:spPr>
          <a:xfrm>
            <a:off x="4846320" y="29077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✓  If User Svc changes schema → contract fails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6"/>
          <p:cNvSpPr/>
          <p:nvPr/>
        </p:nvSpPr>
        <p:spPr>
          <a:xfrm>
            <a:off x="4846320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✓  Both services pass without running 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6"/>
          <p:cNvSpPr/>
          <p:nvPr/>
        </p:nvSpPr>
        <p:spPr>
          <a:xfrm>
            <a:off x="4846320" y="34930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F52DE"/>
                </a:solidFill>
                <a:latin typeface="Calibri"/>
                <a:ea typeface="Calibri"/>
                <a:cs typeface="Calibri"/>
                <a:sym typeface="Calibri"/>
              </a:rPr>
              <a:t>✓  Enables parallel team 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6"/>
          <p:cNvSpPr/>
          <p:nvPr/>
        </p:nvSpPr>
        <p:spPr>
          <a:xfrm>
            <a:off x="4846320" y="3840480"/>
            <a:ext cx="3840480" cy="713232"/>
          </a:xfrm>
          <a:prstGeom prst="rect">
            <a:avLst/>
          </a:prstGeom>
          <a:solidFill>
            <a:srgbClr val="F3EBFF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6"/>
          <p:cNvSpPr/>
          <p:nvPr/>
        </p:nvSpPr>
        <p:spPr>
          <a:xfrm>
            <a:off x="4937760" y="39136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52DE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AF52DE"/>
                </a:solidFill>
                <a:latin typeface="Trebuchet MS"/>
                <a:ea typeface="Trebuchet MS"/>
                <a:cs typeface="Trebuchet MS"/>
                <a:sym typeface="Trebuchet MS"/>
              </a:rPr>
              <a:t>🎯  Goal: Prevent breaking changes between services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6"/>
          <p:cNvSpPr/>
          <p:nvPr/>
        </p:nvSpPr>
        <p:spPr>
          <a:xfrm>
            <a:off x="4937760" y="4169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Tools: Pact, Spring Cloud Contract, Postman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FF8EC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6"/>
          <p:cNvSpPr/>
          <p:nvPr/>
        </p:nvSpPr>
        <p:spPr>
          <a:xfrm>
            <a:off x="365760" y="471830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💡  Real Example: ShopEasy's Order Service (consumer) expects Payment Service (provider) to return { paymentId, status, amount }. Contract test fails if Payment Service renames 'amount' to 'total' — preventing a production outage.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D1D1F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731520" y="54864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🏪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7"/>
          <p:cNvSpPr/>
          <p:nvPr/>
        </p:nvSpPr>
        <p:spPr>
          <a:xfrm>
            <a:off x="1737360" y="5486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Business Use Case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7"/>
          <p:cNvSpPr/>
          <p:nvPr/>
        </p:nvSpPr>
        <p:spPr>
          <a:xfrm>
            <a:off x="1737360" y="932688"/>
            <a:ext cx="6675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ShopEasy — E-Commerce Order Management API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7"/>
          <p:cNvSpPr/>
          <p:nvPr/>
        </p:nvSpPr>
        <p:spPr>
          <a:xfrm>
            <a:off x="1737360" y="1554480"/>
            <a:ext cx="1463040" cy="4572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7"/>
          <p:cNvSpPr/>
          <p:nvPr/>
        </p:nvSpPr>
        <p:spPr>
          <a:xfrm>
            <a:off x="731520" y="1700784"/>
            <a:ext cx="7680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1D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1D1D6"/>
                </a:solidFill>
                <a:latin typeface="Calibri"/>
                <a:ea typeface="Calibri"/>
                <a:cs typeface="Calibri"/>
                <a:sym typeface="Calibri"/>
              </a:rPr>
              <a:t>Scenario: You are a QA Engineer for ShopEasy, a growing e-commerce platform. The backend team has deployed a new Order Management microservice. Your task is to validate all APIs before this feature goes live. You have access to the Swagger docs and a test environment.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7"/>
          <p:cNvSpPr/>
          <p:nvPr/>
        </p:nvSpPr>
        <p:spPr>
          <a:xfrm>
            <a:off x="731520" y="2578608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API Modules to Test: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7"/>
          <p:cNvSpPr/>
          <p:nvPr/>
        </p:nvSpPr>
        <p:spPr>
          <a:xfrm>
            <a:off x="731520" y="2907792"/>
            <a:ext cx="1207008" cy="64008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7"/>
          <p:cNvSpPr/>
          <p:nvPr/>
        </p:nvSpPr>
        <p:spPr>
          <a:xfrm>
            <a:off x="731520" y="2907792"/>
            <a:ext cx="1207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7"/>
          <p:cNvSpPr/>
          <p:nvPr/>
        </p:nvSpPr>
        <p:spPr>
          <a:xfrm>
            <a:off x="731520" y="3236976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User Auth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7"/>
          <p:cNvSpPr/>
          <p:nvPr/>
        </p:nvSpPr>
        <p:spPr>
          <a:xfrm>
            <a:off x="2048256" y="2907792"/>
            <a:ext cx="1207008" cy="64008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7"/>
          <p:cNvSpPr/>
          <p:nvPr/>
        </p:nvSpPr>
        <p:spPr>
          <a:xfrm>
            <a:off x="2048256" y="2907792"/>
            <a:ext cx="1207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7"/>
          <p:cNvSpPr/>
          <p:nvPr/>
        </p:nvSpPr>
        <p:spPr>
          <a:xfrm>
            <a:off x="2048256" y="3236976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7"/>
          <p:cNvSpPr/>
          <p:nvPr/>
        </p:nvSpPr>
        <p:spPr>
          <a:xfrm>
            <a:off x="3364992" y="2907792"/>
            <a:ext cx="1207008" cy="640080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7"/>
          <p:cNvSpPr/>
          <p:nvPr/>
        </p:nvSpPr>
        <p:spPr>
          <a:xfrm>
            <a:off x="3364992" y="2907792"/>
            <a:ext cx="1207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7"/>
          <p:cNvSpPr/>
          <p:nvPr/>
        </p:nvSpPr>
        <p:spPr>
          <a:xfrm>
            <a:off x="3364992" y="3236976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7"/>
          <p:cNvSpPr/>
          <p:nvPr/>
        </p:nvSpPr>
        <p:spPr>
          <a:xfrm>
            <a:off x="4681728" y="2907792"/>
            <a:ext cx="1207008" cy="640080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7"/>
          <p:cNvSpPr/>
          <p:nvPr/>
        </p:nvSpPr>
        <p:spPr>
          <a:xfrm>
            <a:off x="4681728" y="2907792"/>
            <a:ext cx="1207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7"/>
          <p:cNvSpPr/>
          <p:nvPr/>
        </p:nvSpPr>
        <p:spPr>
          <a:xfrm>
            <a:off x="4681728" y="3236976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Orders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7"/>
          <p:cNvSpPr/>
          <p:nvPr/>
        </p:nvSpPr>
        <p:spPr>
          <a:xfrm>
            <a:off x="5998464" y="2907792"/>
            <a:ext cx="1207008" cy="640080"/>
          </a:xfrm>
          <a:prstGeom prst="rect">
            <a:avLst/>
          </a:prstGeom>
          <a:solidFill>
            <a:srgbClr val="32ADE6"/>
          </a:solidFill>
          <a:ln cap="flat" cmpd="sng" w="12700">
            <a:solidFill>
              <a:srgbClr val="32A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7"/>
          <p:cNvSpPr/>
          <p:nvPr/>
        </p:nvSpPr>
        <p:spPr>
          <a:xfrm>
            <a:off x="5998464" y="2907792"/>
            <a:ext cx="1207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7"/>
          <p:cNvSpPr/>
          <p:nvPr/>
        </p:nvSpPr>
        <p:spPr>
          <a:xfrm>
            <a:off x="5998464" y="3236976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Payments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7"/>
          <p:cNvSpPr/>
          <p:nvPr/>
        </p:nvSpPr>
        <p:spPr>
          <a:xfrm>
            <a:off x="7315200" y="2907792"/>
            <a:ext cx="1207008" cy="64008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7"/>
          <p:cNvSpPr/>
          <p:nvPr/>
        </p:nvSpPr>
        <p:spPr>
          <a:xfrm>
            <a:off x="7315200" y="2907792"/>
            <a:ext cx="1207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7"/>
          <p:cNvSpPr/>
          <p:nvPr/>
        </p:nvSpPr>
        <p:spPr>
          <a:xfrm>
            <a:off x="7315200" y="3236976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Notifications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7"/>
          <p:cNvSpPr/>
          <p:nvPr/>
        </p:nvSpPr>
        <p:spPr>
          <a:xfrm>
            <a:off x="731520" y="3712464"/>
            <a:ext cx="7680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Base URL:  https://api.shopeasy-test.com/v1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7"/>
          <p:cNvSpPr/>
          <p:nvPr/>
        </p:nvSpPr>
        <p:spPr>
          <a:xfrm>
            <a:off x="731520" y="4059936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Swagger UI:  https://api.shopeasy-test.com/swagger-ui    |    Auth: Bearer Token (obtained via POST /auth/login)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7"/>
          <p:cNvSpPr/>
          <p:nvPr/>
        </p:nvSpPr>
        <p:spPr>
          <a:xfrm>
            <a:off x="731520" y="446227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9500"/>
                </a:solidFill>
                <a:latin typeface="Calibri"/>
                <a:ea typeface="Calibri"/>
                <a:cs typeface="Calibri"/>
                <a:sym typeface="Calibri"/>
              </a:rPr>
              <a:t>Next slide → 12 APIs to automate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8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Trebuchet MS"/>
                <a:ea typeface="Trebuchet MS"/>
                <a:cs typeface="Trebuchet MS"/>
                <a:sym typeface="Trebuchet MS"/>
              </a:rPr>
              <a:t>ShopEasy — API Automation Challenge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8"/>
          <p:cNvSpPr/>
          <p:nvPr/>
        </p:nvSpPr>
        <p:spPr>
          <a:xfrm>
            <a:off x="457200" y="704088"/>
            <a:ext cx="8229600" cy="18288"/>
          </a:xfrm>
          <a:prstGeom prst="rect">
            <a:avLst/>
          </a:prstGeom>
          <a:solidFill>
            <a:srgbClr val="D2D2D7"/>
          </a:solidFill>
          <a:ln cap="flat" cmpd="sng" w="12700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8"/>
          <p:cNvSpPr/>
          <p:nvPr/>
        </p:nvSpPr>
        <p:spPr>
          <a:xfrm>
            <a:off x="274320" y="804672"/>
            <a:ext cx="731520" cy="274320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8"/>
          <p:cNvSpPr/>
          <p:nvPr/>
        </p:nvSpPr>
        <p:spPr>
          <a:xfrm>
            <a:off x="274320" y="80467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Method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18"/>
          <p:cNvSpPr/>
          <p:nvPr/>
        </p:nvSpPr>
        <p:spPr>
          <a:xfrm>
            <a:off x="1024128" y="804672"/>
            <a:ext cx="2148840" cy="274320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8"/>
          <p:cNvSpPr/>
          <p:nvPr/>
        </p:nvSpPr>
        <p:spPr>
          <a:xfrm>
            <a:off x="1024128" y="804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Endpoint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8"/>
          <p:cNvSpPr/>
          <p:nvPr/>
        </p:nvSpPr>
        <p:spPr>
          <a:xfrm>
            <a:off x="3246120" y="804672"/>
            <a:ext cx="4572000" cy="274320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8"/>
          <p:cNvSpPr/>
          <p:nvPr/>
        </p:nvSpPr>
        <p:spPr>
          <a:xfrm>
            <a:off x="3246120" y="8046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to Test / Key Assertions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8"/>
          <p:cNvSpPr/>
          <p:nvPr/>
        </p:nvSpPr>
        <p:spPr>
          <a:xfrm>
            <a:off x="7882128" y="804672"/>
            <a:ext cx="987552" cy="274320"/>
          </a:xfrm>
          <a:prstGeom prst="rect">
            <a:avLst/>
          </a:prstGeom>
          <a:solidFill>
            <a:srgbClr val="1D1D1F"/>
          </a:solidFill>
          <a:ln cap="flat" cmpd="sng" w="12700">
            <a:solidFill>
              <a:srgbClr val="1D1D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8"/>
          <p:cNvSpPr/>
          <p:nvPr/>
        </p:nvSpPr>
        <p:spPr>
          <a:xfrm>
            <a:off x="7882128" y="804672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8"/>
          <p:cNvSpPr/>
          <p:nvPr/>
        </p:nvSpPr>
        <p:spPr>
          <a:xfrm>
            <a:off x="274320" y="1078992"/>
            <a:ext cx="859536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8"/>
          <p:cNvSpPr/>
          <p:nvPr/>
        </p:nvSpPr>
        <p:spPr>
          <a:xfrm>
            <a:off x="274320" y="1115568"/>
            <a:ext cx="731520" cy="22860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8"/>
          <p:cNvSpPr/>
          <p:nvPr/>
        </p:nvSpPr>
        <p:spPr>
          <a:xfrm>
            <a:off x="274320" y="111556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8"/>
          <p:cNvSpPr/>
          <p:nvPr/>
        </p:nvSpPr>
        <p:spPr>
          <a:xfrm>
            <a:off x="1042416" y="107899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/auth/login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8"/>
          <p:cNvSpPr/>
          <p:nvPr/>
        </p:nvSpPr>
        <p:spPr>
          <a:xfrm>
            <a:off x="3264408" y="107899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Get Bearer token; verify 200 + token in response body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8"/>
          <p:cNvSpPr/>
          <p:nvPr/>
        </p:nvSpPr>
        <p:spPr>
          <a:xfrm>
            <a:off x="7900416" y="1133856"/>
            <a:ext cx="950976" cy="19202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8"/>
          <p:cNvSpPr/>
          <p:nvPr/>
        </p:nvSpPr>
        <p:spPr>
          <a:xfrm>
            <a:off x="7900416" y="113385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8"/>
          <p:cNvSpPr/>
          <p:nvPr/>
        </p:nvSpPr>
        <p:spPr>
          <a:xfrm>
            <a:off x="274320" y="1399032"/>
            <a:ext cx="8595360" cy="3200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8"/>
          <p:cNvSpPr/>
          <p:nvPr/>
        </p:nvSpPr>
        <p:spPr>
          <a:xfrm>
            <a:off x="274320" y="1435608"/>
            <a:ext cx="731520" cy="22860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8"/>
          <p:cNvSpPr/>
          <p:nvPr/>
        </p:nvSpPr>
        <p:spPr>
          <a:xfrm>
            <a:off x="274320" y="143560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8"/>
          <p:cNvSpPr/>
          <p:nvPr/>
        </p:nvSpPr>
        <p:spPr>
          <a:xfrm>
            <a:off x="1042416" y="139903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/auth/register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8"/>
          <p:cNvSpPr/>
          <p:nvPr/>
        </p:nvSpPr>
        <p:spPr>
          <a:xfrm>
            <a:off x="3264408" y="139903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Register user; 201 + userId; duplicate email → 409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8"/>
          <p:cNvSpPr/>
          <p:nvPr/>
        </p:nvSpPr>
        <p:spPr>
          <a:xfrm>
            <a:off x="7900416" y="1453896"/>
            <a:ext cx="950976" cy="192024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8"/>
          <p:cNvSpPr/>
          <p:nvPr/>
        </p:nvSpPr>
        <p:spPr>
          <a:xfrm>
            <a:off x="7900416" y="145389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8"/>
          <p:cNvSpPr/>
          <p:nvPr/>
        </p:nvSpPr>
        <p:spPr>
          <a:xfrm>
            <a:off x="274320" y="1719072"/>
            <a:ext cx="859536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8"/>
          <p:cNvSpPr/>
          <p:nvPr/>
        </p:nvSpPr>
        <p:spPr>
          <a:xfrm>
            <a:off x="274320" y="1755648"/>
            <a:ext cx="731520" cy="228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8"/>
          <p:cNvSpPr/>
          <p:nvPr/>
        </p:nvSpPr>
        <p:spPr>
          <a:xfrm>
            <a:off x="274320" y="175564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8"/>
          <p:cNvSpPr/>
          <p:nvPr/>
        </p:nvSpPr>
        <p:spPr>
          <a:xfrm>
            <a:off x="1042416" y="171907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/products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8"/>
          <p:cNvSpPr/>
          <p:nvPr/>
        </p:nvSpPr>
        <p:spPr>
          <a:xfrm>
            <a:off x="3264408" y="171907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List products; pagination works; filter by category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8"/>
          <p:cNvSpPr/>
          <p:nvPr/>
        </p:nvSpPr>
        <p:spPr>
          <a:xfrm>
            <a:off x="7900416" y="1773936"/>
            <a:ext cx="950976" cy="192024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8"/>
          <p:cNvSpPr/>
          <p:nvPr/>
        </p:nvSpPr>
        <p:spPr>
          <a:xfrm>
            <a:off x="7900416" y="177393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8"/>
          <p:cNvSpPr/>
          <p:nvPr/>
        </p:nvSpPr>
        <p:spPr>
          <a:xfrm>
            <a:off x="274320" y="2039112"/>
            <a:ext cx="8595360" cy="3200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8"/>
          <p:cNvSpPr/>
          <p:nvPr/>
        </p:nvSpPr>
        <p:spPr>
          <a:xfrm>
            <a:off x="274320" y="2075688"/>
            <a:ext cx="731520" cy="228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8"/>
          <p:cNvSpPr/>
          <p:nvPr/>
        </p:nvSpPr>
        <p:spPr>
          <a:xfrm>
            <a:off x="274320" y="207568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8"/>
          <p:cNvSpPr/>
          <p:nvPr/>
        </p:nvSpPr>
        <p:spPr>
          <a:xfrm>
            <a:off x="1042416" y="203911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/products/{id}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8"/>
          <p:cNvSpPr/>
          <p:nvPr/>
        </p:nvSpPr>
        <p:spPr>
          <a:xfrm>
            <a:off x="3264408" y="203911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Get product by ID; invalid ID → 404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8"/>
          <p:cNvSpPr/>
          <p:nvPr/>
        </p:nvSpPr>
        <p:spPr>
          <a:xfrm>
            <a:off x="7900416" y="2093976"/>
            <a:ext cx="950976" cy="192024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8"/>
          <p:cNvSpPr/>
          <p:nvPr/>
        </p:nvSpPr>
        <p:spPr>
          <a:xfrm>
            <a:off x="7900416" y="209397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8"/>
          <p:cNvSpPr/>
          <p:nvPr/>
        </p:nvSpPr>
        <p:spPr>
          <a:xfrm>
            <a:off x="274320" y="2359152"/>
            <a:ext cx="859536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8"/>
          <p:cNvSpPr/>
          <p:nvPr/>
        </p:nvSpPr>
        <p:spPr>
          <a:xfrm>
            <a:off x="274320" y="2395728"/>
            <a:ext cx="731520" cy="22860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8"/>
          <p:cNvSpPr/>
          <p:nvPr/>
        </p:nvSpPr>
        <p:spPr>
          <a:xfrm>
            <a:off x="274320" y="239572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8"/>
          <p:cNvSpPr/>
          <p:nvPr/>
        </p:nvSpPr>
        <p:spPr>
          <a:xfrm>
            <a:off x="1042416" y="235915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/cart/items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8"/>
          <p:cNvSpPr/>
          <p:nvPr/>
        </p:nvSpPr>
        <p:spPr>
          <a:xfrm>
            <a:off x="3264408" y="235915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Add item to cart; cart total updates correctly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8"/>
          <p:cNvSpPr/>
          <p:nvPr/>
        </p:nvSpPr>
        <p:spPr>
          <a:xfrm>
            <a:off x="7900416" y="2414016"/>
            <a:ext cx="950976" cy="192024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8"/>
          <p:cNvSpPr/>
          <p:nvPr/>
        </p:nvSpPr>
        <p:spPr>
          <a:xfrm>
            <a:off x="7900416" y="241401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8"/>
          <p:cNvSpPr/>
          <p:nvPr/>
        </p:nvSpPr>
        <p:spPr>
          <a:xfrm>
            <a:off x="274320" y="2679192"/>
            <a:ext cx="8595360" cy="3200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8"/>
          <p:cNvSpPr/>
          <p:nvPr/>
        </p:nvSpPr>
        <p:spPr>
          <a:xfrm>
            <a:off x="274320" y="2715768"/>
            <a:ext cx="731520" cy="228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8"/>
          <p:cNvSpPr/>
          <p:nvPr/>
        </p:nvSpPr>
        <p:spPr>
          <a:xfrm>
            <a:off x="274320" y="271576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8"/>
          <p:cNvSpPr/>
          <p:nvPr/>
        </p:nvSpPr>
        <p:spPr>
          <a:xfrm>
            <a:off x="1042416" y="267919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/cart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8"/>
          <p:cNvSpPr/>
          <p:nvPr/>
        </p:nvSpPr>
        <p:spPr>
          <a:xfrm>
            <a:off x="3264408" y="267919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View cart; verify items, quantities, subtotal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8"/>
          <p:cNvSpPr/>
          <p:nvPr/>
        </p:nvSpPr>
        <p:spPr>
          <a:xfrm>
            <a:off x="7900416" y="2734056"/>
            <a:ext cx="950976" cy="192024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8"/>
          <p:cNvSpPr/>
          <p:nvPr/>
        </p:nvSpPr>
        <p:spPr>
          <a:xfrm>
            <a:off x="7900416" y="273405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18"/>
          <p:cNvSpPr/>
          <p:nvPr/>
        </p:nvSpPr>
        <p:spPr>
          <a:xfrm>
            <a:off x="274320" y="2999232"/>
            <a:ext cx="859536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8"/>
          <p:cNvSpPr/>
          <p:nvPr/>
        </p:nvSpPr>
        <p:spPr>
          <a:xfrm>
            <a:off x="274320" y="3035808"/>
            <a:ext cx="731520" cy="228600"/>
          </a:xfrm>
          <a:prstGeom prst="rect">
            <a:avLst/>
          </a:prstGeom>
          <a:solidFill>
            <a:srgbClr val="FF3B30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8"/>
          <p:cNvSpPr/>
          <p:nvPr/>
        </p:nvSpPr>
        <p:spPr>
          <a:xfrm>
            <a:off x="274320" y="303580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8"/>
          <p:cNvSpPr/>
          <p:nvPr/>
        </p:nvSpPr>
        <p:spPr>
          <a:xfrm>
            <a:off x="1042416" y="299923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/cart/items/{itemId}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8"/>
          <p:cNvSpPr/>
          <p:nvPr/>
        </p:nvSpPr>
        <p:spPr>
          <a:xfrm>
            <a:off x="3264408" y="299923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Remove item; total decreases; non-existent → 404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8"/>
          <p:cNvSpPr/>
          <p:nvPr/>
        </p:nvSpPr>
        <p:spPr>
          <a:xfrm>
            <a:off x="7900416" y="3054096"/>
            <a:ext cx="950976" cy="192024"/>
          </a:xfrm>
          <a:prstGeom prst="rect">
            <a:avLst/>
          </a:prstGeom>
          <a:solidFill>
            <a:srgbClr val="FF9500"/>
          </a:solidFill>
          <a:ln cap="flat" cmpd="sng" w="12700">
            <a:solidFill>
              <a:srgbClr val="FF9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8"/>
          <p:cNvSpPr/>
          <p:nvPr/>
        </p:nvSpPr>
        <p:spPr>
          <a:xfrm>
            <a:off x="7900416" y="305409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8"/>
          <p:cNvSpPr/>
          <p:nvPr/>
        </p:nvSpPr>
        <p:spPr>
          <a:xfrm>
            <a:off x="274320" y="3319272"/>
            <a:ext cx="8595360" cy="3200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8"/>
          <p:cNvSpPr/>
          <p:nvPr/>
        </p:nvSpPr>
        <p:spPr>
          <a:xfrm>
            <a:off x="274320" y="3355848"/>
            <a:ext cx="731520" cy="22860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8"/>
          <p:cNvSpPr/>
          <p:nvPr/>
        </p:nvSpPr>
        <p:spPr>
          <a:xfrm>
            <a:off x="274320" y="335584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8"/>
          <p:cNvSpPr/>
          <p:nvPr/>
        </p:nvSpPr>
        <p:spPr>
          <a:xfrm>
            <a:off x="1042416" y="331927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/orders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8"/>
          <p:cNvSpPr/>
          <p:nvPr/>
        </p:nvSpPr>
        <p:spPr>
          <a:xfrm>
            <a:off x="3264408" y="331927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Place order; 201 + orderId; empty cart → 400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8"/>
          <p:cNvSpPr/>
          <p:nvPr/>
        </p:nvSpPr>
        <p:spPr>
          <a:xfrm>
            <a:off x="7900416" y="3374136"/>
            <a:ext cx="950976" cy="192024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8"/>
          <p:cNvSpPr/>
          <p:nvPr/>
        </p:nvSpPr>
        <p:spPr>
          <a:xfrm>
            <a:off x="7900416" y="337413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8"/>
          <p:cNvSpPr/>
          <p:nvPr/>
        </p:nvSpPr>
        <p:spPr>
          <a:xfrm>
            <a:off x="274320" y="3639312"/>
            <a:ext cx="859536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8"/>
          <p:cNvSpPr/>
          <p:nvPr/>
        </p:nvSpPr>
        <p:spPr>
          <a:xfrm>
            <a:off x="274320" y="3675888"/>
            <a:ext cx="731520" cy="228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8"/>
          <p:cNvSpPr/>
          <p:nvPr/>
        </p:nvSpPr>
        <p:spPr>
          <a:xfrm>
            <a:off x="274320" y="367588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8"/>
          <p:cNvSpPr/>
          <p:nvPr/>
        </p:nvSpPr>
        <p:spPr>
          <a:xfrm>
            <a:off x="1042416" y="363931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/orders/{orderId}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18"/>
          <p:cNvSpPr/>
          <p:nvPr/>
        </p:nvSpPr>
        <p:spPr>
          <a:xfrm>
            <a:off x="3264408" y="363931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Get order details; verify status, items, total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18"/>
          <p:cNvSpPr/>
          <p:nvPr/>
        </p:nvSpPr>
        <p:spPr>
          <a:xfrm>
            <a:off x="7900416" y="3694176"/>
            <a:ext cx="950976" cy="192024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8"/>
          <p:cNvSpPr/>
          <p:nvPr/>
        </p:nvSpPr>
        <p:spPr>
          <a:xfrm>
            <a:off x="7900416" y="369417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18"/>
          <p:cNvSpPr/>
          <p:nvPr/>
        </p:nvSpPr>
        <p:spPr>
          <a:xfrm>
            <a:off x="274320" y="3959352"/>
            <a:ext cx="8595360" cy="3200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8"/>
          <p:cNvSpPr/>
          <p:nvPr/>
        </p:nvSpPr>
        <p:spPr>
          <a:xfrm>
            <a:off x="274320" y="3995928"/>
            <a:ext cx="731520" cy="228600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8"/>
          <p:cNvSpPr/>
          <p:nvPr/>
        </p:nvSpPr>
        <p:spPr>
          <a:xfrm>
            <a:off x="274320" y="399592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18"/>
          <p:cNvSpPr/>
          <p:nvPr/>
        </p:nvSpPr>
        <p:spPr>
          <a:xfrm>
            <a:off x="1042416" y="395935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/orders/{orderId}/cancel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8"/>
          <p:cNvSpPr/>
          <p:nvPr/>
        </p:nvSpPr>
        <p:spPr>
          <a:xfrm>
            <a:off x="3264408" y="395935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Cancel order; status=cancelled; shipped → 422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8"/>
          <p:cNvSpPr/>
          <p:nvPr/>
        </p:nvSpPr>
        <p:spPr>
          <a:xfrm>
            <a:off x="7900416" y="4014216"/>
            <a:ext cx="950976" cy="192024"/>
          </a:xfrm>
          <a:prstGeom prst="rect">
            <a:avLst/>
          </a:prstGeom>
          <a:solidFill>
            <a:srgbClr val="AF52DE"/>
          </a:solidFill>
          <a:ln cap="flat" cmpd="sng" w="12700">
            <a:solidFill>
              <a:srgbClr val="AF5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8"/>
          <p:cNvSpPr/>
          <p:nvPr/>
        </p:nvSpPr>
        <p:spPr>
          <a:xfrm>
            <a:off x="7900416" y="401421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18"/>
          <p:cNvSpPr/>
          <p:nvPr/>
        </p:nvSpPr>
        <p:spPr>
          <a:xfrm>
            <a:off x="274320" y="4279392"/>
            <a:ext cx="859536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18"/>
          <p:cNvSpPr/>
          <p:nvPr/>
        </p:nvSpPr>
        <p:spPr>
          <a:xfrm>
            <a:off x="274320" y="4315968"/>
            <a:ext cx="731520" cy="228600"/>
          </a:xfrm>
          <a:prstGeom prst="rect">
            <a:avLst/>
          </a:prstGeom>
          <a:solidFill>
            <a:srgbClr val="34C759"/>
          </a:solidFill>
          <a:ln cap="flat" cmpd="sng" w="12700">
            <a:solidFill>
              <a:srgbClr val="34C7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8"/>
          <p:cNvSpPr/>
          <p:nvPr/>
        </p:nvSpPr>
        <p:spPr>
          <a:xfrm>
            <a:off x="274320" y="431596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8"/>
          <p:cNvSpPr/>
          <p:nvPr/>
        </p:nvSpPr>
        <p:spPr>
          <a:xfrm>
            <a:off x="1042416" y="427939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/payments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8"/>
          <p:cNvSpPr/>
          <p:nvPr/>
        </p:nvSpPr>
        <p:spPr>
          <a:xfrm>
            <a:off x="3264408" y="427939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Initiate payment; 201 + paymentId; duplicate → 409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8"/>
          <p:cNvSpPr/>
          <p:nvPr/>
        </p:nvSpPr>
        <p:spPr>
          <a:xfrm>
            <a:off x="7900416" y="4334256"/>
            <a:ext cx="950976" cy="192024"/>
          </a:xfrm>
          <a:prstGeom prst="rect">
            <a:avLst/>
          </a:prstGeom>
          <a:solidFill>
            <a:srgbClr val="32ADE6"/>
          </a:solidFill>
          <a:ln cap="flat" cmpd="sng" w="12700">
            <a:solidFill>
              <a:srgbClr val="32A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8"/>
          <p:cNvSpPr/>
          <p:nvPr/>
        </p:nvSpPr>
        <p:spPr>
          <a:xfrm>
            <a:off x="7900416" y="433425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18"/>
          <p:cNvSpPr/>
          <p:nvPr/>
        </p:nvSpPr>
        <p:spPr>
          <a:xfrm>
            <a:off x="274320" y="4599432"/>
            <a:ext cx="8595360" cy="320040"/>
          </a:xfrm>
          <a:prstGeom prst="rect">
            <a:avLst/>
          </a:prstGeom>
          <a:solidFill>
            <a:srgbClr val="F5F5F7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8"/>
          <p:cNvSpPr/>
          <p:nvPr/>
        </p:nvSpPr>
        <p:spPr>
          <a:xfrm>
            <a:off x="274320" y="4636008"/>
            <a:ext cx="731520" cy="2286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8"/>
          <p:cNvSpPr/>
          <p:nvPr/>
        </p:nvSpPr>
        <p:spPr>
          <a:xfrm>
            <a:off x="274320" y="463600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18"/>
          <p:cNvSpPr/>
          <p:nvPr/>
        </p:nvSpPr>
        <p:spPr>
          <a:xfrm>
            <a:off x="1042416" y="4599432"/>
            <a:ext cx="2130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D1D1F"/>
                </a:solidFill>
                <a:latin typeface="Consolas"/>
                <a:ea typeface="Consolas"/>
                <a:cs typeface="Consolas"/>
                <a:sym typeface="Consolas"/>
              </a:rPr>
              <a:t>/payments/{paymentId}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18"/>
          <p:cNvSpPr/>
          <p:nvPr/>
        </p:nvSpPr>
        <p:spPr>
          <a:xfrm>
            <a:off x="3264408" y="4599432"/>
            <a:ext cx="4553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Verify payment status; invalid ID → 404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18"/>
          <p:cNvSpPr/>
          <p:nvPr/>
        </p:nvSpPr>
        <p:spPr>
          <a:xfrm>
            <a:off x="7900416" y="4654296"/>
            <a:ext cx="950976" cy="192024"/>
          </a:xfrm>
          <a:prstGeom prst="rect">
            <a:avLst/>
          </a:prstGeom>
          <a:solidFill>
            <a:srgbClr val="32ADE6"/>
          </a:solidFill>
          <a:ln cap="flat" cmpd="sng" w="12700">
            <a:solidFill>
              <a:srgbClr val="32A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18"/>
          <p:cNvSpPr/>
          <p:nvPr/>
        </p:nvSpPr>
        <p:spPr>
          <a:xfrm>
            <a:off x="7900416" y="465429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18"/>
          <p:cNvSpPr/>
          <p:nvPr/>
        </p:nvSpPr>
        <p:spPr>
          <a:xfrm>
            <a:off x="274320" y="4956048"/>
            <a:ext cx="8595360" cy="457200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18"/>
          <p:cNvSpPr/>
          <p:nvPr/>
        </p:nvSpPr>
        <p:spPr>
          <a:xfrm>
            <a:off x="274320" y="4956048"/>
            <a:ext cx="64008" cy="45720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8"/>
          <p:cNvSpPr/>
          <p:nvPr/>
        </p:nvSpPr>
        <p:spPr>
          <a:xfrm>
            <a:off x="438912" y="501091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71E3"/>
                </a:solidFill>
                <a:latin typeface="Calibri"/>
                <a:ea typeface="Calibri"/>
                <a:cs typeface="Calibri"/>
                <a:sym typeface="Calibri"/>
              </a:rPr>
              <a:t>🎯  Challenge: Build a Postman collection for all 12 APIs. Include 1 positive + 1 negative test per endpoint. Run via Newman and share the HTML report. Bonus: Auto-set Bearer token in a pre-request script!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F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9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1980000" dist="28575">
              <a:schemeClr val="lt1">
                <a:alpha val="73000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9"/>
          <p:cNvSpPr/>
          <p:nvPr/>
        </p:nvSpPr>
        <p:spPr>
          <a:xfrm>
            <a:off x="640080" y="877824"/>
            <a:ext cx="1097280" cy="45720"/>
          </a:xfrm>
          <a:prstGeom prst="rect">
            <a:avLst/>
          </a:prstGeom>
          <a:solidFill>
            <a:srgbClr val="0071E3"/>
          </a:solidFill>
          <a:ln cap="flat" cmpd="sng" w="12700">
            <a:solidFill>
              <a:srgbClr val="0071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19"/>
          <p:cNvSpPr/>
          <p:nvPr/>
        </p:nvSpPr>
        <p:spPr>
          <a:xfrm>
            <a:off x="548640" y="1078992"/>
            <a:ext cx="4023360" cy="960120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>
            <a:off x="640080" y="1078992"/>
            <a:ext cx="548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9"/>
          <p:cNvSpPr/>
          <p:nvPr/>
        </p:nvSpPr>
        <p:spPr>
          <a:xfrm>
            <a:off x="1234440" y="11704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APIs are the backbone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19"/>
          <p:cNvSpPr/>
          <p:nvPr/>
        </p:nvSpPr>
        <p:spPr>
          <a:xfrm>
            <a:off x="1234440" y="148132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of modern software — every app communicates via APIs. Testing them is non-negotiable.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9"/>
          <p:cNvSpPr/>
          <p:nvPr/>
        </p:nvSpPr>
        <p:spPr>
          <a:xfrm>
            <a:off x="4937760" y="1078992"/>
            <a:ext cx="4023360" cy="960120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>
            <a:off x="5029200" y="1078992"/>
            <a:ext cx="548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🔼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9"/>
          <p:cNvSpPr/>
          <p:nvPr/>
        </p:nvSpPr>
        <p:spPr>
          <a:xfrm>
            <a:off x="5623560" y="11704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Test earlier, test cheaper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19"/>
          <p:cNvSpPr/>
          <p:nvPr/>
        </p:nvSpPr>
        <p:spPr>
          <a:xfrm>
            <a:off x="5623560" y="148132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API testing sits below UI in the testing pyramid — faster feedback, lower cost.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19"/>
          <p:cNvSpPr/>
          <p:nvPr/>
        </p:nvSpPr>
        <p:spPr>
          <a:xfrm>
            <a:off x="548640" y="2130552"/>
            <a:ext cx="4023360" cy="960120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9"/>
          <p:cNvSpPr/>
          <p:nvPr/>
        </p:nvSpPr>
        <p:spPr>
          <a:xfrm>
            <a:off x="640080" y="2130552"/>
            <a:ext cx="548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19"/>
          <p:cNvSpPr/>
          <p:nvPr/>
        </p:nvSpPr>
        <p:spPr>
          <a:xfrm>
            <a:off x="1234440" y="22219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Postman is your primary tool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19"/>
          <p:cNvSpPr/>
          <p:nvPr/>
        </p:nvSpPr>
        <p:spPr>
          <a:xfrm>
            <a:off x="1234440" y="253288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for exploration, manual testing, and scripted assertions. Newman automates it all.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19"/>
          <p:cNvSpPr/>
          <p:nvPr/>
        </p:nvSpPr>
        <p:spPr>
          <a:xfrm>
            <a:off x="4937760" y="2130552"/>
            <a:ext cx="4023360" cy="960120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19"/>
          <p:cNvSpPr/>
          <p:nvPr/>
        </p:nvSpPr>
        <p:spPr>
          <a:xfrm>
            <a:off x="5029200" y="2130552"/>
            <a:ext cx="548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9"/>
          <p:cNvSpPr/>
          <p:nvPr/>
        </p:nvSpPr>
        <p:spPr>
          <a:xfrm>
            <a:off x="5623560" y="22219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Swagger is your best friend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9"/>
          <p:cNvSpPr/>
          <p:nvPr/>
        </p:nvSpPr>
        <p:spPr>
          <a:xfrm>
            <a:off x="5623560" y="253288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— read it before writing any test. It defines endpoints, schemas, and auth.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9"/>
          <p:cNvSpPr/>
          <p:nvPr/>
        </p:nvSpPr>
        <p:spPr>
          <a:xfrm>
            <a:off x="548640" y="3182112"/>
            <a:ext cx="4023360" cy="960120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19"/>
          <p:cNvSpPr/>
          <p:nvPr/>
        </p:nvSpPr>
        <p:spPr>
          <a:xfrm>
            <a:off x="640080" y="3182112"/>
            <a:ext cx="548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9"/>
          <p:cNvSpPr/>
          <p:nvPr/>
        </p:nvSpPr>
        <p:spPr>
          <a:xfrm>
            <a:off x="1234440" y="327355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Always test for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19"/>
          <p:cNvSpPr/>
          <p:nvPr/>
        </p:nvSpPr>
        <p:spPr>
          <a:xfrm>
            <a:off x="1234440" y="358444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— auth bypass, unauthorized access, and data leakage are real and common API bugs.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9"/>
          <p:cNvSpPr/>
          <p:nvPr/>
        </p:nvSpPr>
        <p:spPr>
          <a:xfrm>
            <a:off x="4937760" y="3182112"/>
            <a:ext cx="4023360" cy="960120"/>
          </a:xfrm>
          <a:prstGeom prst="rect">
            <a:avLst/>
          </a:prstGeom>
          <a:solidFill>
            <a:srgbClr val="252525"/>
          </a:solidFill>
          <a:ln cap="flat" cmpd="sng" w="9525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9"/>
          <p:cNvSpPr/>
          <p:nvPr/>
        </p:nvSpPr>
        <p:spPr>
          <a:xfrm>
            <a:off x="5029200" y="3182112"/>
            <a:ext cx="548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9"/>
          <p:cNvSpPr/>
          <p:nvPr/>
        </p:nvSpPr>
        <p:spPr>
          <a:xfrm>
            <a:off x="5623560" y="327355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Contract testing = team 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9"/>
          <p:cNvSpPr/>
          <p:nvPr/>
        </p:nvSpPr>
        <p:spPr>
          <a:xfrm>
            <a:off x="5623560" y="358444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1A1A6"/>
                </a:solidFill>
                <a:latin typeface="Calibri"/>
                <a:ea typeface="Calibri"/>
                <a:cs typeface="Calibri"/>
                <a:sym typeface="Calibri"/>
              </a:rPr>
              <a:t>— in microservices, contracts prevent one team's change from breaking another's.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9"/>
          <p:cNvSpPr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6E73"/>
                </a:solidFill>
                <a:latin typeface="Calibri"/>
                <a:ea typeface="Calibri"/>
                <a:cs typeface="Calibri"/>
                <a:sym typeface="Calibri"/>
              </a:rPr>
              <a:t>You now have the foundation. Practice with the ShopEasy challenge, explore Postman deeply, and bring your findings to the next session. Happy testing! 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2026-04-12T17:05:19Z</dcterms:created>
  <dc:creator>PptxGenJS</dc:creator>
</cp:coreProperties>
</file>